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325" r:id="rId4"/>
    <p:sldId id="285" r:id="rId5"/>
    <p:sldId id="434" r:id="rId7"/>
    <p:sldId id="327" r:id="rId8"/>
    <p:sldId id="308" r:id="rId9"/>
    <p:sldId id="319" r:id="rId10"/>
    <p:sldId id="297" r:id="rId11"/>
    <p:sldId id="318" r:id="rId12"/>
  </p:sldIdLst>
  <p:sldSz cx="9144000" cy="6858000" type="screen4x3"/>
  <p:notesSz cx="7102475" cy="1023429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1C9C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32" autoAdjust="0"/>
    <p:restoredTop sz="86380" autoAdjust="0"/>
  </p:normalViewPr>
  <p:slideViewPr>
    <p:cSldViewPr showGuides="1">
      <p:cViewPr varScale="1">
        <p:scale>
          <a:sx n="67" d="100"/>
          <a:sy n="67" d="100"/>
        </p:scale>
        <p:origin x="2002" y="67"/>
      </p:cViewPr>
      <p:guideLst>
        <p:guide orient="horz" pos="2131"/>
        <p:guide pos="2836"/>
      </p:guideLst>
    </p:cSldViewPr>
  </p:slideViewPr>
  <p:outlineViewPr>
    <p:cViewPr>
      <p:scale>
        <a:sx n="33" d="100"/>
        <a:sy n="33" d="100"/>
      </p:scale>
      <p:origin x="246" y="3631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32" y="-108"/>
      </p:cViewPr>
      <p:guideLst>
        <p:guide orient="horz" pos="3180"/>
        <p:guide pos="220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232178" y="2780928"/>
            <a:ext cx="8286808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fr-FR" sz="4000" b="1" dirty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fr-FR" sz="4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Définition d’une fonction</a:t>
            </a:r>
            <a:endParaRPr lang="fr-FR" sz="48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  <a:buNone/>
            </a:pP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fr-FR" sz="5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Espace réservé du contenu 2"/>
          <p:cNvSpPr txBox="1"/>
          <p:nvPr/>
        </p:nvSpPr>
        <p:spPr>
          <a:xfrm>
            <a:off x="0" y="1598930"/>
            <a:ext cx="8891270" cy="4622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-4572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Syntaxe d'une fonction sans type de retour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Clr>
                <a:srgbClr val="C00000"/>
              </a:buClr>
              <a:buNone/>
            </a:pPr>
            <a:endParaRPr lang="fr-FR" sz="3200" dirty="0">
              <a:solidFill>
                <a:schemeClr val="accent2"/>
              </a:solidFill>
            </a:endParaRPr>
          </a:p>
          <a:p>
            <a:pPr marL="457200" lvl="1" indent="0">
              <a:buClr>
                <a:srgbClr val="C00000"/>
              </a:buClr>
              <a:buNone/>
            </a:pPr>
            <a:r>
              <a:rPr lang="fr-FR" sz="2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fr-FR" sz="2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nom_Fonction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(type_1 </a:t>
            </a:r>
            <a:r>
              <a:rPr lang="fr-FR" sz="2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paramètre1,</a:t>
            </a:r>
            <a:r>
              <a:rPr lang="fr-FR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type_2 </a:t>
            </a:r>
            <a:r>
              <a:rPr lang="fr-FR" sz="2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paramètre2,….. </a:t>
            </a:r>
            <a:r>
              <a:rPr lang="fr-FR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fr-FR" sz="2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fr-FR" sz="22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795" lvl="1" indent="0" algn="just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fr-FR" sz="2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fr-FR" sz="2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2200">
                <a:latin typeface="Times New Roman" panose="02020603050405020304" pitchFamily="18" charset="0"/>
                <a:cs typeface="Times New Roman" panose="02020603050405020304" pitchFamily="18" charset="0"/>
              </a:rPr>
              <a:t>déclaration des variables locales;</a:t>
            </a:r>
            <a:endParaRPr lang="fr-FR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795" lvl="1" indent="0" algn="just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fr-FR" sz="2200">
                <a:latin typeface="Times New Roman" panose="02020603050405020304" pitchFamily="18" charset="0"/>
                <a:cs typeface="Times New Roman" panose="02020603050405020304" pitchFamily="18" charset="0"/>
              </a:rPr>
              <a:t> //  instructions;</a:t>
            </a:r>
            <a:endParaRPr lang="fr-FR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795" lvl="1" indent="0" algn="just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fr-FR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4825" lvl="1" indent="0" algn="just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fr-FR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fr-FR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fr-FR" sz="2400" dirty="0"/>
          </a:p>
        </p:txBody>
      </p:sp>
      <p:sp>
        <p:nvSpPr>
          <p:cNvPr id="10" name="Rectangle 9"/>
          <p:cNvSpPr/>
          <p:nvPr/>
        </p:nvSpPr>
        <p:spPr>
          <a:xfrm>
            <a:off x="1058133" y="645574"/>
            <a:ext cx="6243113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Définition d’une fonction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  <a:buNone/>
            </a:pP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fr-FR" sz="5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Espace réservé du contenu 2"/>
          <p:cNvSpPr txBox="1"/>
          <p:nvPr/>
        </p:nvSpPr>
        <p:spPr>
          <a:xfrm>
            <a:off x="-271145" y="1598930"/>
            <a:ext cx="9415145" cy="4622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-4572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Syntaxe d'une fonction avec type de retour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Clr>
                <a:srgbClr val="C00000"/>
              </a:buClr>
              <a:buNone/>
            </a:pPr>
            <a:endParaRPr lang="fr-FR" sz="3200" dirty="0">
              <a:solidFill>
                <a:schemeClr val="accent2"/>
              </a:solidFill>
            </a:endParaRPr>
          </a:p>
          <a:p>
            <a:pPr marL="457200" lvl="1" indent="0">
              <a:buClr>
                <a:srgbClr val="C00000"/>
              </a:buClr>
              <a:buNone/>
            </a:pPr>
            <a:r>
              <a:rPr lang="fr-FR" sz="2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de retour</a:t>
            </a:r>
            <a:r>
              <a:rPr lang="fr-FR" sz="2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nom_Fonction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(type_1 </a:t>
            </a:r>
            <a:r>
              <a:rPr lang="fr-FR" sz="2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paramètre1,</a:t>
            </a:r>
            <a:r>
              <a:rPr lang="fr-FR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type_2 </a:t>
            </a:r>
            <a:r>
              <a:rPr lang="fr-FR" sz="2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paramètre2,….. </a:t>
            </a:r>
            <a:r>
              <a:rPr lang="fr-FR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fr-FR" sz="2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fr-FR" sz="22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795" lvl="1" indent="0" algn="just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fr-FR" sz="2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//</a:t>
            </a:r>
            <a:r>
              <a:rPr lang="fr-FR" sz="2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fr-FR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déclaration des variables locales;</a:t>
            </a:r>
            <a:endParaRPr lang="fr-FR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795" lvl="1" indent="0" algn="just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fr-FR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//   instructions;</a:t>
            </a:r>
            <a:endParaRPr lang="fr-FR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795" lvl="1" indent="0" algn="just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fr-FR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795" lvl="1" indent="0" algn="just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resultat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fr-FR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  <a:endParaRPr lang="fr-FR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fr-FR" sz="2400" dirty="0"/>
          </a:p>
        </p:txBody>
      </p:sp>
      <p:sp>
        <p:nvSpPr>
          <p:cNvPr id="10" name="Rectangle 9"/>
          <p:cNvSpPr/>
          <p:nvPr/>
        </p:nvSpPr>
        <p:spPr>
          <a:xfrm>
            <a:off x="1058133" y="645574"/>
            <a:ext cx="6243113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Définition d’une fonction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1520" y="1412776"/>
            <a:ext cx="8892480" cy="483569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la définition d'une fonction, nous indiquons: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nom de la fonction.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Le type et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noms des paramètres de la fonction.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type du résultat fourni par la fonction.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données locales à la fonction.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instructions </a:t>
            </a: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à exécuter.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GB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1058133" y="645574"/>
            <a:ext cx="6243113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Définition d’une fonction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fr-FR" sz="5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Espace réservé du contenu 2"/>
          <p:cNvSpPr txBox="1"/>
          <p:nvPr/>
        </p:nvSpPr>
        <p:spPr>
          <a:xfrm>
            <a:off x="226737" y="388406"/>
            <a:ext cx="9144000" cy="5525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Clr>
                <a:srgbClr val="C00000"/>
              </a:buClr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None/>
            </a:pP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Clr>
                <a:srgbClr val="C00000"/>
              </a:buClr>
              <a:buNone/>
            </a:pPr>
            <a:endParaRPr lang="fr-FR" sz="3200" dirty="0">
              <a:solidFill>
                <a:schemeClr val="accent2"/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Arial" panose="020B0604020202020204" pitchFamily="34" charset="0"/>
              <a:buNone/>
            </a:pP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914400" lvl="1" indent="-4572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fr-FR" sz="2400" dirty="0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26737" y="2754474"/>
            <a:ext cx="8690525" cy="37973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 lIns="90488" tIns="44450" rIns="90488" bIns="44450">
            <a:spAutoFit/>
          </a:bodyPr>
          <a:lstStyle/>
          <a:p>
            <a:pPr eaLnBrk="0" hangingPunct="0">
              <a:tabLst>
                <a:tab pos="565150" algn="l"/>
                <a:tab pos="1141095" algn="l"/>
                <a:tab pos="1622425" algn="l"/>
              </a:tabLst>
            </a:pPr>
            <a:r>
              <a:rPr lang="fr-FR" sz="2400" b="1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doubleSomme</a:t>
            </a:r>
            <a:r>
              <a:rPr kumimoji="0"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(float </a:t>
            </a:r>
            <a:r>
              <a:rPr kumimoji="0"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endParaRPr kumimoji="0"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0" hangingPunct="0">
              <a:tabLst>
                <a:tab pos="565150" algn="l"/>
                <a:tab pos="1141095" algn="l"/>
                <a:tab pos="1622425" algn="l"/>
              </a:tabLst>
            </a:pPr>
            <a:r>
              <a:rPr kumimoji="0"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kumimoji="0"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0" hangingPunct="0">
              <a:tabLst>
                <a:tab pos="565150" algn="l"/>
                <a:tab pos="1141095" algn="l"/>
                <a:tab pos="1622425" algn="l"/>
              </a:tabLst>
            </a:pPr>
            <a:endParaRPr kumimoji="0"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0" hangingPunct="0">
              <a:tabLst>
                <a:tab pos="565150" algn="l"/>
                <a:tab pos="1141095" algn="l"/>
                <a:tab pos="1622425" algn="l"/>
              </a:tabLst>
            </a:pPr>
            <a:r>
              <a:rPr kumimoji="0"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kumimoji="0"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val;</a:t>
            </a:r>
            <a:endParaRPr kumimoji="0"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0" hangingPunct="0">
              <a:tabLst>
                <a:tab pos="565150" algn="l"/>
                <a:tab pos="1141095" algn="l"/>
                <a:tab pos="1622425" algn="l"/>
              </a:tabLst>
            </a:pPr>
            <a:endParaRPr kumimoji="0"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0" hangingPunct="0">
              <a:tabLst>
                <a:tab pos="565150" algn="l"/>
                <a:tab pos="1141095" algn="l"/>
                <a:tab pos="1622425" algn="l"/>
              </a:tabLst>
            </a:pPr>
            <a:r>
              <a:rPr kumimoji="0"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val=0;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0" hangingPunct="0">
              <a:tabLst>
                <a:tab pos="565150" algn="l"/>
                <a:tab pos="1141095" algn="l"/>
                <a:tab pos="1622425" algn="l"/>
              </a:tabLst>
            </a:pPr>
            <a:r>
              <a:rPr kumimoji="0"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val=2*(</a:t>
            </a:r>
            <a:r>
              <a:rPr kumimoji="0"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kumimoji="0"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kumimoji="0"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0" hangingPunct="0">
              <a:tabLst>
                <a:tab pos="565150" algn="l"/>
                <a:tab pos="1141095" algn="l"/>
                <a:tab pos="1622425" algn="l"/>
              </a:tabLst>
            </a:pPr>
            <a:endParaRPr kumimoji="0"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0" hangingPunct="0">
              <a:tabLst>
                <a:tab pos="565150" algn="l"/>
                <a:tab pos="1141095" algn="l"/>
                <a:tab pos="1622425" algn="l"/>
              </a:tabLst>
            </a:pPr>
            <a:r>
              <a:rPr kumimoji="0"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fr-FR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val</a:t>
            </a:r>
            <a:r>
              <a:rPr kumimoji="0"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0" hangingPunct="0">
              <a:tabLst>
                <a:tab pos="565150" algn="l"/>
                <a:tab pos="1141095" algn="l"/>
                <a:tab pos="1622425" algn="l"/>
              </a:tabLst>
            </a:pPr>
            <a:r>
              <a:rPr kumimoji="0"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kumimoji="0"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285778" y="1600614"/>
            <a:ext cx="3640104" cy="611505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miter lim="800000"/>
          </a:ln>
          <a:effectLst/>
        </p:spPr>
        <p:txBody>
          <a:bodyPr wrap="square" lIns="90488" tIns="44450" rIns="90488" bIns="44450">
            <a:spAutoFit/>
          </a:bodyPr>
          <a:lstStyle/>
          <a:p>
            <a:pPr algn="ctr" eaLnBrk="0" hangingPunct="0">
              <a:tabLst>
                <a:tab pos="565150" algn="l"/>
              </a:tabLst>
            </a:pPr>
            <a:r>
              <a:rPr kumimoji="0" lang="fr-FR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de la valeur de retour (val) : un réel</a:t>
            </a:r>
            <a:endParaRPr kumimoji="0" lang="fr-FR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4888918" y="1600614"/>
            <a:ext cx="3640104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miter lim="800000"/>
          </a:ln>
          <a:effectLst/>
        </p:spPr>
        <p:txBody>
          <a:bodyPr wrap="square" lIns="90488" tIns="44450" rIns="90488" bIns="44450">
            <a:spAutoFit/>
          </a:bodyPr>
          <a:lstStyle/>
          <a:p>
            <a:pPr algn="ctr" eaLnBrk="0" hangingPunct="0">
              <a:tabLst>
                <a:tab pos="565150" algn="l"/>
              </a:tabLst>
            </a:pPr>
            <a:r>
              <a:rPr lang="fr-FR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paramètres ( a et b ) de type réel</a:t>
            </a:r>
            <a:endParaRPr kumimoji="0"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6230136" y="2950506"/>
            <a:ext cx="2514600" cy="397545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miter lim="800000"/>
          </a:ln>
          <a:effectLst/>
        </p:spPr>
        <p:txBody>
          <a:bodyPr wrap="square" lIns="90488" tIns="44450" rIns="90488" bIns="44450">
            <a:spAutoFit/>
          </a:bodyPr>
          <a:lstStyle/>
          <a:p>
            <a:pPr algn="ctr" eaLnBrk="0" hangingPunct="0">
              <a:tabLst>
                <a:tab pos="565150" algn="l"/>
              </a:tabLst>
            </a:pPr>
            <a:r>
              <a:rPr kumimoji="0" lang="fr-B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 de la fonction</a:t>
            </a:r>
            <a:endParaRPr kumimoji="0"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6164386" y="5727094"/>
            <a:ext cx="2517624" cy="397545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miter lim="800000"/>
          </a:ln>
          <a:effectLst/>
        </p:spPr>
        <p:txBody>
          <a:bodyPr wrap="square" lIns="90488" tIns="44450" rIns="90488" bIns="44450">
            <a:spAutoFit/>
          </a:bodyPr>
          <a:lstStyle/>
          <a:p>
            <a:pPr algn="ctr" eaLnBrk="0" hangingPunct="0">
              <a:tabLst>
                <a:tab pos="565150" algn="l"/>
              </a:tabLst>
            </a:pPr>
            <a:r>
              <a:rPr kumimoji="0"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Valeur renvoyée</a:t>
            </a:r>
            <a:endParaRPr kumimoji="0"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Connecteur droit avec flèche 6"/>
          <p:cNvCxnSpPr/>
          <p:nvPr/>
        </p:nvCxnSpPr>
        <p:spPr>
          <a:xfrm>
            <a:off x="612140" y="2204720"/>
            <a:ext cx="2540" cy="664210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>
            <a:stCxn id="14" idx="1"/>
          </p:cNvCxnSpPr>
          <p:nvPr/>
        </p:nvCxnSpPr>
        <p:spPr>
          <a:xfrm flipH="1" flipV="1">
            <a:off x="2483768" y="5991525"/>
            <a:ext cx="3680618" cy="6097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3" name="Accolade fermante 22"/>
          <p:cNvSpPr/>
          <p:nvPr/>
        </p:nvSpPr>
        <p:spPr>
          <a:xfrm>
            <a:off x="2483485" y="4639945"/>
            <a:ext cx="329565" cy="838835"/>
          </a:xfrm>
          <a:prstGeom prst="righ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/>
          <p:cNvSpPr/>
          <p:nvPr/>
        </p:nvSpPr>
        <p:spPr>
          <a:xfrm>
            <a:off x="6230082" y="4836293"/>
            <a:ext cx="2525049" cy="445410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instructions 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Connecteur droit avec flèche 26"/>
          <p:cNvCxnSpPr/>
          <p:nvPr/>
        </p:nvCxnSpPr>
        <p:spPr>
          <a:xfrm flipH="1">
            <a:off x="2962856" y="5043123"/>
            <a:ext cx="3201186" cy="31633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" name="Connecteur : en angle 25"/>
          <p:cNvCxnSpPr>
            <a:stCxn id="13" idx="2"/>
          </p:cNvCxnSpPr>
          <p:nvPr/>
        </p:nvCxnSpPr>
        <p:spPr>
          <a:xfrm rot="5400000" flipH="1">
            <a:off x="4342000" y="202616"/>
            <a:ext cx="135075" cy="6155796"/>
          </a:xfrm>
          <a:prstGeom prst="bentConnector4">
            <a:avLst>
              <a:gd name="adj1" fmla="val -169239"/>
              <a:gd name="adj2" fmla="val 99576"/>
            </a:avLst>
          </a:prstGeom>
          <a:ln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1" name="Connecteur droit avec flèche 50"/>
          <p:cNvCxnSpPr/>
          <p:nvPr/>
        </p:nvCxnSpPr>
        <p:spPr>
          <a:xfrm flipH="1">
            <a:off x="4068445" y="2011680"/>
            <a:ext cx="869315" cy="913130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Connecteur droit avec flèche 52"/>
          <p:cNvCxnSpPr/>
          <p:nvPr/>
        </p:nvCxnSpPr>
        <p:spPr>
          <a:xfrm flipH="1">
            <a:off x="3028950" y="1996440"/>
            <a:ext cx="1908810" cy="926029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1058133" y="645574"/>
            <a:ext cx="6243113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Définition d’une fonction ( exemple )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Connecteur droit avec flèche 2"/>
          <p:cNvCxnSpPr/>
          <p:nvPr/>
        </p:nvCxnSpPr>
        <p:spPr>
          <a:xfrm flipH="1">
            <a:off x="2382520" y="4076700"/>
            <a:ext cx="2477135" cy="40640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888865" y="3874770"/>
            <a:ext cx="4028440" cy="445135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Déclaration d'une variable locale</a:t>
            </a:r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7504" y="1556792"/>
            <a:ext cx="8928992" cy="4176464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FF0000"/>
              </a:buClr>
              <a:buSzPct val="100000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noms des paramètres et de la fonction sont </a:t>
            </a:r>
            <a:r>
              <a:rPr lang="fr-FR" sz="22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identificateurs</a:t>
            </a:r>
            <a:r>
              <a:rPr lang="fr-F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 correspondent aux mêmes restrictions définies pour les identificateurs des variables.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FF0000"/>
              </a:buClr>
              <a:buSzPct val="100000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la fonction n’a pas de paramètres, déclarer la liste des paramètres comme</a:t>
            </a:r>
            <a:r>
              <a:rPr lang="fr-FR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fr-F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 </a:t>
            </a:r>
            <a:r>
              <a:rPr lang="fr-F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 rien mettre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 les ( ).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ct val="150000"/>
              <a:buNone/>
            </a:pPr>
            <a:r>
              <a:rPr lang="fr-F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fr-FR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fr-FR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50000"/>
              <a:buNone/>
            </a:pPr>
            <a:r>
              <a:rPr lang="fr-FR" sz="2200">
                <a:latin typeface="Times New Roman" panose="02020603050405020304" pitchFamily="18" charset="0"/>
                <a:cs typeface="Times New Roman" panose="02020603050405020304" pitchFamily="18" charset="0"/>
              </a:rPr>
              <a:t>	void afficherBonjour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50000"/>
              <a:buNone/>
            </a:pPr>
            <a:r>
              <a:rPr lang="fr-FR" sz="2200">
                <a:latin typeface="Times New Roman" panose="02020603050405020304" pitchFamily="18" charset="0"/>
                <a:cs typeface="Times New Roman" panose="02020603050405020304" pitchFamily="18" charset="0"/>
              </a:rPr>
              <a:t>	{ 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50000"/>
              <a:buNone/>
            </a:pPr>
            <a:r>
              <a:rPr lang="fr-FR" sz="2200">
                <a:latin typeface="Times New Roman" panose="02020603050405020304" pitchFamily="18" charset="0"/>
                <a:cs typeface="Times New Roman" panose="02020603050405020304" pitchFamily="18" charset="0"/>
              </a:rPr>
              <a:t>		printf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("Bonjour\n");	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50000"/>
              <a:buNone/>
            </a:pPr>
            <a:r>
              <a:rPr lang="fr-FR" sz="220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691515" y="5733252"/>
            <a:ext cx="7759774" cy="738664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fr-FR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 interdit de définir </a:t>
            </a:r>
            <a:r>
              <a:rPr lang="fr-FR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fonctions 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à l'intérieur </a:t>
            </a:r>
            <a:r>
              <a:rPr lang="fr-FR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d'une autre fonction.</a:t>
            </a:r>
            <a:endParaRPr lang="fr-FR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fr-FR" sz="2200" dirty="0"/>
          </a:p>
        </p:txBody>
      </p:sp>
      <p:sp>
        <p:nvSpPr>
          <p:cNvPr id="2" name="Rectangle 1"/>
          <p:cNvSpPr/>
          <p:nvPr/>
        </p:nvSpPr>
        <p:spPr>
          <a:xfrm>
            <a:off x="1058133" y="645574"/>
            <a:ext cx="6243113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Définition d’une fonction ( remarques )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285836"/>
            <a:ext cx="8784975" cy="5070515"/>
          </a:xfrm>
        </p:spPr>
        <p:txBody>
          <a:bodyPr>
            <a:normAutofit fontScale="40000" lnSpcReduction="20000"/>
          </a:bodyPr>
          <a:lstStyle/>
          <a:p>
            <a:pPr marL="0" lvl="1" indent="0" algn="just">
              <a:lnSpc>
                <a:spcPct val="170000"/>
              </a:lnSpc>
              <a:spcBef>
                <a:spcPts val="0"/>
              </a:spcBef>
              <a:buClr>
                <a:srgbClr val="C00000"/>
              </a:buClr>
              <a:buNone/>
            </a:pPr>
            <a:r>
              <a:rPr lang="fr-FR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focntion retourne une valeur avec l'instruction </a:t>
            </a:r>
            <a:r>
              <a:rPr lang="fr-FR" sz="5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return.</a:t>
            </a:r>
            <a:endParaRPr lang="fr-FR" sz="5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 algn="just">
              <a:lnSpc>
                <a:spcPct val="170000"/>
              </a:lnSpc>
              <a:spcBef>
                <a:spcPts val="0"/>
              </a:spcBef>
              <a:buClr>
                <a:srgbClr val="C00000"/>
              </a:buClr>
              <a:buNone/>
            </a:pPr>
            <a:endParaRPr lang="fr-FR" sz="62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 algn="just">
              <a:lnSpc>
                <a:spcPct val="170000"/>
              </a:lnSpc>
              <a:spcBef>
                <a:spcPts val="0"/>
              </a:spcBef>
              <a:buClr>
                <a:srgbClr val="C00000"/>
              </a:buClr>
              <a:buNone/>
            </a:pPr>
            <a:r>
              <a:rPr lang="fr-FR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return: </a:t>
            </a:r>
            <a:r>
              <a:rPr lang="fr-FR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 de spécifier la fin de la fonction en cours et d’attribuer comme valeur de cette fonction la  valeur d'une expression.</a:t>
            </a:r>
            <a:r>
              <a:rPr lang="fr-FR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lvl="1" indent="0" algn="just">
              <a:lnSpc>
                <a:spcPct val="170000"/>
              </a:lnSpc>
              <a:spcBef>
                <a:spcPts val="0"/>
              </a:spcBef>
              <a:buClr>
                <a:srgbClr val="C00000"/>
              </a:buClr>
              <a:buNone/>
            </a:pPr>
            <a:endParaRPr lang="fr-FR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lvl="1" indent="0" algn="just">
              <a:lnSpc>
                <a:spcPct val="170000"/>
              </a:lnSpc>
              <a:spcBef>
                <a:spcPts val="0"/>
              </a:spcBef>
              <a:buClr>
                <a:srgbClr val="C00000"/>
              </a:buClr>
              <a:buNone/>
            </a:pPr>
            <a:r>
              <a:rPr lang="fr-FR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Plusieurs instructions return peuvent apparaître dans une  fonction. </a:t>
            </a:r>
            <a:endParaRPr lang="fr-FR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lvl="1" indent="0" algn="just">
              <a:lnSpc>
                <a:spcPct val="170000"/>
              </a:lnSpc>
              <a:spcBef>
                <a:spcPts val="0"/>
              </a:spcBef>
              <a:buClr>
                <a:srgbClr val="C00000"/>
              </a:buClr>
              <a:buNone/>
            </a:pPr>
            <a:r>
              <a:rPr lang="fr-FR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retour au programme appelant sera alors  provoqué par le </a:t>
            </a:r>
            <a:r>
              <a:rPr lang="fr-FR" sz="5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premier return </a:t>
            </a:r>
            <a:r>
              <a:rPr lang="fr-FR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rencontré lors de l'exécution.</a:t>
            </a:r>
            <a:endParaRPr lang="fr-FR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  <a:buNone/>
            </a:pP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pic>
        <p:nvPicPr>
          <p:cNvPr id="8" name="Image 7" descr="alerte-chikungunya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59610" y="4077072"/>
            <a:ext cx="309558" cy="30955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57910" y="645795"/>
            <a:ext cx="659955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Définition d’une fonction ( type de retour )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8877" y="1015714"/>
            <a:ext cx="8784976" cy="534025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fr-FR" sz="220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endParaRPr lang="fr-FR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fr-FR" sz="2200">
                <a:latin typeface="Times New Roman" panose="02020603050405020304" pitchFamily="18" charset="0"/>
                <a:cs typeface="Times New Roman" panose="02020603050405020304" pitchFamily="18" charset="0"/>
              </a:rPr>
              <a:t>         Le type de retour d'une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fonction peut être :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0135" indent="0" algn="just">
              <a:lnSpc>
                <a:spcPct val="114000"/>
              </a:lnSpc>
              <a:spcBef>
                <a:spcPts val="0"/>
              </a:spcBef>
              <a:buClr>
                <a:srgbClr val="C00000"/>
              </a:buClr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type arithmétique (entier ou rationnel)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0135" indent="0" algn="just">
              <a:lnSpc>
                <a:spcPct val="114000"/>
              </a:lnSpc>
              <a:spcBef>
                <a:spcPts val="0"/>
              </a:spcBef>
              <a:buClr>
                <a:srgbClr val="C00000"/>
              </a:buClr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Une structure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0135" indent="0" algn="just">
              <a:lnSpc>
                <a:spcPct val="114000"/>
              </a:lnSpc>
              <a:spcBef>
                <a:spcPts val="0"/>
              </a:spcBef>
              <a:buClr>
                <a:srgbClr val="C00000"/>
              </a:buClr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Void  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fr-F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fr-FR" sz="2200">
                <a:latin typeface="Times New Roman" panose="02020603050405020304" pitchFamily="18" charset="0"/>
                <a:cs typeface="Times New Roman" panose="02020603050405020304" pitchFamily="18" charset="0"/>
              </a:rPr>
              <a:t>e type d'une fonction n'est pas déclaré explicitement, elle 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 automatiquement du type</a:t>
            </a:r>
            <a:r>
              <a:rPr lang="fr-F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fr-FR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Exemple:      	</a:t>
            </a:r>
            <a:r>
              <a:rPr lang="fr-FR" sz="220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( </a:t>
            </a:r>
            <a:r>
              <a:rPr lang="fr-FR" sz="2200">
                <a:latin typeface="Times New Roman" panose="02020603050405020304" pitchFamily="18" charset="0"/>
                <a:cs typeface="Times New Roman" panose="02020603050405020304" pitchFamily="18" charset="0"/>
              </a:rPr>
              <a:t>) 			 max ( ) </a:t>
            </a:r>
            <a:endParaRPr lang="fr-FR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fr-FR" sz="2200">
                <a:latin typeface="Times New Roman" panose="02020603050405020304" pitchFamily="18" charset="0"/>
                <a:cs typeface="Times New Roman" panose="02020603050405020304" pitchFamily="18" charset="0"/>
              </a:rPr>
              <a:t>		{ ……                ou       		{ ……        </a:t>
            </a:r>
            <a:endParaRPr lang="fr-FR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fr-FR" sz="2200">
                <a:latin typeface="Times New Roman" panose="02020603050405020304" pitchFamily="18" charset="0"/>
                <a:cs typeface="Times New Roman" panose="02020603050405020304" pitchFamily="18" charset="0"/>
              </a:rPr>
              <a:t>		}			             	}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1115616" y="5769472"/>
            <a:ext cx="6643464" cy="76835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paramètres d’une fonction sont </a:t>
            </a:r>
            <a:r>
              <a:rPr lang="fr-FR" sz="2200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optionnels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Les parenthèses sont </a:t>
            </a:r>
            <a:r>
              <a:rPr lang="fr-FR" sz="2200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obligatoires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57910" y="645795"/>
            <a:ext cx="659955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Définition d’une fonction ( type de retour )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2332</Words>
  <Application>WPS Presentation</Application>
  <PresentationFormat>Affichage à l'écran (4:3)</PresentationFormat>
  <Paragraphs>188</Paragraphs>
  <Slides>8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SimSun</vt:lpstr>
      <vt:lpstr>Wingdings</vt:lpstr>
      <vt:lpstr>Arial</vt:lpstr>
      <vt:lpstr>Times New Roman</vt:lpstr>
      <vt:lpstr>Times New Roman</vt:lpstr>
      <vt:lpstr>Calibri</vt:lpstr>
      <vt:lpstr>Microsoft YaHei</vt:lpstr>
      <vt:lpstr>Arial Unicode MS</vt:lpstr>
      <vt:lpstr>Calibri Light</vt:lpstr>
      <vt:lpstr>Tahoma</vt:lpstr>
      <vt:lpstr>Courier New</vt:lpstr>
      <vt:lpstr>Thème Office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esprit</dc:creator>
  <cp:lastModifiedBy>FATEN</cp:lastModifiedBy>
  <cp:revision>670</cp:revision>
  <dcterms:created xsi:type="dcterms:W3CDTF">2017-09-09T12:22:00Z</dcterms:created>
  <dcterms:modified xsi:type="dcterms:W3CDTF">2025-06-30T11:55:04Z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1036-12.2.0.21546</vt:lpwstr>
  </property>
  <property fmtid="{D5CDD505-2E9C-101B-9397-08002B2CF9AE}" pid="3" name="ICV">
    <vt:lpwstr>3EB4402AB05D42318DEDCEBD4A9B64F5</vt:lpwstr>
  </property>
</Properties>
</file>