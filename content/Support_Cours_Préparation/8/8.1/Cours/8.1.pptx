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62" r:id="rId4"/>
    <p:sldId id="278" r:id="rId6"/>
    <p:sldId id="275" r:id="rId7"/>
    <p:sldId id="385" r:id="rId8"/>
    <p:sldId id="432" r:id="rId9"/>
    <p:sldId id="433" r:id="rId10"/>
    <p:sldId id="387" r:id="rId11"/>
    <p:sldId id="359" r:id="rId12"/>
  </p:sldIdLst>
  <p:sldSz cx="9144000" cy="6858000" type="screen4x3"/>
  <p:notesSz cx="7102475" cy="1023429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1C9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32" autoAdjust="0"/>
    <p:restoredTop sz="86380" autoAdjust="0"/>
  </p:normalViewPr>
  <p:slideViewPr>
    <p:cSldViewPr showGuides="1">
      <p:cViewPr varScale="1">
        <p:scale>
          <a:sx n="67" d="100"/>
          <a:sy n="67" d="100"/>
        </p:scale>
        <p:origin x="2002" y="67"/>
      </p:cViewPr>
      <p:guideLst>
        <p:guide orient="horz" pos="2159"/>
        <p:guide pos="2836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22"/>
        <p:guide pos="220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993775" y="768350"/>
            <a:ext cx="5114925" cy="383698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baseline="0" dirty="0">
              <a:cs typeface="Arial" panose="020B0604020202020204" pitchFamily="34" charset="0"/>
            </a:endParaRPr>
          </a:p>
          <a:p>
            <a:pPr defTabSz="990600">
              <a:defRPr/>
            </a:pPr>
            <a:endParaRPr lang="fr-FR" dirty="0">
              <a:cs typeface="Arial" panose="020B0604020202020204" pitchFamily="34" charset="0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672BC6-E43E-4D33-92EC-8931FBF7167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00009" y="2611124"/>
            <a:ext cx="8286808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fr-FR" sz="5400" b="1" dirty="0"/>
              <a:t>    </a:t>
            </a:r>
            <a:r>
              <a:rPr lang="fr-FR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Définition et utilité</a:t>
            </a:r>
            <a:endParaRPr lang="fr-FR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ctr"/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6" descr="D:\esprit 2014\ESPRIT 2014\charte essprit 2014\logo-esprit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11" y="6111080"/>
            <a:ext cx="1337716" cy="505680"/>
          </a:xfrm>
          <a:prstGeom prst="rect">
            <a:avLst/>
          </a:prstGeom>
          <a:noFill/>
        </p:spPr>
      </p:pic>
      <p:sp>
        <p:nvSpPr>
          <p:cNvPr id="5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7086600" y="6492876"/>
            <a:ext cx="2057400" cy="365125"/>
          </a:xfrm>
        </p:spPr>
        <p:txBody>
          <a:bodyPr/>
          <a:lstStyle/>
          <a:p>
            <a:fld id="{CF4668DC-857F-487D-BFFA-8C0CA5037977}" type="slidenum">
              <a:rPr lang="fr-BE" sz="2400" b="1" smtClean="0">
                <a:solidFill>
                  <a:schemeClr val="tx1"/>
                </a:solidFill>
              </a:rPr>
            </a:fld>
            <a:endParaRPr lang="fr-BE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705" y="1700530"/>
            <a:ext cx="8964295" cy="4655185"/>
          </a:xfrm>
        </p:spPr>
        <p:txBody>
          <a:bodyPr>
            <a:normAutofit fontScale="90000" lnSpcReduction="10000"/>
          </a:bodyPr>
          <a:lstStyle/>
          <a:p>
            <a:pPr marL="342900" lvl="1" indent="-342900" algn="l">
              <a:spcBef>
                <a:spcPts val="1000"/>
              </a:spcBef>
            </a:pP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Découper le programme en plusieurs parties : sous-programmes ou modules.</a:t>
            </a: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l">
              <a:spcBef>
                <a:spcPts val="1000"/>
              </a:spcBef>
            </a:pP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l">
              <a:spcBef>
                <a:spcPts val="1000"/>
              </a:spcBef>
            </a:pP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Chaque module peut, si nécessaire, être décomposé à son tour en modules plus élémentaires ; </a:t>
            </a: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l">
              <a:spcBef>
                <a:spcPts val="1000"/>
              </a:spcBef>
            </a:pP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l">
              <a:spcBef>
                <a:spcPts val="1000"/>
              </a:spcBef>
            </a:pP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Ce 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processus de décomposition pouvant être répété autant de fois que nécessaire : c’est le principe de la </a:t>
            </a:r>
            <a:r>
              <a:rPr lang="fr-FR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programmation structurée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l">
              <a:spcBef>
                <a:spcPts val="1000"/>
              </a:spcBef>
            </a:pP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l">
              <a:spcBef>
                <a:spcPts val="1000"/>
              </a:spcBef>
            </a:pP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Regrouper dans le programme principal les instructions décrivant les enchaînements des modules.</a:t>
            </a: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l">
              <a:spcBef>
                <a:spcPts val="1000"/>
              </a:spcBef>
            </a:pP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l">
              <a:spcBef>
                <a:spcPts val="1000"/>
              </a:spcBef>
            </a:pP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La seule sorte du module existant en langage C est </a:t>
            </a:r>
            <a:r>
              <a:rPr lang="fr-FR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fonction</a:t>
            </a:r>
            <a:r>
              <a:rPr lang="fr-FR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 algn="l">
              <a:spcBef>
                <a:spcPts val="1000"/>
              </a:spcBef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latin typeface="+mj-lt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>
                <a:latin typeface="+mj-lt"/>
              </a:rPr>
            </a:fld>
            <a:endParaRPr lang="fr-FR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3808" y="660179"/>
            <a:ext cx="6243113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+mj-lt"/>
                <a:cs typeface="Times New Roman" panose="02020603050405020304" pitchFamily="18" charset="0"/>
              </a:rPr>
              <a:t>   </a:t>
            </a:r>
            <a:r>
              <a:rPr lang="fr-FR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Programmation modulaire en C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686658" y="655734"/>
            <a:ext cx="6243113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+mj-lt"/>
                <a:cs typeface="Times New Roman" panose="02020603050405020304" pitchFamily="18" charset="0"/>
              </a:rPr>
              <a:t>  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Définition d’une fonction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8596" y="1916832"/>
            <a:ext cx="8463884" cy="1296144"/>
          </a:xfrm>
          <a:prstGeom prst="rect">
            <a:avLst/>
          </a:prstGeom>
          <a:solidFill>
            <a:schemeClr val="bg2">
              <a:lumMod val="90000"/>
            </a:schemeClr>
          </a:solidFill>
          <a:ln w="7620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just">
              <a:lnSpc>
                <a:spcPct val="150000"/>
              </a:lnSpc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fonction est </a:t>
            </a:r>
            <a:r>
              <a:rPr lang="fr-FR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bloc d’instructions structurées autour d’un nom générique appelé "le nom de la fonction".</a:t>
            </a: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395536" y="4005064"/>
            <a:ext cx="8568952" cy="122413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Ce bloc d'instructions peut éventuellement avoir besoin de valeurs pour pouvoir travailler sur des données qu'on lui transmet : </a:t>
            </a:r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on dit que la fonction peut avoir besoin de </a:t>
            </a:r>
            <a:r>
              <a:rPr lang="fr-FR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paramètres</a:t>
            </a: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700808"/>
            <a:ext cx="8964488" cy="5157192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50000"/>
              </a:lnSpc>
              <a:spcBef>
                <a:spcPts val="1000"/>
              </a:spcBef>
            </a:pPr>
            <a:r>
              <a:rPr lang="fr-FR" sz="2500">
                <a:latin typeface="Times New Roman" panose="02020603050405020304" pitchFamily="18" charset="0"/>
                <a:cs typeface="Times New Roman" panose="02020603050405020304" pitchFamily="18" charset="0"/>
              </a:rPr>
              <a:t>Améliorer </a:t>
            </a: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lisibilité du programme.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</a:pPr>
            <a:r>
              <a:rPr lang="fr-FR" sz="2500">
                <a:latin typeface="Times New Roman" panose="02020603050405020304" pitchFamily="18" charset="0"/>
                <a:cs typeface="Times New Roman" panose="02020603050405020304" pitchFamily="18" charset="0"/>
              </a:rPr>
              <a:t>Eviter des séquences d’instructions répétitives.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Faciliter la maintenance. 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spcBef>
                <a:spcPts val="1000"/>
              </a:spcBef>
            </a:pPr>
            <a:r>
              <a:rPr lang="fr-F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Faciliter la conception. 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342900">
              <a:lnSpc>
                <a:spcPct val="150000"/>
              </a:lnSpc>
              <a:spcBef>
                <a:spcPts val="1000"/>
              </a:spcBef>
            </a:pPr>
            <a:r>
              <a:rPr lang="fr-FR" sz="25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Partager des outils communs qu’il suffit d’avoir écrits et mis au point une seule fois </a:t>
            </a:r>
            <a:r>
              <a:rPr lang="fr-FR" sz="250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fr-FR" sz="25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Faciliter 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 réutilisabilité</a:t>
            </a:r>
            <a:r>
              <a:rPr lang="fr-FR" sz="25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fr-FR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buNone/>
            </a:pP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lnSpc>
                <a:spcPct val="150000"/>
              </a:lnSpc>
              <a:spcBef>
                <a:spcPts val="1000"/>
              </a:spcBef>
              <a:buNone/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latin typeface="+mj-lt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>
                <a:latin typeface="+mj-lt"/>
              </a:rPr>
            </a:fld>
            <a:endParaRPr lang="fr-FR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8083" y="661449"/>
            <a:ext cx="6243113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+mj-lt"/>
                <a:cs typeface="Times New Roman" panose="02020603050405020304" pitchFamily="18" charset="0"/>
              </a:rPr>
              <a:t>  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Intérêts des fonctions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705" y="1700530"/>
            <a:ext cx="9478010" cy="5157470"/>
          </a:xfrm>
        </p:spPr>
        <p:txBody>
          <a:bodyPr>
            <a:normAutofit/>
          </a:bodyPr>
          <a:lstStyle/>
          <a:p>
            <a:pPr marL="342900" lvl="1" indent="-342900">
              <a:lnSpc>
                <a:spcPct val="150000"/>
              </a:lnSpc>
              <a:spcBef>
                <a:spcPts val="1000"/>
              </a:spcBef>
            </a:pPr>
            <a:r>
              <a:rPr lang="fr-FR" sz="2500">
                <a:latin typeface="Times New Roman" panose="02020603050405020304" pitchFamily="18" charset="0"/>
                <a:cs typeface="Times New Roman" panose="02020603050405020304" pitchFamily="18" charset="0"/>
              </a:rPr>
              <a:t>Possibilité de découper le programme source en plusieurs parties </a:t>
            </a:r>
            <a:br>
              <a:rPr lang="fr-FR" sz="25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500">
                <a:latin typeface="Times New Roman" panose="02020603050405020304" pitchFamily="18" charset="0"/>
                <a:cs typeface="Times New Roman" panose="02020603050405020304" pitchFamily="18" charset="0"/>
              </a:rPr>
              <a:t>stockées dans des fichiers sources séparés. Chaque fichier source,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appelé par abus de langage "module", regroupe une ou plusieurs fonctions</a:t>
            </a:r>
            <a:r>
              <a:rPr lang="fr-FR" sz="2500">
                <a:latin typeface="Times New Roman" panose="02020603050405020304" pitchFamily="18" charset="0"/>
                <a:cs typeface="Times New Roman" panose="02020603050405020304" pitchFamily="18" charset="0"/>
              </a:rPr>
              <a:t> et peut être compilé séparément</a:t>
            </a:r>
            <a:endParaRPr lang="fr-FR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buNone/>
            </a:pPr>
            <a:endParaRPr lang="fr-FR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spcBef>
                <a:spcPts val="1000"/>
              </a:spcBef>
              <a:buNone/>
            </a:pPr>
            <a:r>
              <a:rPr lang="fr-FR" sz="2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Faciliter le travail en équipe + Développement de grosses applications.</a:t>
            </a:r>
            <a:endParaRPr lang="fr-F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  <a:buNone/>
            </a:pP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latin typeface="+mj-lt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>
                <a:latin typeface="+mj-lt"/>
              </a:rPr>
            </a:fld>
            <a:endParaRPr lang="fr-FR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58083" y="661449"/>
            <a:ext cx="6243113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+mj-lt"/>
                <a:cs typeface="Times New Roman" panose="02020603050405020304" pitchFamily="18" charset="0"/>
              </a:rPr>
              <a:t>  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Intérêts des fonctions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3812" y="1371878"/>
            <a:ext cx="8964488" cy="5157192"/>
          </a:xfrm>
        </p:spPr>
        <p:txBody>
          <a:bodyPr>
            <a:normAutofit/>
          </a:bodyPr>
          <a:lstStyle/>
          <a:p>
            <a:pPr marL="342900" lvl="1" indent="-342900">
              <a:spcBef>
                <a:spcPts val="1000"/>
              </a:spcBef>
            </a:pPr>
            <a:r>
              <a:rPr lang="fr-FR" sz="2500">
                <a:latin typeface="Times New Roman" panose="02020603050405020304" pitchFamily="18" charset="0"/>
                <a:cs typeface="Times New Roman" panose="02020603050405020304" pitchFamily="18" charset="0"/>
              </a:rPr>
              <a:t>Dans un programme, on distingue :</a:t>
            </a:r>
            <a:endParaRPr lang="fr-FR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fr-FR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-342900">
              <a:spcBef>
                <a:spcPts val="1000"/>
              </a:spcBef>
            </a:pP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des fonctions </a:t>
            </a:r>
            <a:r>
              <a:rPr lang="fr-F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externes</a:t>
            </a: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intégrées dans des bibliothèques externes : printf(), scanf(), …</a:t>
            </a:r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2" indent="0">
              <a:spcBef>
                <a:spcPts val="1000"/>
              </a:spcBef>
              <a:buNone/>
            </a:pPr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2" indent="-342900">
              <a:spcBef>
                <a:spcPts val="1000"/>
              </a:spcBef>
            </a:pP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des fonctions </a:t>
            </a:r>
            <a:r>
              <a:rPr lang="fr-FR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internes</a:t>
            </a: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développées dans le programme : ce sont des fonctions personnalisées qui apportent une structuration au programme et qui </a:t>
            </a:r>
            <a:r>
              <a:rPr lang="fr-FR" sz="24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peuvent être appelées dans plusieurs fonctions</a:t>
            </a: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2" indent="0">
              <a:spcBef>
                <a:spcPts val="1000"/>
              </a:spcBef>
              <a:buNone/>
            </a:pPr>
            <a:endParaRPr lang="fr-FR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fonction peut fournir un unique résultat (sa valeur de retour), comme ne pas en fournir du tout.</a:t>
            </a:r>
            <a:endParaRPr lang="fr-FR" sz="25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fr-FR" sz="25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>
                <a:latin typeface="+mj-lt"/>
              </a:rPr>
            </a:fld>
            <a:endParaRPr lang="fr-FR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4903" y="541434"/>
            <a:ext cx="6243113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+mj-lt"/>
                <a:cs typeface="Times New Roman" panose="02020603050405020304" pitchFamily="18" charset="0"/>
              </a:rPr>
              <a:t>  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Caractéristiques des fonctions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9342" y="1495068"/>
            <a:ext cx="8964488" cy="5157192"/>
          </a:xfrm>
        </p:spPr>
        <p:txBody>
          <a:bodyPr>
            <a:normAutofit/>
          </a:bodyPr>
          <a:lstStyle/>
          <a:p>
            <a:pPr marL="0" lvl="1" indent="0">
              <a:spcBef>
                <a:spcPts val="1000"/>
              </a:spcBef>
              <a:buNone/>
            </a:pPr>
            <a:endParaRPr lang="fr-FR" sz="25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fonction peut retourner un résultat scalaire ou une structure</a:t>
            </a:r>
            <a:endParaRPr lang="fr-FR" sz="25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fr-FR" sz="25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valeur d’une fonction peut dans certains cas ne pas être utilisée (comme les valeurs de retour de printf() et scanf())</a:t>
            </a:r>
            <a:endParaRPr lang="fr-FR" sz="25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0">
              <a:spcBef>
                <a:spcPts val="1000"/>
              </a:spcBef>
              <a:buNone/>
            </a:pPr>
            <a:endParaRPr lang="fr-FR" sz="25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>
              <a:spcBef>
                <a:spcPts val="1000"/>
              </a:spcBef>
            </a:pPr>
            <a:r>
              <a:rPr lang="fr-FR" sz="250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fonction peut modifier les valeurs de certains de ses arguments (voir chapitre Pointeurs)</a:t>
            </a:r>
            <a:endParaRPr lang="fr-FR" sz="250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>
                <a:latin typeface="+mj-lt"/>
              </a:rPr>
            </a:fld>
            <a:endParaRPr lang="fr-FR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4903" y="541434"/>
            <a:ext cx="6243113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+mj-lt"/>
                <a:cs typeface="Times New Roman" panose="02020603050405020304" pitchFamily="18" charset="0"/>
              </a:rPr>
              <a:t>  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Caractéristiques des fonctions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1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5436096" y="1200100"/>
            <a:ext cx="3600400" cy="5829300"/>
          </a:xfrm>
          <a:noFill/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NomFonction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fr-F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fr-F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……………….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b, 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valmax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printf(“ Tapez deux entiers: “);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(“%d %d”, &amp;a, &amp;b);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NomFonction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();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…………………………..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4903" y="546514"/>
            <a:ext cx="6243113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latin typeface="+mj-lt"/>
                <a:cs typeface="Times New Roman" panose="02020603050405020304" pitchFamily="18" charset="0"/>
              </a:rPr>
              <a:t>     </a:t>
            </a: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des fonctions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763688" y="2136204"/>
            <a:ext cx="3600400" cy="500708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fr-FR" sz="2000" b="1">
                <a:latin typeface="+mj-lt"/>
                <a:cs typeface="Times New Roman" panose="02020603050405020304" pitchFamily="18" charset="0"/>
              </a:rPr>
              <a:t>Définition de la fonction</a:t>
            </a:r>
            <a:endParaRPr lang="fr-FR" sz="2000" b="1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3" name="Rectangle 1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763688" y="5664596"/>
            <a:ext cx="3600400" cy="100476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</a:pPr>
            <a:r>
              <a:rPr lang="fr-FR" sz="2000" b="1">
                <a:latin typeface="+mj-lt"/>
                <a:cs typeface="Times New Roman" panose="02020603050405020304" pitchFamily="18" charset="0"/>
              </a:rPr>
              <a:t>Appel de la fonction  par une autre fonction, </a:t>
            </a:r>
            <a:r>
              <a:rPr lang="fr-FR" sz="2000">
                <a:latin typeface="+mj-lt"/>
                <a:cs typeface="Times New Roman" panose="02020603050405020304" pitchFamily="18" charset="0"/>
              </a:rPr>
              <a:t>ici par la fonction principale  main(). </a:t>
            </a:r>
            <a:endParaRPr lang="fr-FR" sz="200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4" name="Rectangle à coins arrondis 13"/>
          <p:cNvSpPr/>
          <p:nvPr/>
        </p:nvSpPr>
        <p:spPr>
          <a:xfrm>
            <a:off x="5239325" y="1500826"/>
            <a:ext cx="2520280" cy="1621014"/>
          </a:xfrm>
          <a:prstGeom prst="roundRect">
            <a:avLst/>
          </a:prstGeom>
          <a:solidFill>
            <a:srgbClr val="C00000">
              <a:alpha val="1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à coins arrondis 15"/>
          <p:cNvSpPr/>
          <p:nvPr/>
        </p:nvSpPr>
        <p:spPr>
          <a:xfrm>
            <a:off x="5508104" y="5589240"/>
            <a:ext cx="2304256" cy="576064"/>
          </a:xfrm>
          <a:prstGeom prst="roundRect">
            <a:avLst/>
          </a:prstGeom>
          <a:solidFill>
            <a:srgbClr val="C00000">
              <a:alpha val="1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9" name="Groupe 18"/>
          <p:cNvGrpSpPr/>
          <p:nvPr/>
        </p:nvGrpSpPr>
        <p:grpSpPr>
          <a:xfrm>
            <a:off x="1475696" y="2132856"/>
            <a:ext cx="360000" cy="307777"/>
            <a:chOff x="1475696" y="2132856"/>
            <a:chExt cx="360000" cy="307777"/>
          </a:xfrm>
        </p:grpSpPr>
        <p:sp>
          <p:nvSpPr>
            <p:cNvPr id="17" name="Ellipse 16"/>
            <p:cNvSpPr/>
            <p:nvPr/>
          </p:nvSpPr>
          <p:spPr>
            <a:xfrm>
              <a:off x="1542188" y="2188046"/>
              <a:ext cx="216024" cy="216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ZoneTexte 17"/>
            <p:cNvSpPr txBox="1"/>
            <p:nvPr/>
          </p:nvSpPr>
          <p:spPr>
            <a:xfrm>
              <a:off x="1475696" y="2132856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>
                  <a:solidFill>
                    <a:schemeClr val="bg1"/>
                  </a:solidFill>
                </a:rPr>
                <a:t>1</a:t>
              </a:r>
              <a:endParaRPr lang="fr-FR" sz="14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20" name="Groupe 19"/>
          <p:cNvGrpSpPr/>
          <p:nvPr/>
        </p:nvGrpSpPr>
        <p:grpSpPr>
          <a:xfrm>
            <a:off x="1475656" y="5657545"/>
            <a:ext cx="360000" cy="307777"/>
            <a:chOff x="1475696" y="2132856"/>
            <a:chExt cx="360000" cy="307777"/>
          </a:xfrm>
        </p:grpSpPr>
        <p:sp>
          <p:nvSpPr>
            <p:cNvPr id="21" name="Ellipse 20"/>
            <p:cNvSpPr/>
            <p:nvPr/>
          </p:nvSpPr>
          <p:spPr>
            <a:xfrm>
              <a:off x="1542188" y="2188046"/>
              <a:ext cx="216024" cy="216000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" name="ZoneTexte 21"/>
            <p:cNvSpPr txBox="1"/>
            <p:nvPr/>
          </p:nvSpPr>
          <p:spPr>
            <a:xfrm>
              <a:off x="1475696" y="2132856"/>
              <a:ext cx="3600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b="1">
                  <a:solidFill>
                    <a:schemeClr val="bg1"/>
                  </a:solidFill>
                </a:rPr>
                <a:t>2</a:t>
              </a:r>
              <a:endParaRPr lang="fr-FR" sz="1400" b="1">
                <a:solidFill>
                  <a:schemeClr val="bg1"/>
                </a:solidFill>
              </a:endParaRPr>
            </a:p>
          </p:txBody>
        </p:sp>
      </p:grpSp>
      <p:cxnSp>
        <p:nvCxnSpPr>
          <p:cNvPr id="24" name="Connecteur droit avec flèche 17"/>
          <p:cNvCxnSpPr/>
          <p:nvPr/>
        </p:nvCxnSpPr>
        <p:spPr>
          <a:xfrm>
            <a:off x="3963852" y="3101044"/>
            <a:ext cx="2232248" cy="432048"/>
          </a:xfrm>
          <a:prstGeom prst="straightConnector1">
            <a:avLst/>
          </a:prstGeom>
          <a:ln w="19050">
            <a:solidFill>
              <a:srgbClr val="0070C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17"/>
          <p:cNvCxnSpPr/>
          <p:nvPr/>
        </p:nvCxnSpPr>
        <p:spPr>
          <a:xfrm>
            <a:off x="3491880" y="5373216"/>
            <a:ext cx="2232248" cy="432048"/>
          </a:xfrm>
          <a:prstGeom prst="straightConnector1">
            <a:avLst/>
          </a:prstGeom>
          <a:ln w="19050">
            <a:solidFill>
              <a:srgbClr val="1C9C47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1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851738" y="2856284"/>
            <a:ext cx="2304256" cy="50070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fr-FR" sz="20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 appelante</a:t>
            </a:r>
            <a:endParaRPr lang="fr-FR" sz="2000" b="1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13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>
          <a:xfrm>
            <a:off x="1851660" y="5048885"/>
            <a:ext cx="2698115" cy="501015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lang="fr-FR" sz="2000" b="1">
                <a:solidFill>
                  <a:srgbClr val="1C9C4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Appel de la fonction</a:t>
            </a:r>
            <a:endParaRPr lang="fr-FR" sz="2000" b="1">
              <a:solidFill>
                <a:srgbClr val="1C9C4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2566</Words>
  <Application>WPS Presentation</Application>
  <PresentationFormat>Affichage à l'écran (4:3)</PresentationFormat>
  <Paragraphs>111</Paragraphs>
  <Slides>8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Arial</vt:lpstr>
      <vt:lpstr>Times New Roman</vt:lpstr>
      <vt:lpstr>Times New Roman</vt:lpstr>
      <vt:lpstr>Calibri</vt:lpstr>
      <vt:lpstr>Microsoft YaHei</vt:lpstr>
      <vt:lpstr>Arial Unicode MS</vt:lpstr>
      <vt:lpstr>Calibri Light</vt:lpstr>
      <vt:lpstr>Tahoma</vt:lpstr>
      <vt:lpstr>Courier New</vt:lpstr>
      <vt:lpstr>Thème Office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</dc:creator>
  <cp:lastModifiedBy>FATEN</cp:lastModifiedBy>
  <cp:revision>670</cp:revision>
  <dcterms:created xsi:type="dcterms:W3CDTF">2017-09-09T12:22:00Z</dcterms:created>
  <dcterms:modified xsi:type="dcterms:W3CDTF">2025-06-30T11:54:19Z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1036-12.2.0.21546</vt:lpwstr>
  </property>
  <property fmtid="{D5CDD505-2E9C-101B-9397-08002B2CF9AE}" pid="3" name="ICV">
    <vt:lpwstr>3EB4402AB05D42318DEDCEBD4A9B64F5</vt:lpwstr>
  </property>
</Properties>
</file>