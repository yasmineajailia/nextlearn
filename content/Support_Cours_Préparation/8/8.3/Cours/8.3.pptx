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314" r:id="rId4"/>
    <p:sldId id="302" r:id="rId6"/>
    <p:sldId id="363" r:id="rId7"/>
    <p:sldId id="321" r:id="rId8"/>
    <p:sldId id="364" r:id="rId9"/>
  </p:sldIdLst>
  <p:sldSz cx="9144000" cy="6858000" type="screen4x3"/>
  <p:notesSz cx="7102475" cy="1023429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1C9C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32" autoAdjust="0"/>
    <p:restoredTop sz="86380" autoAdjust="0"/>
  </p:normalViewPr>
  <p:slideViewPr>
    <p:cSldViewPr showGuides="1">
      <p:cViewPr varScale="1">
        <p:scale>
          <a:sx n="67" d="100"/>
          <a:sy n="67" d="100"/>
        </p:scale>
        <p:origin x="2002" y="67"/>
      </p:cViewPr>
      <p:guideLst>
        <p:guide orient="horz" pos="2159"/>
        <p:guide pos="2836"/>
      </p:guideLst>
    </p:cSldViewPr>
  </p:slideViewPr>
  <p:outlineViewPr>
    <p:cViewPr>
      <p:scale>
        <a:sx n="33" d="100"/>
        <a:sy n="33" d="100"/>
      </p:scale>
      <p:origin x="246" y="3631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32" y="-108"/>
      </p:cViewPr>
      <p:guideLst>
        <p:guide orient="horz" pos="3222"/>
        <p:guide pos="220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993775" y="768350"/>
            <a:ext cx="5114925" cy="3836988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90600">
              <a:defRPr/>
            </a:pPr>
            <a:endParaRPr lang="fr-FR" baseline="0" dirty="0">
              <a:cs typeface="Arial" panose="020B0604020202020204" pitchFamily="34" charset="0"/>
            </a:endParaRPr>
          </a:p>
          <a:p>
            <a:pPr defTabSz="990600">
              <a:defRPr/>
            </a:pPr>
            <a:endParaRPr lang="fr-FR" baseline="0" dirty="0">
              <a:cs typeface="Arial" panose="020B0604020202020204" pitchFamily="34" charset="0"/>
            </a:endParaRPr>
          </a:p>
          <a:p>
            <a:pPr defTabSz="990600">
              <a:defRPr/>
            </a:pPr>
            <a:endParaRPr lang="fr-FR" dirty="0"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2BC6-E43E-4D33-92EC-8931FBF7167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428596" y="2636912"/>
            <a:ext cx="8286808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fr-FR" sz="4800" b="1" dirty="0"/>
              <a:t>    </a:t>
            </a:r>
            <a:r>
              <a:rPr lang="fr-FR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Appel d’une fonction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6" descr="D:\esprit 2014\ESPRIT 2014\charte essprit 2014\logo-esprit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11" y="6111080"/>
            <a:ext cx="1337716" cy="505680"/>
          </a:xfrm>
          <a:prstGeom prst="rect">
            <a:avLst/>
          </a:prstGeom>
          <a:noFill/>
        </p:spPr>
      </p:pic>
      <p:sp>
        <p:nvSpPr>
          <p:cNvPr id="5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7086600" y="6492876"/>
            <a:ext cx="2057400" cy="365125"/>
          </a:xfrm>
        </p:spPr>
        <p:txBody>
          <a:bodyPr/>
          <a:lstStyle/>
          <a:p>
            <a:fld id="{CF4668DC-857F-487D-BFFA-8C0CA5037977}" type="slidenum">
              <a:rPr lang="fr-BE" sz="2400" b="1" smtClean="0">
                <a:solidFill>
                  <a:schemeClr val="tx1"/>
                </a:solidFill>
              </a:rPr>
            </a:fld>
            <a:endParaRPr lang="fr-BE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84785"/>
            <a:ext cx="8784976" cy="446449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L’appel des fonctions dépend du type de retour :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2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1: La fonction n'a pas un résultat à retourner :</a:t>
            </a:r>
            <a:endParaRPr lang="fr-FR" sz="22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Syntaxe: </a:t>
            </a:r>
            <a:endParaRPr lang="fr-FR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ctr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nomDeFonction</a:t>
            </a:r>
            <a:r>
              <a:rPr lang="fr-FR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(param1, param2..);</a:t>
            </a:r>
            <a:endParaRPr lang="fr-FR" sz="2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ctr">
              <a:spcBef>
                <a:spcPct val="20000"/>
              </a:spcBef>
              <a:buClr>
                <a:srgbClr val="C00000"/>
              </a:buClr>
              <a:buNone/>
              <a:defRPr/>
            </a:pP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2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2: La fonction a un résultat à retourner :</a:t>
            </a:r>
            <a:endParaRPr lang="fr-FR" sz="22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fr-F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Syntaxe: </a:t>
            </a:r>
            <a:endParaRPr lang="fr-FR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ctr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 = </a:t>
            </a:r>
            <a:r>
              <a:rPr lang="fr-FR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nomDeFonction</a:t>
            </a:r>
            <a:r>
              <a:rPr lang="fr-FR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(param1, param2..);</a:t>
            </a:r>
            <a:endParaRPr lang="fr-FR" sz="2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Où  «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val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est une variable de même type que le type de retour de la </a:t>
            </a: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fonction.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058133" y="684309"/>
            <a:ext cx="777352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Appel d’une fonction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511159" y="1342130"/>
            <a:ext cx="8207950" cy="25380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marL="342900" indent="-342900">
              <a:defRPr/>
            </a:pPr>
            <a:r>
              <a:rPr lang="fr-FR" b="1" u="sng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1: La fonction n'a pas </a:t>
            </a:r>
            <a:r>
              <a:rPr lang="fr-FR" b="1" u="sng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 résultat à retourner</a:t>
            </a:r>
            <a:r>
              <a:rPr lang="fr-FR" b="1" u="sng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b="1" u="sng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AutoNum type="arabicPeriod"/>
              <a:defRPr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Lors de l'implémentation de la fonction: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buFontTx/>
              <a:buChar char="•"/>
              <a:defRPr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fonction a le type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dans sa déclaration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buFontTx/>
              <a:buChar char="•"/>
              <a:defRPr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Aucune instruction 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n'est nécessaire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>
              <a:defRPr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AutoNum type="arabicPeriod"/>
              <a:defRPr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l'appel de la fonction: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buFontTx/>
              <a:buChar char="•"/>
              <a:defRPr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L'appel de la fonction est 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instruction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buFontTx/>
              <a:buChar char="•"/>
              <a:defRPr/>
            </a:pPr>
            <a:endParaRPr lang="fr-F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5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542580" y="3929389"/>
            <a:ext cx="8189450" cy="29294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marL="342900" indent="-342900" eaLnBrk="0" hangingPunct="0">
              <a:spcBef>
                <a:spcPct val="0"/>
              </a:spcBef>
              <a:defRPr/>
            </a:pPr>
            <a:r>
              <a:rPr lang="fr-FR" b="1" u="sng" kern="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2: La fonction a </a:t>
            </a:r>
            <a:r>
              <a:rPr lang="fr-FR" b="1" u="sng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 résultat à retourner</a:t>
            </a:r>
            <a:r>
              <a:rPr lang="fr-FR" b="1" u="sng" kern="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b="1" u="sng" kern="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hangingPunct="0">
              <a:spcBef>
                <a:spcPct val="0"/>
              </a:spcBef>
              <a:defRPr/>
            </a:pPr>
            <a:endParaRPr lang="fr-FR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hangingPunct="0">
              <a:spcBef>
                <a:spcPct val="0"/>
              </a:spcBef>
              <a:buFontTx/>
              <a:buAutoNum type="arabicPeriod"/>
              <a:defRPr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Lors de l'implémentation de la fonction</a:t>
            </a:r>
            <a:r>
              <a:rPr lang="fr-FR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defRPr/>
            </a:pPr>
            <a:endParaRPr lang="fr-FR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285750" eaLnBrk="0" hangingPunct="0">
              <a:spcBef>
                <a:spcPct val="0"/>
              </a:spcBef>
              <a:buFontTx/>
              <a:buChar char="•"/>
              <a:defRPr/>
            </a:pPr>
            <a:r>
              <a:rPr lang="fr-FR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fonction a un type défini à sa déclaration</a:t>
            </a:r>
            <a:endParaRPr lang="fr-FR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285750" eaLnBrk="0" hangingPunct="0">
              <a:spcBef>
                <a:spcPct val="0"/>
              </a:spcBef>
              <a:buFontTx/>
              <a:buChar char="•"/>
              <a:defRPr/>
            </a:pPr>
            <a:r>
              <a:rPr lang="fr-FR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dernière instruction est un return d'une valeur de ce type</a:t>
            </a:r>
            <a:endParaRPr lang="fr-FR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285750" eaLnBrk="0" hangingPunct="0">
              <a:spcBef>
                <a:spcPct val="0"/>
              </a:spcBef>
              <a:buFontTx/>
              <a:buChar char="•"/>
              <a:defRPr/>
            </a:pPr>
            <a:endParaRPr lang="fr-FR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hangingPunct="0">
              <a:spcBef>
                <a:spcPct val="0"/>
              </a:spcBef>
              <a:buFont typeface="+mj-lt"/>
              <a:buAutoNum type="arabicPeriod" startAt="2"/>
              <a:defRPr/>
            </a:pPr>
            <a:r>
              <a:rPr lang="fr-FR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l'appel de la fonction:</a:t>
            </a:r>
            <a:endParaRPr lang="fr-FR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hangingPunct="0">
              <a:spcBef>
                <a:spcPct val="0"/>
              </a:spcBef>
              <a:buFontTx/>
              <a:buAutoNum type="arabicPeriod" startAt="2"/>
              <a:defRPr/>
            </a:pPr>
            <a:endParaRPr lang="fr-FR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285750" eaLnBrk="0" hangingPunct="0">
              <a:spcBef>
                <a:spcPct val="0"/>
              </a:spcBef>
              <a:buFontTx/>
              <a:buChar char="•"/>
              <a:defRPr/>
            </a:pPr>
            <a:r>
              <a:rPr lang="fr-FR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fonction est appelée dans une expression</a:t>
            </a:r>
            <a:endParaRPr lang="fr-FR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5992137" y="4134084"/>
            <a:ext cx="2683837" cy="931517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 eaLnBrk="1" hangingPunct="1">
              <a:buFont typeface="Wingdings" panose="05000000000000000000" pitchFamily="2" charset="2"/>
              <a:buNone/>
            </a:pPr>
            <a:r>
              <a:rPr lang="fr-FR" sz="15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NomFonction</a:t>
            </a:r>
            <a:r>
              <a:rPr lang="fr-F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()</a:t>
            </a:r>
            <a:endParaRPr lang="fr-FR" sz="1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fr-F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fr-FR" sz="1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fr-F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return Valeur;</a:t>
            </a:r>
            <a:endParaRPr lang="fr-FR" sz="1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fr-F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fr-FR" sz="1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6283422" y="5948774"/>
            <a:ext cx="2343150" cy="28575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= </a:t>
            </a:r>
            <a:r>
              <a:rPr lang="fr-F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NomFonction</a:t>
            </a:r>
            <a:r>
              <a:rPr lang="fr-F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();</a:t>
            </a:r>
            <a:endParaRPr lang="fr-FR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6283575" y="1780203"/>
            <a:ext cx="2233680" cy="1022775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 eaLnBrk="1" hangingPunct="1"/>
            <a:r>
              <a:rPr lang="fr-FR" sz="1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NomFonction</a:t>
            </a:r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fr-FR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endParaRPr lang="fr-FR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// instructions</a:t>
            </a:r>
            <a:endParaRPr lang="fr-FR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fr-FR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6270590" y="3142491"/>
            <a:ext cx="1885950" cy="28575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500">
                <a:latin typeface="Courier New" panose="02070309020205020404" pitchFamily="49" charset="0"/>
                <a:cs typeface="Courier New" panose="02070309020205020404" pitchFamily="49" charset="0"/>
              </a:rPr>
              <a:t>NomFonction ();</a:t>
            </a:r>
            <a:endParaRPr lang="fr-FR" sz="15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058133" y="684309"/>
            <a:ext cx="777352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Appel d’une fonction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5" grpId="0" bldLvl="0" animBg="1"/>
      <p:bldP spid="16" grpId="0" bldLvl="0" animBg="1"/>
      <p:bldP spid="17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84783"/>
            <a:ext cx="8856984" cy="5236693"/>
          </a:xfrm>
        </p:spPr>
        <p:txBody>
          <a:bodyPr>
            <a:noAutofit/>
          </a:bodyPr>
          <a:lstStyle/>
          <a:p>
            <a:pPr marL="342900" lvl="2" indent="-34290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defRPr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n’est pas obligatoire de stocker le résultat d’une fonction dans une variable.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2" indent="-34290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defRPr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peut appeler une fonction directement dans une autre fonction .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None/>
              <a:defRPr/>
            </a:pPr>
            <a:r>
              <a:rPr lang="fr-FR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Exemple1:</a:t>
            </a:r>
            <a:endParaRPr lang="fr-FR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0" algn="just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None/>
              <a:defRPr/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doubleSomme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x,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y)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0" algn="just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None/>
              <a:defRPr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0" algn="just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None/>
              <a:defRPr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val=0;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0" algn="just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None/>
              <a:defRPr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val=2*somme(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 </a:t>
            </a:r>
            <a:r>
              <a:rPr lang="fr-FR" sz="18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//appel de la  fonction somme qui retourne la somme  de x et y</a:t>
            </a:r>
            <a:endParaRPr lang="fr-FR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0" algn="just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None/>
              <a:defRPr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return val;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0" algn="just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None/>
              <a:defRPr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0" algn="just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C00000"/>
              </a:buClr>
              <a:buNone/>
              <a:defRPr/>
            </a:pPr>
            <a:r>
              <a:rPr lang="fr-FR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Exemple2: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0" algn="just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None/>
              <a:defRPr/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("%f",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doubleSomme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));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058133" y="684309"/>
            <a:ext cx="777352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Appel d’une fonction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2" name="Rectangle 6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71999" y="541782"/>
            <a:ext cx="3960439" cy="6137104"/>
          </a:xfr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fr-FR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fr-FR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fr-F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fr-FR" sz="1500" b="1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sz="1500" b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1500" b="1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sz="1500" b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alculerMoy </a:t>
            </a:r>
            <a:r>
              <a:rPr lang="fr-FR" sz="15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);</a:t>
            </a:r>
            <a:endParaRPr lang="fr-FR" sz="15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fr-FR" sz="1500" b="1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fr-FR" sz="1500" b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500" b="1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1500" b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aisieNote ( );</a:t>
            </a:r>
            <a:endParaRPr lang="fr-FR" sz="15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fr-FR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  <a:endParaRPr lang="fr-F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fr-FR" sz="150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endParaRPr lang="fr-FR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fr-FR" sz="1500">
                <a:latin typeface="Times New Roman" panose="02020603050405020304" pitchFamily="18" charset="0"/>
                <a:cs typeface="Times New Roman" panose="02020603050405020304" pitchFamily="18" charset="0"/>
              </a:rPr>
              <a:t>	int i;</a:t>
            </a:r>
            <a:endParaRPr lang="fr-FR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fr-FR" sz="1500">
                <a:latin typeface="Times New Roman" panose="02020603050405020304" pitchFamily="18" charset="0"/>
                <a:cs typeface="Times New Roman" panose="02020603050405020304" pitchFamily="18" charset="0"/>
              </a:rPr>
              <a:t>	for 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 = 1; i&lt;=50; i++)</a:t>
            </a:r>
            <a:endParaRPr lang="fr-F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fr-FR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fr-FR" sz="1500" b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calculerMoy </a:t>
            </a:r>
            <a:r>
              <a:rPr lang="fr-FR" sz="15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);</a:t>
            </a:r>
            <a:endParaRPr lang="fr-FR" sz="15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fr-F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fr-FR" sz="1500" b="1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sz="1500" b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500" b="1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sz="1500" b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alculerMoy </a:t>
            </a:r>
            <a:r>
              <a:rPr lang="fr-FR" sz="15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</a:t>
            </a:r>
            <a:endParaRPr lang="fr-FR" sz="15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fr-FR" sz="150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endParaRPr lang="fr-FR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fr-FR" sz="1500">
                <a:latin typeface="Times New Roman" panose="02020603050405020304" pitchFamily="18" charset="0"/>
                <a:cs typeface="Times New Roman" panose="02020603050405020304" pitchFamily="18" charset="0"/>
              </a:rPr>
              <a:t>	float 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N1, N2, </a:t>
            </a:r>
            <a:r>
              <a:rPr lang="fr-FR" sz="1500">
                <a:latin typeface="Times New Roman" panose="02020603050405020304" pitchFamily="18" charset="0"/>
                <a:cs typeface="Times New Roman" panose="02020603050405020304" pitchFamily="18" charset="0"/>
              </a:rPr>
              <a:t>M;</a:t>
            </a:r>
            <a:endParaRPr lang="fr-F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</a:pPr>
            <a:r>
              <a:rPr lang="fr-FR" sz="1500">
                <a:latin typeface="Times New Roman" panose="02020603050405020304" pitchFamily="18" charset="0"/>
                <a:cs typeface="Times New Roman" panose="02020603050405020304" pitchFamily="18" charset="0"/>
              </a:rPr>
              <a:t> 	 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N1 </a:t>
            </a:r>
            <a:r>
              <a:rPr lang="fr-FR" sz="150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fr-FR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aisieNote </a:t>
            </a:r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fr-F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fr-FR" sz="1500">
                <a:latin typeface="Times New Roman" panose="02020603050405020304" pitchFamily="18" charset="0"/>
                <a:cs typeface="Times New Roman" panose="02020603050405020304" pitchFamily="18" charset="0"/>
              </a:rPr>
              <a:t>  	N2 = </a:t>
            </a:r>
            <a:r>
              <a:rPr lang="fr-FR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aisieNote </a:t>
            </a:r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fr-F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fr-FR" sz="1500">
                <a:latin typeface="Times New Roman" panose="02020603050405020304" pitchFamily="18" charset="0"/>
                <a:cs typeface="Times New Roman" panose="02020603050405020304" pitchFamily="18" charset="0"/>
              </a:rPr>
              <a:t>  	M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=(N1*0.8)+(N2*0.2);</a:t>
            </a:r>
            <a:endParaRPr lang="fr-F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fr-FR" sz="1500">
                <a:latin typeface="Times New Roman" panose="02020603050405020304" pitchFamily="18" charset="0"/>
                <a:cs typeface="Times New Roman" panose="02020603050405020304" pitchFamily="18" charset="0"/>
              </a:rPr>
              <a:t>  	printf 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(“Moyenne: %f", M);</a:t>
            </a:r>
            <a:endParaRPr lang="fr-F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fr-F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fr-F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fr-FR" sz="1500" b="1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fr-FR" sz="1500" b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500" b="1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1500" b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aisieNote </a:t>
            </a:r>
            <a:r>
              <a:rPr lang="fr-FR" sz="15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</a:t>
            </a:r>
            <a:endParaRPr lang="fr-FR" sz="15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fr-FR" sz="150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endParaRPr lang="fr-FR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fr-FR" sz="1500">
                <a:latin typeface="Times New Roman" panose="02020603050405020304" pitchFamily="18" charset="0"/>
                <a:cs typeface="Times New Roman" panose="02020603050405020304" pitchFamily="18" charset="0"/>
              </a:rPr>
              <a:t>	float 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X;</a:t>
            </a:r>
            <a:endParaRPr lang="fr-F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</a:pPr>
            <a:r>
              <a:rPr lang="fr-FR" sz="1500">
                <a:latin typeface="Times New Roman" panose="02020603050405020304" pitchFamily="18" charset="0"/>
                <a:cs typeface="Times New Roman" panose="02020603050405020304" pitchFamily="18" charset="0"/>
              </a:rPr>
              <a:t>  	printf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("Note</a:t>
            </a:r>
            <a:r>
              <a:rPr lang="fr-FR" sz="1500">
                <a:latin typeface="Times New Roman" panose="02020603050405020304" pitchFamily="18" charset="0"/>
                <a:cs typeface="Times New Roman" panose="02020603050405020304" pitchFamily="18" charset="0"/>
              </a:rPr>
              <a:t>:"); </a:t>
            </a:r>
            <a:endParaRPr lang="fr-FR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</a:pPr>
            <a:r>
              <a:rPr lang="fr-FR" sz="1500">
                <a:latin typeface="Times New Roman" panose="02020603050405020304" pitchFamily="18" charset="0"/>
                <a:cs typeface="Times New Roman" panose="02020603050405020304" pitchFamily="18" charset="0"/>
              </a:rPr>
              <a:t>	scanf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("%f", &amp;X);</a:t>
            </a:r>
            <a:endParaRPr lang="fr-F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fr-FR" sz="15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150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1500" b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fr-FR" sz="150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X;</a:t>
            </a:r>
            <a:endParaRPr lang="fr-FR" sz="15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fr-F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3" name="Rectangle 7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179512" y="541782"/>
            <a:ext cx="3960439" cy="614281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fr-F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fr-F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fr-F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fr-FR" sz="1700" b="1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sz="1700" b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700" b="1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sz="1700" b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alculerMoy ( );      </a:t>
            </a:r>
            <a:r>
              <a:rPr lang="fr-FR" sz="1700" b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Déclaration</a:t>
            </a:r>
            <a:endParaRPr lang="fr-FR" sz="17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 )</a:t>
            </a:r>
            <a:endParaRPr lang="fr-F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fr-F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sz="1700">
                <a:latin typeface="Times New Roman" panose="02020603050405020304" pitchFamily="18" charset="0"/>
                <a:cs typeface="Times New Roman" panose="02020603050405020304" pitchFamily="18" charset="0"/>
              </a:rPr>
              <a:t>	int </a:t>
            </a: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i;</a:t>
            </a:r>
            <a:endParaRPr lang="fr-F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sz="1700">
                <a:latin typeface="Times New Roman" panose="02020603050405020304" pitchFamily="18" charset="0"/>
                <a:cs typeface="Times New Roman" panose="02020603050405020304" pitchFamily="18" charset="0"/>
              </a:rPr>
              <a:t> 	for </a:t>
            </a: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 = 1; i&lt;=50; i++)</a:t>
            </a:r>
            <a:endParaRPr lang="fr-F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fr-FR" sz="1700" b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calculerMoy </a:t>
            </a:r>
            <a:r>
              <a:rPr lang="fr-FR" sz="17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);     </a:t>
            </a:r>
            <a:r>
              <a:rPr lang="fr-FR" sz="1700" b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Appel</a:t>
            </a:r>
            <a:endParaRPr lang="fr-FR" sz="1700" b="1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fr-F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fr-FR" sz="17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sz="1700" b="1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sz="1700" b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700" b="1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sz="1700" b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alculerMoy </a:t>
            </a:r>
            <a:r>
              <a:rPr lang="fr-FR" sz="17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     </a:t>
            </a:r>
            <a:r>
              <a:rPr lang="fr-FR" sz="1700" b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Implémentation</a:t>
            </a:r>
            <a:endParaRPr lang="fr-FR" sz="17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fr-F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	float </a:t>
            </a: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N1, N2, M;</a:t>
            </a:r>
            <a:endParaRPr lang="fr-F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fr-F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	printf </a:t>
            </a: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("Note 1: "); </a:t>
            </a:r>
            <a:endParaRPr lang="fr-F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	scanf </a:t>
            </a: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("%f", &amp;N1);</a:t>
            </a:r>
            <a:endParaRPr lang="fr-F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sz="1700">
                <a:latin typeface="Times New Roman" panose="02020603050405020304" pitchFamily="18" charset="0"/>
                <a:cs typeface="Times New Roman" panose="02020603050405020304" pitchFamily="18" charset="0"/>
              </a:rPr>
              <a:t> 	printf </a:t>
            </a: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("Note 2: "); </a:t>
            </a:r>
            <a:endParaRPr lang="fr-F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	scanf </a:t>
            </a: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("%f", &amp;N2);</a:t>
            </a:r>
            <a:endParaRPr lang="fr-F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fr-F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	M</a:t>
            </a: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=(N1*0.8)+(N2*0.2);</a:t>
            </a:r>
            <a:endParaRPr lang="fr-F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	printf </a:t>
            </a: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(“Moyenne: %f", M);</a:t>
            </a:r>
            <a:endParaRPr lang="fr-F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fr-F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57648" y="174"/>
            <a:ext cx="777352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Appel d’une fonction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2" grpId="0" bldLvl="0" animBg="1" autoUpdateAnimBg="0"/>
    </p:bld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2090</Words>
  <Application>WPS Presentation</Application>
  <PresentationFormat>Affichage à l'écran (4:3)</PresentationFormat>
  <Paragraphs>127</Paragraphs>
  <Slides>5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9" baseType="lpstr">
      <vt:lpstr>Arial</vt:lpstr>
      <vt:lpstr>SimSun</vt:lpstr>
      <vt:lpstr>Wingdings</vt:lpstr>
      <vt:lpstr>Arial</vt:lpstr>
      <vt:lpstr>Times New Roman</vt:lpstr>
      <vt:lpstr>Times New Roman</vt:lpstr>
      <vt:lpstr>Calibri</vt:lpstr>
      <vt:lpstr>Microsoft YaHei</vt:lpstr>
      <vt:lpstr>Arial Unicode MS</vt:lpstr>
      <vt:lpstr>Calibri Light</vt:lpstr>
      <vt:lpstr>Tahoma</vt:lpstr>
      <vt:lpstr>Courier New</vt:lpstr>
      <vt:lpstr>Thème Office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esprit</dc:creator>
  <cp:lastModifiedBy>FATEN</cp:lastModifiedBy>
  <cp:revision>670</cp:revision>
  <dcterms:created xsi:type="dcterms:W3CDTF">2017-09-09T12:22:00Z</dcterms:created>
  <dcterms:modified xsi:type="dcterms:W3CDTF">2025-06-30T11:55:43Z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1036-12.2.0.21546</vt:lpwstr>
  </property>
  <property fmtid="{D5CDD505-2E9C-101B-9397-08002B2CF9AE}" pid="3" name="ICV">
    <vt:lpwstr>3EB4402AB05D42318DEDCEBD4A9B64F5</vt:lpwstr>
  </property>
</Properties>
</file>