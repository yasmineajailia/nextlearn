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</p:sldMasterIdLst>
  <p:notesMasterIdLst>
    <p:notesMasterId r:id="rId7"/>
  </p:notesMasterIdLst>
  <p:sldIdLst>
    <p:sldId id="444" r:id="rId4"/>
    <p:sldId id="383" r:id="rId5"/>
    <p:sldId id="384" r:id="rId6"/>
  </p:sldIdLst>
  <p:sldSz cx="9144000" cy="6858000" type="screen4x3"/>
  <p:notesSz cx="7102475" cy="10234295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 userDrawn="1">
          <p15:clr>
            <a:srgbClr val="A4A3A4"/>
          </p15:clr>
        </p15:guide>
        <p15:guide id="2" pos="2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00000"/>
    <a:srgbClr val="1C9C4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532" autoAdjust="0"/>
    <p:restoredTop sz="86380" autoAdjust="0"/>
  </p:normalViewPr>
  <p:slideViewPr>
    <p:cSldViewPr showGuides="1">
      <p:cViewPr varScale="1">
        <p:scale>
          <a:sx n="67" d="100"/>
          <a:sy n="67" d="100"/>
        </p:scale>
        <p:origin x="2002" y="67"/>
      </p:cViewPr>
      <p:guideLst>
        <p:guide orient="horz" pos="2159"/>
        <p:guide pos="2836"/>
      </p:guideLst>
    </p:cSldViewPr>
  </p:slideViewPr>
  <p:outlineViewPr>
    <p:cViewPr>
      <p:scale>
        <a:sx n="33" d="100"/>
        <a:sy n="33" d="100"/>
      </p:scale>
      <p:origin x="246" y="36318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32" y="-108"/>
      </p:cViewPr>
      <p:guideLst>
        <p:guide orient="horz" pos="3222"/>
        <p:guide pos="2203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viewProps" Target="viewProps.xml"/><Relationship Id="rId8" Type="http://schemas.openxmlformats.org/officeDocument/2006/relationships/presProps" Target="presProps.xml"/><Relationship Id="rId7" Type="http://schemas.openxmlformats.org/officeDocument/2006/relationships/notesMaster" Target="notesMasters/notesMaster1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0" Type="http://schemas.openxmlformats.org/officeDocument/2006/relationships/tableStyles" Target="tableStyle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4023092" y="0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/>
          <a:lstStyle>
            <a:lvl1pPr algn="r">
              <a:defRPr sz="1300"/>
            </a:lvl1pPr>
          </a:lstStyle>
          <a:p>
            <a:fld id="{06CCD8A3-D0C3-4B8F-81C5-B7B3A13A24B7}" type="datetimeFigureOut">
              <a:rPr lang="fr-FR" smtClean="0"/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993775" y="768350"/>
            <a:ext cx="5114925" cy="38369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9066" tIns="49533" rIns="99066" bIns="49533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710248" y="4861441"/>
            <a:ext cx="5681980" cy="4605576"/>
          </a:xfrm>
          <a:prstGeom prst="rect">
            <a:avLst/>
          </a:prstGeom>
        </p:spPr>
        <p:txBody>
          <a:bodyPr vert="horz" lIns="99066" tIns="49533" rIns="99066" bIns="49533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l">
              <a:defRPr sz="13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4023092" y="9721106"/>
            <a:ext cx="3077739" cy="511731"/>
          </a:xfrm>
          <a:prstGeom prst="rect">
            <a:avLst/>
          </a:prstGeom>
        </p:spPr>
        <p:txBody>
          <a:bodyPr vert="horz" lIns="99066" tIns="49533" rIns="99066" bIns="49533" rtlCol="0" anchor="b"/>
          <a:lstStyle>
            <a:lvl1pPr algn="r">
              <a:defRPr sz="1300"/>
            </a:lvl1pPr>
          </a:lstStyle>
          <a:p>
            <a:fld id="{ACFBFDCE-FF8E-4804-9ED7-98E068DE68B1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 hasCustomPrompt="1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 hasCustomPrompt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 hasCustomPrompt="1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 hasCustomPrompt="1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 hasCustomPrompt="1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 hasCustomPrompt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/>
              <a:t>Cliquez pour modifier les styles du texte du masque</a:t>
            </a:r>
            <a:endParaRPr lang="fr-FR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00F4CA-DDF0-4922-A076-B3FFF707F360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AB8A2A-CEE3-4AC8-88AC-18907018F13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390ABD-5EDF-4330-87A1-F5E091149F39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7156DF-D467-4D7C-956A-CDFE02484858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7C8B8A-BCB1-4BD7-857A-6FFFDA648566}" type="datetime1">
              <a:rPr lang="fr-FR" smtClean="0"/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7BE788-06AD-4519-807E-844AC9CFD440}" type="datetime1">
              <a:rPr lang="fr-FR" smtClean="0"/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9E3DF-E6EC-43E0-A217-4BBDF4075969}" type="datetime1">
              <a:rPr lang="fr-FR" smtClean="0"/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E0F12B-9D92-47AE-A88E-E4E9342549DE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CCF42-56A6-4127-923C-0462989227D6}" type="datetime1">
              <a:rPr lang="fr-FR" smtClean="0"/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99D686-199F-4CD9-B9B3-3B14DEC38394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124EA7-33E1-452B-A5BE-4BB07EA6C97D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3" Type="http://schemas.openxmlformats.org/officeDocument/2006/relationships/theme" Target="../theme/theme2.xml"/><Relationship Id="rId12" Type="http://schemas.openxmlformats.org/officeDocument/2006/relationships/image" Target="../media/image1.jpeg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  <a:endParaRPr lang="fr-FR"/>
          </a:p>
          <a:p>
            <a:pPr lvl="1"/>
            <a:r>
              <a:rPr lang="fr-FR"/>
              <a:t>Deuxième niveau</a:t>
            </a:r>
            <a:endParaRPr lang="fr-FR"/>
          </a:p>
          <a:p>
            <a:pPr lvl="2"/>
            <a:r>
              <a:rPr lang="fr-FR"/>
              <a:t>Troisième niveau</a:t>
            </a:r>
            <a:endParaRPr lang="fr-FR"/>
          </a:p>
          <a:p>
            <a:pPr lvl="3"/>
            <a:r>
              <a:rPr lang="fr-FR"/>
              <a:t>Quatrième niveau</a:t>
            </a:r>
            <a:endParaRPr lang="fr-FR"/>
          </a:p>
          <a:p>
            <a:pPr lvl="4"/>
            <a:r>
              <a:rPr lang="fr-FR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FCC6E91-AD3D-4A26-91B5-BD697B5F7642}" type="datetime1">
              <a:rPr lang="fr-FR" smtClean="0"/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94EA0E9-6AA5-4C72-ADD8-CBD3FCBC5038}" type="slidenum">
              <a:rPr lang="fr-FR" smtClean="0"/>
            </a:fld>
            <a:endParaRPr 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7" name="ZoneTexte 6"/>
          <p:cNvSpPr txBox="1"/>
          <p:nvPr/>
        </p:nvSpPr>
        <p:spPr>
          <a:xfrm>
            <a:off x="328266" y="2608337"/>
            <a:ext cx="8286808" cy="8299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 algn="ctr"/>
            <a:r>
              <a:rPr lang="fr-FR" sz="4800" b="1"/>
              <a:t>   </a:t>
            </a:r>
            <a:r>
              <a:rPr lang="fr-FR" sz="4800" b="1">
                <a:latin typeface="Times New Roman" panose="02020603050405020304" pitchFamily="18" charset="0"/>
                <a:cs typeface="Times New Roman" panose="02020603050405020304" pitchFamily="18" charset="0"/>
              </a:rPr>
              <a:t> Fonctions et tableaux</a:t>
            </a:r>
            <a:endParaRPr lang="fr-FR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23528" y="1412776"/>
            <a:ext cx="8820472" cy="4764187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Il est </a:t>
            </a:r>
            <a:r>
              <a:rPr lang="fr-F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interdit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 définir des fonctions qui </a:t>
            </a:r>
            <a:r>
              <a:rPr lang="fr-FR" sz="2200" b="1" i="1" u="sng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retournent des tableaux</a:t>
            </a:r>
            <a:r>
              <a:rPr lang="fr-FR" sz="2200" b="1" i="1" u="sng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!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 tableau peut être passé en paramètre d'une fonction.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fr-FR" sz="2200" i="1" u="sng" dirty="0">
                <a:solidFill>
                  <a:schemeClr val="accent6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Passage d'un tableau en paramètre :</a:t>
            </a:r>
            <a:endParaRPr lang="fr-FR" sz="2200" i="1" u="sng" dirty="0">
              <a:solidFill>
                <a:schemeClr val="accent6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lnSpc>
                <a:spcPct val="100000"/>
              </a:lnSpc>
              <a:buNone/>
            </a:pPr>
            <a:r>
              <a:rPr lang="fr-FR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Exemple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lire_tableau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tab[],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nb) ;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Void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 (</a:t>
            </a:r>
            <a:r>
              <a:rPr lang="fr-FR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fr-FR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tab[10]) =&gt; la dimension 10 n'a aucune signification sur le compilateur.</a:t>
            </a:r>
            <a:endParaRPr lang="fr-FR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7" name="Rectangle 6"/>
          <p:cNvSpPr/>
          <p:nvPr/>
        </p:nvSpPr>
        <p:spPr>
          <a:xfrm>
            <a:off x="1029558" y="712884"/>
            <a:ext cx="777352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des tableaux par les fonctions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8" name="Rectangle 4" descr="Rectangle: Click to edit Master text styles&#10;Second level&#10;Third level&#10;Fourth level&#10;Fifth level"/>
          <p:cNvSpPr>
            <a:spLocks noGrp="1" noChangeArrowheads="1"/>
          </p:cNvSpPr>
          <p:nvPr>
            <p:ph type="body" idx="1"/>
          </p:nvPr>
        </p:nvSpPr>
        <p:spPr>
          <a:xfrm>
            <a:off x="1157595" y="1196246"/>
            <a:ext cx="6510749" cy="5805264"/>
          </a:xfrm>
          <a:noFill/>
        </p:spPr>
        <p:txBody>
          <a:bodyPr>
            <a:noAutofit/>
          </a:bodyPr>
          <a:lstStyle/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include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&lt;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fr-F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fr-FR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MoyenneTableau</a:t>
            </a:r>
            <a:r>
              <a:rPr lang="fr-FR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fr-FR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v[], </a:t>
            </a:r>
            <a:r>
              <a:rPr lang="fr-FR" sz="1800" b="1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8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Taille);    </a:t>
            </a:r>
            <a:endParaRPr lang="fr-FR" sz="18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main() </a:t>
            </a:r>
            <a:endParaRPr lang="fr-F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fr-F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Valeurs[4] = {2, 4, 3, 8};</a:t>
            </a:r>
            <a:endParaRPr lang="fr-F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ValeurMoyenne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fr-F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FR" sz="1800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ValeurMoyenne</a:t>
            </a:r>
            <a:r>
              <a:rPr lang="fr-FR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fr-FR" sz="1800" b="1" dirty="0" err="1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MoyenneTableau</a:t>
            </a:r>
            <a:r>
              <a:rPr lang="fr-FR" sz="1800" b="1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(Valeurs, 4)</a:t>
            </a:r>
            <a:r>
              <a:rPr lang="fr-FR" sz="18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fr-FR" sz="18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(“Moyenne: %f\n”, 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ValeurMoyenne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fr-F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fr-FR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1200"/>
              </a:spcBef>
              <a:buFont typeface="Wingdings" panose="05000000000000000000" pitchFamily="2" charset="2"/>
              <a:buNone/>
            </a:pPr>
            <a:r>
              <a:rPr lang="fr-FR" sz="1800" b="1">
                <a:latin typeface="Courier New" panose="02070309020205020404" pitchFamily="49" charset="0"/>
                <a:cs typeface="Courier New" panose="02070309020205020404" pitchFamily="49" charset="0"/>
              </a:rPr>
              <a:t>float </a:t>
            </a:r>
            <a:r>
              <a:rPr lang="fr-F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MoyenneTableau</a:t>
            </a:r>
            <a:r>
              <a:rPr lang="fr-F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(</a:t>
            </a:r>
            <a:r>
              <a:rPr lang="fr-F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V[], </a:t>
            </a:r>
            <a:r>
              <a:rPr lang="fr-FR" sz="1800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 Taille)</a:t>
            </a:r>
            <a:endParaRPr lang="fr-FR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fr-F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fr-FR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Font typeface="Wingdings" panose="05000000000000000000" pitchFamily="2" charset="2"/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i, Somme;</a:t>
            </a:r>
            <a:endParaRPr lang="fr-F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Somme = 0;</a:t>
            </a:r>
            <a:endParaRPr lang="fr-F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for (i = 0; i &lt; Taille; i++)</a:t>
            </a:r>
            <a:endParaRPr lang="fr-F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		Somme = Somme + V[i]; </a:t>
            </a:r>
            <a:endParaRPr lang="fr-F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600"/>
              </a:spcBef>
              <a:buFont typeface="Wingdings" panose="05000000000000000000" pitchFamily="2" charset="2"/>
              <a:buNone/>
            </a:pPr>
            <a:r>
              <a:rPr lang="fr-F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	return 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fr-FR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float</a:t>
            </a:r>
            <a:r>
              <a:rPr lang="fr-FR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)Somme / Taille;</a:t>
            </a:r>
            <a:endParaRPr lang="fr-FR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lnSpc>
                <a:spcPct val="100000"/>
              </a:lnSpc>
              <a:spcBef>
                <a:spcPts val="0"/>
              </a:spcBef>
              <a:buFont typeface="Wingdings" panose="05000000000000000000" pitchFamily="2" charset="2"/>
              <a:buNone/>
            </a:pPr>
            <a:r>
              <a:rPr lang="fr-FR" sz="1800" b="1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fr-FR" sz="1800" b="1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cxnSp>
        <p:nvCxnSpPr>
          <p:cNvPr id="7" name="Connecteur droit avec flèche 6"/>
          <p:cNvCxnSpPr/>
          <p:nvPr/>
        </p:nvCxnSpPr>
        <p:spPr bwMode="auto">
          <a:xfrm>
            <a:off x="6875780" y="1953895"/>
            <a:ext cx="665480" cy="180975"/>
          </a:xfrm>
          <a:prstGeom prst="straightConnector1">
            <a:avLst/>
          </a:prstGeom>
          <a:gradFill rotWithShape="0">
            <a:gsLst>
              <a:gs pos="0">
                <a:schemeClr val="bg2"/>
              </a:gs>
              <a:gs pos="50000">
                <a:schemeClr val="bg1"/>
              </a:gs>
              <a:gs pos="100000">
                <a:schemeClr val="bg2"/>
              </a:gs>
            </a:gsLst>
            <a:lin ang="5400000" scaled="1"/>
          </a:gradFill>
          <a:ln w="38100" cap="flat" cmpd="sng" algn="ctr">
            <a:solidFill>
              <a:schemeClr val="tx1"/>
            </a:solidFill>
            <a:prstDash val="solid"/>
            <a:round/>
            <a:headEnd type="arrow" w="med" len="med"/>
            <a:tailEnd type="none"/>
          </a:ln>
          <a:effectLst/>
        </p:spPr>
      </p:cxnSp>
      <p:sp>
        <p:nvSpPr>
          <p:cNvPr id="16390" name="ZoneTexte 7"/>
          <p:cNvSpPr txBox="1">
            <a:spLocks noChangeArrowheads="1"/>
          </p:cNvSpPr>
          <p:nvPr/>
        </p:nvSpPr>
        <p:spPr bwMode="auto">
          <a:xfrm>
            <a:off x="7488555" y="2134682"/>
            <a:ext cx="1314450" cy="32194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 eaLnBrk="0" hangingPunct="0"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hlink"/>
              </a:buClr>
              <a:buSzPct val="110000"/>
              <a:buFont typeface="Wingdings" panose="05000000000000000000" pitchFamily="2" charset="2"/>
              <a:buChar char="w"/>
              <a:defRPr sz="2000"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pPr eaLnBrk="1" hangingPunct="1">
              <a:buFont typeface="Wingdings" panose="05000000000000000000" pitchFamily="2" charset="2"/>
              <a:buNone/>
            </a:pPr>
            <a:r>
              <a:rPr lang="fr-FR" sz="1500" b="1" dirty="0">
                <a:solidFill>
                  <a:schemeClr val="tx1"/>
                </a:solidFill>
              </a:rPr>
              <a:t>Taille de v</a:t>
            </a:r>
            <a:endParaRPr lang="fr-FR" sz="1500" b="1" dirty="0">
              <a:solidFill>
                <a:schemeClr val="tx1"/>
              </a:solidFill>
            </a:endParaRPr>
          </a:p>
        </p:txBody>
      </p:sp>
      <p:sp>
        <p:nvSpPr>
          <p:cNvPr id="10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6457950" y="6356351"/>
            <a:ext cx="2057400" cy="365125"/>
          </a:xfrm>
        </p:spPr>
        <p:txBody>
          <a:bodyPr/>
          <a:lstStyle/>
          <a:p>
            <a:fld id="{194EA0E9-6AA5-4C72-ADD8-CBD3FCBC5038}" type="slidenum">
              <a:rPr lang="fr-FR" smtClean="0"/>
            </a:fld>
            <a:endParaRPr lang="fr-FR"/>
          </a:p>
        </p:txBody>
      </p:sp>
      <p:sp>
        <p:nvSpPr>
          <p:cNvPr id="2" name="Rectangle 1"/>
          <p:cNvSpPr/>
          <p:nvPr/>
        </p:nvSpPr>
        <p:spPr>
          <a:xfrm>
            <a:off x="1029558" y="712884"/>
            <a:ext cx="7773521" cy="5219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defRPr sz="2160" b="1" i="0" u="none" strike="noStrike" kern="1200" baseline="0">
                <a:solidFill>
                  <a:prstClr val="black"/>
                </a:solidFill>
                <a:latin typeface="+mn-lt"/>
                <a:ea typeface="+mn-ea"/>
                <a:cs typeface="+mn-cs"/>
              </a:defRPr>
            </a:pPr>
            <a:r>
              <a:rPr lang="fr-FR" sz="2800" b="1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Manipulation des tableaux par les fonctions</a:t>
            </a:r>
            <a:endParaRPr lang="fr-FR" sz="2800" b="1" dirty="0">
              <a:solidFill>
                <a:srgbClr val="C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784</Words>
  <Application>WPS Presentation</Application>
  <PresentationFormat>Affichage à l'écran (4:3)</PresentationFormat>
  <Paragraphs>39</Paragraphs>
  <Slides>3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3</vt:i4>
      </vt:variant>
    </vt:vector>
  </HeadingPairs>
  <TitlesOfParts>
    <vt:vector size="17" baseType="lpstr">
      <vt:lpstr>Arial</vt:lpstr>
      <vt:lpstr>SimSun</vt:lpstr>
      <vt:lpstr>Wingdings</vt:lpstr>
      <vt:lpstr>Arial</vt:lpstr>
      <vt:lpstr>Times New Roman</vt:lpstr>
      <vt:lpstr>Times New Roman</vt:lpstr>
      <vt:lpstr>Calibri</vt:lpstr>
      <vt:lpstr>Microsoft YaHei</vt:lpstr>
      <vt:lpstr>Arial Unicode MS</vt:lpstr>
      <vt:lpstr>Calibri Light</vt:lpstr>
      <vt:lpstr>Tahoma</vt:lpstr>
      <vt:lpstr>Courier New</vt:lpstr>
      <vt:lpstr>Thème Office</vt:lpstr>
      <vt:lpstr>Office Theme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esprit</dc:creator>
  <cp:lastModifiedBy>FATEN</cp:lastModifiedBy>
  <cp:revision>670</cp:revision>
  <dcterms:created xsi:type="dcterms:W3CDTF">2017-09-09T12:22:00Z</dcterms:created>
  <dcterms:modified xsi:type="dcterms:W3CDTF">2025-06-30T11:58:03Z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1036-12.2.0.21546</vt:lpwstr>
  </property>
  <property fmtid="{D5CDD505-2E9C-101B-9397-08002B2CF9AE}" pid="3" name="ICV">
    <vt:lpwstr>3EB4402AB05D42318DEDCEBD4A9B64F5</vt:lpwstr>
  </property>
</Properties>
</file>