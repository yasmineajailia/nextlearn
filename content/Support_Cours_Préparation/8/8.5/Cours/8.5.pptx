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303" r:id="rId4"/>
    <p:sldId id="368" r:id="rId6"/>
    <p:sldId id="312" r:id="rId7"/>
    <p:sldId id="370" r:id="rId8"/>
    <p:sldId id="436" r:id="rId9"/>
    <p:sldId id="435" r:id="rId10"/>
    <p:sldId id="439" r:id="rId11"/>
    <p:sldId id="440" r:id="rId12"/>
    <p:sldId id="442" r:id="rId13"/>
    <p:sldId id="313" r:id="rId14"/>
    <p:sldId id="372" r:id="rId15"/>
    <p:sldId id="373" r:id="rId16"/>
    <p:sldId id="371" r:id="rId17"/>
    <p:sldId id="446" r:id="rId18"/>
    <p:sldId id="326" r:id="rId19"/>
    <p:sldId id="374" r:id="rId20"/>
    <p:sldId id="301" r:id="rId21"/>
  </p:sldIdLst>
  <p:sldSz cx="9144000" cy="6858000" type="screen4x3"/>
  <p:notesSz cx="7102475" cy="10234295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283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1C9C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532" autoAdjust="0"/>
    <p:restoredTop sz="86380" autoAdjust="0"/>
  </p:normalViewPr>
  <p:slideViewPr>
    <p:cSldViewPr showGuides="1">
      <p:cViewPr varScale="1">
        <p:scale>
          <a:sx n="67" d="100"/>
          <a:sy n="67" d="100"/>
        </p:scale>
        <p:origin x="2002" y="67"/>
      </p:cViewPr>
      <p:guideLst>
        <p:guide orient="horz" pos="2159"/>
        <p:guide pos="2836"/>
      </p:guideLst>
    </p:cSldViewPr>
  </p:slideViewPr>
  <p:outlineViewPr>
    <p:cViewPr>
      <p:scale>
        <a:sx n="33" d="100"/>
        <a:sy n="33" d="100"/>
      </p:scale>
      <p:origin x="246" y="36318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2" d="100"/>
          <a:sy n="52" d="100"/>
        </p:scale>
        <p:origin x="-2832" y="-108"/>
      </p:cViewPr>
      <p:guideLst>
        <p:guide orient="horz" pos="3222"/>
        <p:guide pos="2203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/>
          <a:lstStyle>
            <a:lvl1pPr algn="l">
              <a:defRPr sz="13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/>
          <a:lstStyle>
            <a:lvl1pPr algn="r">
              <a:defRPr sz="1300"/>
            </a:lvl1pPr>
          </a:lstStyle>
          <a:p>
            <a:fld id="{06CCD8A3-D0C3-4B8F-81C5-B7B3A13A24B7}" type="datetimeFigureOut">
              <a:rPr lang="fr-FR" smtClean="0"/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993775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66" tIns="49533" rIns="99066" bIns="49533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710248" y="4861441"/>
            <a:ext cx="5681980" cy="4605576"/>
          </a:xfrm>
          <a:prstGeom prst="rect">
            <a:avLst/>
          </a:prstGeom>
        </p:spPr>
        <p:txBody>
          <a:bodyPr vert="horz" lIns="99066" tIns="49533" rIns="99066" bIns="49533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 anchor="b"/>
          <a:lstStyle>
            <a:lvl1pPr algn="l">
              <a:defRPr sz="13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023092" y="9721106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 anchor="b"/>
          <a:lstStyle>
            <a:lvl1pPr algn="r">
              <a:defRPr sz="1300"/>
            </a:lvl1pPr>
          </a:lstStyle>
          <a:p>
            <a:fld id="{ACFBFDCE-FF8E-4804-9ED7-98E068DE68B1}" type="slidenum">
              <a:rPr lang="fr-FR" smtClean="0"/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993775" y="768350"/>
            <a:ext cx="5114925" cy="3836988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defTabSz="990600">
              <a:defRPr/>
            </a:pPr>
            <a:endParaRPr lang="fr-FR" baseline="0" dirty="0">
              <a:cs typeface="Arial" panose="020B0604020202020204" pitchFamily="34" charset="0"/>
            </a:endParaRPr>
          </a:p>
          <a:p>
            <a:pPr defTabSz="990600">
              <a:defRPr/>
            </a:pPr>
            <a:endParaRPr lang="fr-FR" baseline="0" dirty="0">
              <a:cs typeface="Arial" panose="020B0604020202020204" pitchFamily="34" charset="0"/>
            </a:endParaRPr>
          </a:p>
          <a:p>
            <a:pPr defTabSz="990600">
              <a:defRPr/>
            </a:pPr>
            <a:endParaRPr lang="fr-FR" dirty="0">
              <a:cs typeface="Arial" panose="020B0604020202020204" pitchFamily="34" charset="0"/>
            </a:endParaRP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72BC6-E43E-4D33-92EC-8931FBF71671}" type="slidenum">
              <a:rPr lang="fr-FR" smtClean="0"/>
            </a:fld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FBFDCE-FF8E-4804-9ED7-98E068DE68B1}" type="slidenum">
              <a:rPr lang="fr-FR" smtClean="0"/>
            </a:fld>
            <a:endParaRPr 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FBFDCE-FF8E-4804-9ED7-98E068DE68B1}" type="slidenum">
              <a:rPr lang="fr-FR" smtClean="0"/>
            </a:fld>
            <a:endParaRPr lang="fr-F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 hasCustomPrompt="1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 hasCustomPrompt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 hasCustomPrompt="1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 hasCustomPrompt="1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0F4CA-DDF0-4922-A076-B3FFF707F360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B8A2A-CEE3-4AC8-88AC-18907018F13D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90ABD-5EDF-4330-87A1-F5E091149F39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156DF-D467-4D7C-956A-CDFE02484858}" type="datetime1">
              <a:rPr lang="fr-FR" smtClean="0"/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C8B8A-BCB1-4BD7-857A-6FFFDA648566}" type="datetime1">
              <a:rPr lang="fr-FR" smtClean="0"/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BE788-06AD-4519-807E-844AC9CFD440}" type="datetime1">
              <a:rPr lang="fr-FR" smtClean="0"/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9E3DF-E6EC-43E0-A217-4BBDF4075969}" type="datetime1">
              <a:rPr lang="fr-FR" smtClean="0"/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0F12B-9D92-47AE-A88E-E4E9342549DE}" type="datetime1">
              <a:rPr lang="fr-FR" smtClean="0"/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CCF42-56A6-4127-923C-0462989227D6}" type="datetime1">
              <a:rPr lang="fr-FR" smtClean="0"/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9D686-199F-4CD9-B9B3-3B14DEC38394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24EA7-33E1-452B-A5BE-4BB07EA6C97D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CC6E91-AD3D-4A26-91B5-BD697B5F7642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6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 descr="D:\esprit 2014\ESPRIT 2014\charte essprit 2014\logo-esprit.pn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211" y="6111080"/>
            <a:ext cx="1337716" cy="505680"/>
          </a:xfrm>
          <a:prstGeom prst="rect">
            <a:avLst/>
          </a:prstGeom>
          <a:noFill/>
        </p:spPr>
      </p:pic>
      <p:sp>
        <p:nvSpPr>
          <p:cNvPr id="5" name="Espace réservé du numéro de diapositive 7"/>
          <p:cNvSpPr>
            <a:spLocks noGrp="1"/>
          </p:cNvSpPr>
          <p:nvPr>
            <p:ph type="sldNum" sz="quarter" idx="12"/>
          </p:nvPr>
        </p:nvSpPr>
        <p:spPr>
          <a:xfrm>
            <a:off x="7086600" y="6492876"/>
            <a:ext cx="2057400" cy="365125"/>
          </a:xfrm>
        </p:spPr>
        <p:txBody>
          <a:bodyPr/>
          <a:lstStyle/>
          <a:p>
            <a:fld id="{CF4668DC-857F-487D-BFFA-8C0CA5037977}" type="slidenum">
              <a:rPr lang="fr-BE" sz="2400" b="1" smtClean="0">
                <a:solidFill>
                  <a:schemeClr val="tx1"/>
                </a:solidFill>
              </a:rPr>
            </a:fld>
            <a:endParaRPr lang="fr-BE" sz="2400" b="1" dirty="0">
              <a:solidFill>
                <a:schemeClr val="tx1"/>
              </a:solidFill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428596" y="2636912"/>
            <a:ext cx="8286808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algn="ctr"/>
            <a:r>
              <a:rPr lang="fr-FR" sz="4800" b="1">
                <a:latin typeface="Times New Roman" panose="02020603050405020304" pitchFamily="18" charset="0"/>
                <a:cs typeface="Times New Roman" panose="02020603050405020304" pitchFamily="18" charset="0"/>
              </a:rPr>
              <a:t>Modes de passage </a:t>
            </a:r>
            <a:endParaRPr lang="fr-FR" sz="4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ctr"/>
            <a:r>
              <a:rPr lang="fr-FR" sz="4800" b="1">
                <a:latin typeface="Times New Roman" panose="02020603050405020304" pitchFamily="18" charset="0"/>
                <a:cs typeface="Times New Roman" panose="02020603050405020304" pitchFamily="18" charset="0"/>
              </a:rPr>
              <a:t>des paramètres</a:t>
            </a:r>
            <a:endParaRPr lang="fr-FR" sz="4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23528" y="1825625"/>
            <a:ext cx="8191822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 existe deux modes de passage des paramètres: </a:t>
            </a:r>
            <a:endParaRPr lang="fr-F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fr-F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mode par copie de valeur</a:t>
            </a:r>
            <a:endParaRPr lang="fr-F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mode par copie d’adresse. </a:t>
            </a:r>
            <a:endParaRPr lang="fr-F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1072103" y="669704"/>
            <a:ext cx="7773521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Modes de passage des paramètres</a:t>
            </a:r>
            <a:endParaRPr lang="fr-FR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  <p:sp>
        <p:nvSpPr>
          <p:cNvPr id="6" name="Espace réservé du contenu 2"/>
          <p:cNvSpPr txBox="1"/>
          <p:nvPr/>
        </p:nvSpPr>
        <p:spPr>
          <a:xfrm>
            <a:off x="457200" y="1000108"/>
            <a:ext cx="8435280" cy="52372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914400" marR="0" lvl="1" indent="-4572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anose="05000000000000000000" pitchFamily="2" charset="2"/>
              <a:buChar char="q"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7504" y="187001"/>
            <a:ext cx="8592436" cy="66471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endParaRPr lang="fr-FR" sz="2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r-F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 moment de l'appel, la valeur du </a:t>
            </a:r>
            <a:r>
              <a:rPr lang="fr-FR" sz="22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paramètre effectif 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 </a:t>
            </a:r>
            <a:r>
              <a:rPr lang="fr-FR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copiée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dans la variable locale désignée par les </a:t>
            </a:r>
            <a:r>
              <a:rPr lang="fr-FR" sz="22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paramètres formels</a:t>
            </a:r>
            <a:r>
              <a:rPr lang="fr-FR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correspondants.</a:t>
            </a:r>
            <a:endParaRPr lang="fr-F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fonction travaille sur </a:t>
            </a:r>
            <a:r>
              <a:rPr lang="fr-FR" sz="22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 copies</a:t>
            </a:r>
            <a:r>
              <a:rPr lang="fr-FR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 paramètres </a:t>
            </a:r>
            <a:r>
              <a:rPr lang="fr-FR" sz="22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 ne peut pas</a:t>
            </a:r>
            <a:r>
              <a:rPr lang="fr-FR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modifier.</a:t>
            </a:r>
            <a:endParaRPr lang="fr-F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fr-F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fr-F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fr-FR" sz="2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Principe :</a:t>
            </a:r>
            <a:endParaRPr lang="fr-FR" sz="22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fonction appelante fait une copie de la valeur passée en paramètre,</a:t>
            </a:r>
            <a:endParaRPr lang="fr-F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passe cette copie à la fonction appelée à l’intérieur d'une variable crée dans l'espace mémoire.</a:t>
            </a:r>
            <a:endParaRPr lang="fr-F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Cette variable est accessible de manière interne par la fonction à partir de l'argument formel correspondant.</a:t>
            </a:r>
            <a:endParaRPr lang="fr-FR" sz="2000" dirty="0"/>
          </a:p>
        </p:txBody>
      </p:sp>
      <p:sp>
        <p:nvSpPr>
          <p:cNvPr id="9" name="Rectangle 8"/>
          <p:cNvSpPr/>
          <p:nvPr/>
        </p:nvSpPr>
        <p:spPr>
          <a:xfrm>
            <a:off x="926053" y="613189"/>
            <a:ext cx="7773521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Passage par copie de valeur</a:t>
            </a:r>
            <a:endParaRPr lang="fr-FR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3486150" y="5543550"/>
            <a:ext cx="2171700" cy="3429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5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557530" indent="-214630" eaLnBrk="0" hangingPunct="0">
              <a:defRPr sz="15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857250" indent="-171450" eaLnBrk="0" hangingPunct="0">
              <a:defRPr sz="15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200150" indent="-171450" eaLnBrk="0" hangingPunct="0">
              <a:defRPr sz="15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1543050" indent="-171450" eaLnBrk="0" hangingPunct="0">
              <a:defRPr sz="15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15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15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15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15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fld id="{28E04A92-E919-4B64-8755-830C6DFFB7A6}" type="slidenum">
              <a:rPr lang="fr-FR" sz="1050"/>
            </a:fld>
            <a:endParaRPr lang="fr-FR" sz="1050"/>
          </a:p>
        </p:txBody>
      </p:sp>
      <p:sp>
        <p:nvSpPr>
          <p:cNvPr id="151556" name="Rectangle 4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724535" y="1828800"/>
            <a:ext cx="7987665" cy="476885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None/>
              <a:defRPr/>
            </a:pPr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Copie des valeurs des paramètres effectifs dans les paramètres formels.</a:t>
            </a:r>
            <a:endParaRPr lang="fr-F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461" name="Text Box 5"/>
          <p:cNvSpPr txBox="1">
            <a:spLocks noChangeArrowheads="1"/>
          </p:cNvSpPr>
          <p:nvPr/>
        </p:nvSpPr>
        <p:spPr bwMode="auto">
          <a:xfrm>
            <a:off x="1584723" y="2728913"/>
            <a:ext cx="1615678" cy="230832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fr-FR" sz="1800" dirty="0" err="1">
                <a:latin typeface="Times New Roman" panose="02020603050405020304" pitchFamily="18" charset="0"/>
              </a:rPr>
              <a:t>void</a:t>
            </a:r>
            <a:r>
              <a:rPr lang="fr-FR" sz="1800" dirty="0">
                <a:latin typeface="Times New Roman" panose="02020603050405020304" pitchFamily="18" charset="0"/>
              </a:rPr>
              <a:t> main ()</a:t>
            </a:r>
            <a:endParaRPr lang="fr-FR" sz="1800" dirty="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fr-FR" sz="1800" dirty="0">
                <a:latin typeface="Times New Roman" panose="02020603050405020304" pitchFamily="18" charset="0"/>
              </a:rPr>
              <a:t>{</a:t>
            </a:r>
            <a:endParaRPr lang="fr-FR" sz="1800" dirty="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fr-FR" sz="1800" dirty="0">
                <a:latin typeface="Times New Roman" panose="02020603050405020304" pitchFamily="18" charset="0"/>
              </a:rPr>
              <a:t>   </a:t>
            </a:r>
            <a:r>
              <a:rPr lang="fr-FR" sz="1800" dirty="0" err="1">
                <a:latin typeface="Times New Roman" panose="02020603050405020304" pitchFamily="18" charset="0"/>
              </a:rPr>
              <a:t>int</a:t>
            </a:r>
            <a:r>
              <a:rPr lang="fr-FR" sz="1800" dirty="0">
                <a:latin typeface="Times New Roman" panose="02020603050405020304" pitchFamily="18" charset="0"/>
              </a:rPr>
              <a:t> A;</a:t>
            </a:r>
            <a:endParaRPr lang="fr-FR" sz="1800" dirty="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fr-FR" sz="1800" dirty="0">
                <a:latin typeface="Times New Roman" panose="02020603050405020304" pitchFamily="18" charset="0"/>
              </a:rPr>
              <a:t>   </a:t>
            </a:r>
            <a:r>
              <a:rPr lang="fr-FR" sz="1800" dirty="0" err="1">
                <a:latin typeface="Times New Roman" panose="02020603050405020304" pitchFamily="18" charset="0"/>
              </a:rPr>
              <a:t>int</a:t>
            </a:r>
            <a:r>
              <a:rPr lang="fr-FR" sz="1800" dirty="0">
                <a:latin typeface="Times New Roman" panose="02020603050405020304" pitchFamily="18" charset="0"/>
              </a:rPr>
              <a:t> B;</a:t>
            </a:r>
            <a:endParaRPr lang="fr-FR" sz="1800" dirty="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fr-FR" sz="1800" dirty="0">
                <a:latin typeface="Times New Roman" panose="02020603050405020304" pitchFamily="18" charset="0"/>
              </a:rPr>
              <a:t>   A = 5;</a:t>
            </a:r>
            <a:endParaRPr lang="fr-FR" sz="1800" dirty="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fr-FR" sz="1800" dirty="0">
                <a:latin typeface="Times New Roman" panose="02020603050405020304" pitchFamily="18" charset="0"/>
              </a:rPr>
              <a:t>   F1 (A);</a:t>
            </a:r>
            <a:endParaRPr lang="fr-FR" sz="1800" dirty="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fr-FR" sz="1800" dirty="0">
                <a:latin typeface="Times New Roman" panose="02020603050405020304" pitchFamily="18" charset="0"/>
              </a:rPr>
              <a:t>   B = A;</a:t>
            </a:r>
            <a:endParaRPr lang="fr-FR" sz="1800" dirty="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fr-FR" sz="1800" dirty="0">
                <a:latin typeface="Times New Roman" panose="02020603050405020304" pitchFamily="18" charset="0"/>
              </a:rPr>
              <a:t>}</a:t>
            </a:r>
            <a:endParaRPr lang="en-GB" sz="1800" dirty="0">
              <a:latin typeface="Times New Roman" panose="02020603050405020304" pitchFamily="18" charset="0"/>
            </a:endParaRPr>
          </a:p>
        </p:txBody>
      </p:sp>
      <p:sp>
        <p:nvSpPr>
          <p:cNvPr id="19462" name="Text Box 6"/>
          <p:cNvSpPr txBox="1">
            <a:spLocks noChangeArrowheads="1"/>
          </p:cNvSpPr>
          <p:nvPr/>
        </p:nvSpPr>
        <p:spPr bwMode="auto">
          <a:xfrm>
            <a:off x="5886450" y="2728913"/>
            <a:ext cx="1615679" cy="230832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fr-FR" sz="1800">
                <a:latin typeface="Times New Roman" panose="02020603050405020304" pitchFamily="18" charset="0"/>
              </a:rPr>
              <a:t>void F1 (int X)</a:t>
            </a:r>
            <a:endParaRPr lang="fr-FR" sz="180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fr-FR" sz="1800">
                <a:latin typeface="Times New Roman" panose="02020603050405020304" pitchFamily="18" charset="0"/>
              </a:rPr>
              <a:t>{</a:t>
            </a:r>
            <a:endParaRPr lang="fr-FR" sz="180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fr-FR" sz="1800">
                <a:latin typeface="Times New Roman" panose="02020603050405020304" pitchFamily="18" charset="0"/>
              </a:rPr>
              <a:t>   int Y;</a:t>
            </a:r>
            <a:endParaRPr lang="fr-FR" sz="180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fr-FR" sz="180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fr-FR" sz="1800">
                <a:latin typeface="Times New Roman" panose="02020603050405020304" pitchFamily="18" charset="0"/>
              </a:rPr>
              <a:t>   Y = X;</a:t>
            </a:r>
            <a:endParaRPr lang="fr-FR" sz="180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fr-FR" sz="1800">
                <a:latin typeface="Times New Roman" panose="02020603050405020304" pitchFamily="18" charset="0"/>
              </a:rPr>
              <a:t>   </a:t>
            </a:r>
            <a:endParaRPr lang="fr-FR" sz="180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fr-FR" sz="1800">
                <a:latin typeface="Times New Roman" panose="02020603050405020304" pitchFamily="18" charset="0"/>
              </a:rPr>
              <a:t>   X = 6;</a:t>
            </a:r>
            <a:endParaRPr lang="fr-FR" sz="180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fr-FR" sz="1800">
                <a:latin typeface="Times New Roman" panose="02020603050405020304" pitchFamily="18" charset="0"/>
              </a:rPr>
              <a:t>}</a:t>
            </a:r>
            <a:endParaRPr lang="en-GB" sz="1800">
              <a:latin typeface="Times New Roman" panose="02020603050405020304" pitchFamily="18" charset="0"/>
            </a:endParaRPr>
          </a:p>
        </p:txBody>
      </p:sp>
      <p:sp>
        <p:nvSpPr>
          <p:cNvPr id="19463" name="Text Box 7"/>
          <p:cNvSpPr txBox="1">
            <a:spLocks noChangeArrowheads="1"/>
          </p:cNvSpPr>
          <p:nvPr/>
        </p:nvSpPr>
        <p:spPr bwMode="auto">
          <a:xfrm>
            <a:off x="3245645" y="2702719"/>
            <a:ext cx="29765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fr-FR" sz="1800">
                <a:latin typeface="Times New Roman" panose="02020603050405020304" pitchFamily="18" charset="0"/>
              </a:rPr>
              <a:t>A</a:t>
            </a:r>
            <a:endParaRPr lang="en-GB" sz="1800">
              <a:latin typeface="Times New Roman" panose="02020603050405020304" pitchFamily="18" charset="0"/>
            </a:endParaRPr>
          </a:p>
        </p:txBody>
      </p:sp>
      <p:sp>
        <p:nvSpPr>
          <p:cNvPr id="19464" name="Rectangle 8"/>
          <p:cNvSpPr>
            <a:spLocks noChangeArrowheads="1"/>
          </p:cNvSpPr>
          <p:nvPr/>
        </p:nvSpPr>
        <p:spPr bwMode="auto">
          <a:xfrm>
            <a:off x="3543300" y="2728913"/>
            <a:ext cx="228600" cy="3429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fr-FR" sz="1500"/>
          </a:p>
        </p:txBody>
      </p:sp>
      <p:sp>
        <p:nvSpPr>
          <p:cNvPr id="19465" name="Text Box 9"/>
          <p:cNvSpPr txBox="1">
            <a:spLocks noChangeArrowheads="1"/>
          </p:cNvSpPr>
          <p:nvPr/>
        </p:nvSpPr>
        <p:spPr bwMode="auto">
          <a:xfrm>
            <a:off x="3257551" y="3071813"/>
            <a:ext cx="29765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fr-FR" sz="1800">
                <a:latin typeface="Times New Roman" panose="02020603050405020304" pitchFamily="18" charset="0"/>
              </a:rPr>
              <a:t>B</a:t>
            </a:r>
            <a:endParaRPr lang="en-GB" sz="1800">
              <a:latin typeface="Times New Roman" panose="02020603050405020304" pitchFamily="18" charset="0"/>
            </a:endParaRPr>
          </a:p>
        </p:txBody>
      </p:sp>
      <p:sp>
        <p:nvSpPr>
          <p:cNvPr id="19466" name="Rectangle 10"/>
          <p:cNvSpPr>
            <a:spLocks noChangeArrowheads="1"/>
          </p:cNvSpPr>
          <p:nvPr/>
        </p:nvSpPr>
        <p:spPr bwMode="auto">
          <a:xfrm>
            <a:off x="3543300" y="3098006"/>
            <a:ext cx="228600" cy="3429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fr-FR" sz="1500"/>
          </a:p>
        </p:txBody>
      </p:sp>
      <p:sp>
        <p:nvSpPr>
          <p:cNvPr id="19467" name="Text Box 11"/>
          <p:cNvSpPr txBox="1">
            <a:spLocks noChangeArrowheads="1"/>
          </p:cNvSpPr>
          <p:nvPr/>
        </p:nvSpPr>
        <p:spPr bwMode="auto">
          <a:xfrm>
            <a:off x="5543551" y="3071813"/>
            <a:ext cx="29765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fr-FR" sz="1800">
                <a:latin typeface="Times New Roman" panose="02020603050405020304" pitchFamily="18" charset="0"/>
              </a:rPr>
              <a:t>X</a:t>
            </a:r>
            <a:endParaRPr lang="en-GB" sz="1800">
              <a:latin typeface="Times New Roman" panose="02020603050405020304" pitchFamily="18" charset="0"/>
            </a:endParaRPr>
          </a:p>
        </p:txBody>
      </p:sp>
      <p:sp>
        <p:nvSpPr>
          <p:cNvPr id="19468" name="Rectangle 12"/>
          <p:cNvSpPr>
            <a:spLocks noChangeArrowheads="1"/>
          </p:cNvSpPr>
          <p:nvPr/>
        </p:nvSpPr>
        <p:spPr bwMode="auto">
          <a:xfrm>
            <a:off x="5314950" y="3071813"/>
            <a:ext cx="228600" cy="3429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fr-FR" sz="1500"/>
          </a:p>
        </p:txBody>
      </p:sp>
      <p:sp>
        <p:nvSpPr>
          <p:cNvPr id="19469" name="Text Box 13"/>
          <p:cNvSpPr txBox="1">
            <a:spLocks noChangeArrowheads="1"/>
          </p:cNvSpPr>
          <p:nvPr/>
        </p:nvSpPr>
        <p:spPr bwMode="auto">
          <a:xfrm>
            <a:off x="5543551" y="3471863"/>
            <a:ext cx="29765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fr-FR" sz="1800">
                <a:latin typeface="Times New Roman" panose="02020603050405020304" pitchFamily="18" charset="0"/>
              </a:rPr>
              <a:t>Y</a:t>
            </a:r>
            <a:endParaRPr lang="en-GB" sz="1800">
              <a:latin typeface="Times New Roman" panose="02020603050405020304" pitchFamily="18" charset="0"/>
            </a:endParaRPr>
          </a:p>
        </p:txBody>
      </p:sp>
      <p:sp>
        <p:nvSpPr>
          <p:cNvPr id="19470" name="Rectangle 14"/>
          <p:cNvSpPr>
            <a:spLocks noChangeArrowheads="1"/>
          </p:cNvSpPr>
          <p:nvPr/>
        </p:nvSpPr>
        <p:spPr bwMode="auto">
          <a:xfrm>
            <a:off x="5314950" y="3471863"/>
            <a:ext cx="228600" cy="3429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fr-FR" sz="1500"/>
          </a:p>
        </p:txBody>
      </p:sp>
      <p:sp>
        <p:nvSpPr>
          <p:cNvPr id="19" name="Forme libre 18"/>
          <p:cNvSpPr/>
          <p:nvPr/>
        </p:nvSpPr>
        <p:spPr bwMode="auto">
          <a:xfrm>
            <a:off x="2339752" y="2950370"/>
            <a:ext cx="923753" cy="1270718"/>
          </a:xfrm>
          <a:custGeom>
            <a:avLst/>
            <a:gdLst>
              <a:gd name="connsiteX0" fmla="*/ 0 w 1191126"/>
              <a:gd name="connsiteY0" fmla="*/ 1985211 h 1985211"/>
              <a:gd name="connsiteX1" fmla="*/ 577516 w 1191126"/>
              <a:gd name="connsiteY1" fmla="*/ 601579 h 1985211"/>
              <a:gd name="connsiteX2" fmla="*/ 1191126 w 1191126"/>
              <a:gd name="connsiteY2" fmla="*/ 0 h 1985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91126" h="1985211">
                <a:moveTo>
                  <a:pt x="0" y="1985211"/>
                </a:moveTo>
                <a:cubicBezTo>
                  <a:pt x="189497" y="1458829"/>
                  <a:pt x="378995" y="932447"/>
                  <a:pt x="577516" y="601579"/>
                </a:cubicBezTo>
                <a:cubicBezTo>
                  <a:pt x="776037" y="270711"/>
                  <a:pt x="983581" y="135355"/>
                  <a:pt x="1191126" y="0"/>
                </a:cubicBezTo>
              </a:path>
            </a:pathLst>
          </a:custGeom>
          <a:gradFill rotWithShape="0">
            <a:gsLst>
              <a:gs pos="0">
                <a:schemeClr val="bg2"/>
              </a:gs>
              <a:gs pos="50000">
                <a:schemeClr val="bg1"/>
              </a:gs>
              <a:gs pos="100000">
                <a:schemeClr val="bg2"/>
              </a:gs>
            </a:gsLst>
            <a:lin ang="5400000" scaled="1"/>
          </a:gradFill>
          <a:ln w="9525" cap="flat" cmpd="sng" algn="ctr">
            <a:solidFill>
              <a:schemeClr val="tx1"/>
            </a:solidFill>
            <a:prstDash val="lgDash"/>
            <a:round/>
            <a:headEnd type="none" w="med" len="med"/>
            <a:tailEnd type="triangle" w="med" len="med"/>
          </a:ln>
          <a:effectLst/>
        </p:spPr>
        <p:txBody>
          <a:bodyPr lIns="67500" tIns="35100" rIns="67500" bIns="35100"/>
          <a:lstStyle/>
          <a:p>
            <a:pPr marL="257175" indent="-257175">
              <a:buBlip>
                <a:blip r:embed="rId1"/>
              </a:buBlip>
              <a:defRPr/>
            </a:pPr>
            <a:endParaRPr lang="fr-FR" sz="1350"/>
          </a:p>
        </p:txBody>
      </p:sp>
      <p:sp>
        <p:nvSpPr>
          <p:cNvPr id="9" name="Rectangle 8"/>
          <p:cNvSpPr/>
          <p:nvPr/>
        </p:nvSpPr>
        <p:spPr>
          <a:xfrm>
            <a:off x="926053" y="613189"/>
            <a:ext cx="7773521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Passage par copie de valeur</a:t>
            </a:r>
            <a:endParaRPr lang="fr-FR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3486150" y="5543550"/>
            <a:ext cx="2171700" cy="3429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5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557530" indent="-214630" eaLnBrk="0" hangingPunct="0">
              <a:defRPr sz="15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857250" indent="-171450" eaLnBrk="0" hangingPunct="0">
              <a:defRPr sz="15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200150" indent="-171450" eaLnBrk="0" hangingPunct="0">
              <a:defRPr sz="15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1543050" indent="-171450" eaLnBrk="0" hangingPunct="0">
              <a:defRPr sz="15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15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15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15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15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fld id="{28E04A92-E919-4B64-8755-830C6DFFB7A6}" type="slidenum">
              <a:rPr lang="fr-FR" sz="1050"/>
            </a:fld>
            <a:endParaRPr lang="fr-FR" sz="1050"/>
          </a:p>
        </p:txBody>
      </p:sp>
      <p:sp>
        <p:nvSpPr>
          <p:cNvPr id="151556" name="Rectangle 4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724535" y="1828800"/>
            <a:ext cx="7987665" cy="476885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None/>
              <a:defRPr/>
            </a:pPr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Copie des valeurs des paramètres effectifs dans les paramètres formels.</a:t>
            </a:r>
            <a:endParaRPr lang="fr-F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461" name="Text Box 5"/>
          <p:cNvSpPr txBox="1">
            <a:spLocks noChangeArrowheads="1"/>
          </p:cNvSpPr>
          <p:nvPr/>
        </p:nvSpPr>
        <p:spPr bwMode="auto">
          <a:xfrm>
            <a:off x="1584723" y="2728913"/>
            <a:ext cx="1615678" cy="230832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fr-FR" sz="1800" dirty="0" err="1">
                <a:latin typeface="Times New Roman" panose="02020603050405020304" pitchFamily="18" charset="0"/>
              </a:rPr>
              <a:t>void</a:t>
            </a:r>
            <a:r>
              <a:rPr lang="fr-FR" sz="1800" dirty="0">
                <a:latin typeface="Times New Roman" panose="02020603050405020304" pitchFamily="18" charset="0"/>
              </a:rPr>
              <a:t> main ()</a:t>
            </a:r>
            <a:endParaRPr lang="fr-FR" sz="1800" dirty="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fr-FR" sz="1800" dirty="0">
                <a:latin typeface="Times New Roman" panose="02020603050405020304" pitchFamily="18" charset="0"/>
              </a:rPr>
              <a:t>{</a:t>
            </a:r>
            <a:endParaRPr lang="fr-FR" sz="1800" dirty="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fr-FR" sz="1800" dirty="0">
                <a:latin typeface="Times New Roman" panose="02020603050405020304" pitchFamily="18" charset="0"/>
              </a:rPr>
              <a:t>   </a:t>
            </a:r>
            <a:r>
              <a:rPr lang="fr-FR" sz="1800" dirty="0" err="1">
                <a:latin typeface="Times New Roman" panose="02020603050405020304" pitchFamily="18" charset="0"/>
              </a:rPr>
              <a:t>int</a:t>
            </a:r>
            <a:r>
              <a:rPr lang="fr-FR" sz="1800" dirty="0">
                <a:latin typeface="Times New Roman" panose="02020603050405020304" pitchFamily="18" charset="0"/>
              </a:rPr>
              <a:t> A;</a:t>
            </a:r>
            <a:endParaRPr lang="fr-FR" sz="1800" dirty="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fr-FR" sz="1800" dirty="0">
                <a:latin typeface="Times New Roman" panose="02020603050405020304" pitchFamily="18" charset="0"/>
              </a:rPr>
              <a:t>   </a:t>
            </a:r>
            <a:r>
              <a:rPr lang="fr-FR" sz="1800" dirty="0" err="1">
                <a:latin typeface="Times New Roman" panose="02020603050405020304" pitchFamily="18" charset="0"/>
              </a:rPr>
              <a:t>int</a:t>
            </a:r>
            <a:r>
              <a:rPr lang="fr-FR" sz="1800" dirty="0">
                <a:latin typeface="Times New Roman" panose="02020603050405020304" pitchFamily="18" charset="0"/>
              </a:rPr>
              <a:t> B;</a:t>
            </a:r>
            <a:endParaRPr lang="fr-FR" sz="1800" dirty="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fr-FR" sz="1800" dirty="0">
                <a:latin typeface="Times New Roman" panose="02020603050405020304" pitchFamily="18" charset="0"/>
              </a:rPr>
              <a:t>   A = 5;</a:t>
            </a:r>
            <a:endParaRPr lang="fr-FR" sz="1800" dirty="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fr-FR" sz="1800" dirty="0">
                <a:latin typeface="Times New Roman" panose="02020603050405020304" pitchFamily="18" charset="0"/>
              </a:rPr>
              <a:t>   F1 (A);</a:t>
            </a:r>
            <a:endParaRPr lang="fr-FR" sz="1800" dirty="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fr-FR" sz="1800" dirty="0">
                <a:latin typeface="Times New Roman" panose="02020603050405020304" pitchFamily="18" charset="0"/>
              </a:rPr>
              <a:t>   B = A;</a:t>
            </a:r>
            <a:endParaRPr lang="fr-FR" sz="1800" dirty="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fr-FR" sz="1800" dirty="0">
                <a:latin typeface="Times New Roman" panose="02020603050405020304" pitchFamily="18" charset="0"/>
              </a:rPr>
              <a:t>}</a:t>
            </a:r>
            <a:endParaRPr lang="en-GB" sz="1800" dirty="0">
              <a:latin typeface="Times New Roman" panose="02020603050405020304" pitchFamily="18" charset="0"/>
            </a:endParaRPr>
          </a:p>
        </p:txBody>
      </p:sp>
      <p:sp>
        <p:nvSpPr>
          <p:cNvPr id="19462" name="Text Box 6"/>
          <p:cNvSpPr txBox="1">
            <a:spLocks noChangeArrowheads="1"/>
          </p:cNvSpPr>
          <p:nvPr/>
        </p:nvSpPr>
        <p:spPr bwMode="auto">
          <a:xfrm>
            <a:off x="5886450" y="2728913"/>
            <a:ext cx="1615679" cy="230832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fr-FR" sz="1800">
                <a:latin typeface="Times New Roman" panose="02020603050405020304" pitchFamily="18" charset="0"/>
              </a:rPr>
              <a:t>void F1 (int X)</a:t>
            </a:r>
            <a:endParaRPr lang="fr-FR" sz="180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fr-FR" sz="1800">
                <a:latin typeface="Times New Roman" panose="02020603050405020304" pitchFamily="18" charset="0"/>
              </a:rPr>
              <a:t>{</a:t>
            </a:r>
            <a:endParaRPr lang="fr-FR" sz="180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fr-FR" sz="1800">
                <a:latin typeface="Times New Roman" panose="02020603050405020304" pitchFamily="18" charset="0"/>
              </a:rPr>
              <a:t>   int Y;</a:t>
            </a:r>
            <a:endParaRPr lang="fr-FR" sz="180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fr-FR" sz="180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fr-FR" sz="1800">
                <a:latin typeface="Times New Roman" panose="02020603050405020304" pitchFamily="18" charset="0"/>
              </a:rPr>
              <a:t>   Y = X;</a:t>
            </a:r>
            <a:endParaRPr lang="fr-FR" sz="180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fr-FR" sz="1800">
                <a:latin typeface="Times New Roman" panose="02020603050405020304" pitchFamily="18" charset="0"/>
              </a:rPr>
              <a:t>   </a:t>
            </a:r>
            <a:endParaRPr lang="fr-FR" sz="180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fr-FR" sz="1800">
                <a:latin typeface="Times New Roman" panose="02020603050405020304" pitchFamily="18" charset="0"/>
              </a:rPr>
              <a:t>   X = 6;</a:t>
            </a:r>
            <a:endParaRPr lang="fr-FR" sz="180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fr-FR" sz="1800">
                <a:latin typeface="Times New Roman" panose="02020603050405020304" pitchFamily="18" charset="0"/>
              </a:rPr>
              <a:t>}</a:t>
            </a:r>
            <a:endParaRPr lang="en-GB" sz="1800">
              <a:latin typeface="Times New Roman" panose="02020603050405020304" pitchFamily="18" charset="0"/>
            </a:endParaRPr>
          </a:p>
        </p:txBody>
      </p:sp>
      <p:sp>
        <p:nvSpPr>
          <p:cNvPr id="19463" name="Text Box 7"/>
          <p:cNvSpPr txBox="1">
            <a:spLocks noChangeArrowheads="1"/>
          </p:cNvSpPr>
          <p:nvPr/>
        </p:nvSpPr>
        <p:spPr bwMode="auto">
          <a:xfrm>
            <a:off x="3245645" y="2702719"/>
            <a:ext cx="29765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fr-FR" sz="1800">
                <a:latin typeface="Times New Roman" panose="02020603050405020304" pitchFamily="18" charset="0"/>
              </a:rPr>
              <a:t>A</a:t>
            </a:r>
            <a:endParaRPr lang="en-GB" sz="1800">
              <a:latin typeface="Times New Roman" panose="02020603050405020304" pitchFamily="18" charset="0"/>
            </a:endParaRPr>
          </a:p>
        </p:txBody>
      </p:sp>
      <p:sp>
        <p:nvSpPr>
          <p:cNvPr id="19464" name="Rectangle 8"/>
          <p:cNvSpPr>
            <a:spLocks noChangeArrowheads="1"/>
          </p:cNvSpPr>
          <p:nvPr/>
        </p:nvSpPr>
        <p:spPr bwMode="auto">
          <a:xfrm>
            <a:off x="3543300" y="2728913"/>
            <a:ext cx="228600" cy="3429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fr-FR" sz="1500"/>
          </a:p>
        </p:txBody>
      </p:sp>
      <p:sp>
        <p:nvSpPr>
          <p:cNvPr id="19465" name="Text Box 9"/>
          <p:cNvSpPr txBox="1">
            <a:spLocks noChangeArrowheads="1"/>
          </p:cNvSpPr>
          <p:nvPr/>
        </p:nvSpPr>
        <p:spPr bwMode="auto">
          <a:xfrm>
            <a:off x="3257551" y="3071813"/>
            <a:ext cx="29765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fr-FR" sz="1800">
                <a:latin typeface="Times New Roman" panose="02020603050405020304" pitchFamily="18" charset="0"/>
              </a:rPr>
              <a:t>B</a:t>
            </a:r>
            <a:endParaRPr lang="en-GB" sz="1800">
              <a:latin typeface="Times New Roman" panose="02020603050405020304" pitchFamily="18" charset="0"/>
            </a:endParaRPr>
          </a:p>
        </p:txBody>
      </p:sp>
      <p:sp>
        <p:nvSpPr>
          <p:cNvPr id="19466" name="Rectangle 10"/>
          <p:cNvSpPr>
            <a:spLocks noChangeArrowheads="1"/>
          </p:cNvSpPr>
          <p:nvPr/>
        </p:nvSpPr>
        <p:spPr bwMode="auto">
          <a:xfrm>
            <a:off x="3543300" y="3098006"/>
            <a:ext cx="228600" cy="3429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fr-FR" sz="1500"/>
          </a:p>
        </p:txBody>
      </p:sp>
      <p:sp>
        <p:nvSpPr>
          <p:cNvPr id="19467" name="Text Box 11"/>
          <p:cNvSpPr txBox="1">
            <a:spLocks noChangeArrowheads="1"/>
          </p:cNvSpPr>
          <p:nvPr/>
        </p:nvSpPr>
        <p:spPr bwMode="auto">
          <a:xfrm>
            <a:off x="5543551" y="3071813"/>
            <a:ext cx="29765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fr-FR" sz="1800">
                <a:latin typeface="Times New Roman" panose="02020603050405020304" pitchFamily="18" charset="0"/>
              </a:rPr>
              <a:t>X</a:t>
            </a:r>
            <a:endParaRPr lang="en-GB" sz="1800">
              <a:latin typeface="Times New Roman" panose="02020603050405020304" pitchFamily="18" charset="0"/>
            </a:endParaRPr>
          </a:p>
        </p:txBody>
      </p:sp>
      <p:sp>
        <p:nvSpPr>
          <p:cNvPr id="19468" name="Rectangle 12"/>
          <p:cNvSpPr>
            <a:spLocks noChangeArrowheads="1"/>
          </p:cNvSpPr>
          <p:nvPr/>
        </p:nvSpPr>
        <p:spPr bwMode="auto">
          <a:xfrm>
            <a:off x="5314950" y="3071813"/>
            <a:ext cx="228600" cy="3429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fr-FR" sz="1500"/>
          </a:p>
        </p:txBody>
      </p:sp>
      <p:sp>
        <p:nvSpPr>
          <p:cNvPr id="19469" name="Text Box 13"/>
          <p:cNvSpPr txBox="1">
            <a:spLocks noChangeArrowheads="1"/>
          </p:cNvSpPr>
          <p:nvPr/>
        </p:nvSpPr>
        <p:spPr bwMode="auto">
          <a:xfrm>
            <a:off x="5543551" y="3471863"/>
            <a:ext cx="29765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fr-FR" sz="1800">
                <a:latin typeface="Times New Roman" panose="02020603050405020304" pitchFamily="18" charset="0"/>
              </a:rPr>
              <a:t>Y</a:t>
            </a:r>
            <a:endParaRPr lang="en-GB" sz="1800">
              <a:latin typeface="Times New Roman" panose="02020603050405020304" pitchFamily="18" charset="0"/>
            </a:endParaRPr>
          </a:p>
        </p:txBody>
      </p:sp>
      <p:sp>
        <p:nvSpPr>
          <p:cNvPr id="19470" name="Rectangle 14"/>
          <p:cNvSpPr>
            <a:spLocks noChangeArrowheads="1"/>
          </p:cNvSpPr>
          <p:nvPr/>
        </p:nvSpPr>
        <p:spPr bwMode="auto">
          <a:xfrm>
            <a:off x="5314950" y="3471863"/>
            <a:ext cx="228600" cy="3429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fr-FR" sz="1500"/>
          </a:p>
        </p:txBody>
      </p:sp>
      <p:sp>
        <p:nvSpPr>
          <p:cNvPr id="19" name="Forme libre 18"/>
          <p:cNvSpPr/>
          <p:nvPr/>
        </p:nvSpPr>
        <p:spPr bwMode="auto">
          <a:xfrm>
            <a:off x="2339752" y="2950370"/>
            <a:ext cx="923753" cy="1270718"/>
          </a:xfrm>
          <a:custGeom>
            <a:avLst/>
            <a:gdLst>
              <a:gd name="connsiteX0" fmla="*/ 0 w 1191126"/>
              <a:gd name="connsiteY0" fmla="*/ 1985211 h 1985211"/>
              <a:gd name="connsiteX1" fmla="*/ 577516 w 1191126"/>
              <a:gd name="connsiteY1" fmla="*/ 601579 h 1985211"/>
              <a:gd name="connsiteX2" fmla="*/ 1191126 w 1191126"/>
              <a:gd name="connsiteY2" fmla="*/ 0 h 1985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91126" h="1985211">
                <a:moveTo>
                  <a:pt x="0" y="1985211"/>
                </a:moveTo>
                <a:cubicBezTo>
                  <a:pt x="189497" y="1458829"/>
                  <a:pt x="378995" y="932447"/>
                  <a:pt x="577516" y="601579"/>
                </a:cubicBezTo>
                <a:cubicBezTo>
                  <a:pt x="776037" y="270711"/>
                  <a:pt x="983581" y="135355"/>
                  <a:pt x="1191126" y="0"/>
                </a:cubicBezTo>
              </a:path>
            </a:pathLst>
          </a:custGeom>
          <a:gradFill rotWithShape="0">
            <a:gsLst>
              <a:gs pos="0">
                <a:schemeClr val="bg2"/>
              </a:gs>
              <a:gs pos="50000">
                <a:schemeClr val="bg1"/>
              </a:gs>
              <a:gs pos="100000">
                <a:schemeClr val="bg2"/>
              </a:gs>
            </a:gsLst>
            <a:lin ang="5400000" scaled="1"/>
          </a:gradFill>
          <a:ln w="9525" cap="flat" cmpd="sng" algn="ctr">
            <a:solidFill>
              <a:schemeClr val="tx1"/>
            </a:solidFill>
            <a:prstDash val="lgDash"/>
            <a:round/>
            <a:headEnd type="none" w="med" len="med"/>
            <a:tailEnd type="triangle" w="med" len="med"/>
          </a:ln>
          <a:effectLst/>
        </p:spPr>
        <p:txBody>
          <a:bodyPr lIns="67500" tIns="35100" rIns="67500" bIns="35100"/>
          <a:lstStyle/>
          <a:p>
            <a:pPr marL="257175" indent="-257175">
              <a:buBlip>
                <a:blip r:embed="rId1"/>
              </a:buBlip>
              <a:defRPr/>
            </a:pPr>
            <a:endParaRPr lang="fr-FR" sz="1350"/>
          </a:p>
        </p:txBody>
      </p:sp>
      <p:sp>
        <p:nvSpPr>
          <p:cNvPr id="9" name="Rectangle 8"/>
          <p:cNvSpPr/>
          <p:nvPr/>
        </p:nvSpPr>
        <p:spPr>
          <a:xfrm>
            <a:off x="926053" y="613189"/>
            <a:ext cx="7773521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Passage par copie de valeur</a:t>
            </a:r>
            <a:endParaRPr lang="fr-FR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Zone de texte 1"/>
          <p:cNvSpPr txBox="1"/>
          <p:nvPr/>
        </p:nvSpPr>
        <p:spPr>
          <a:xfrm>
            <a:off x="3486150" y="2729230"/>
            <a:ext cx="3663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b="1">
                <a:solidFill>
                  <a:schemeClr val="accent2"/>
                </a:solidFill>
              </a:rPr>
              <a:t>5</a:t>
            </a:r>
            <a:endParaRPr lang="fr-FR" altLang="en-US" b="1">
              <a:solidFill>
                <a:schemeClr val="accent2"/>
              </a:solidFill>
            </a:endParaRPr>
          </a:p>
        </p:txBody>
      </p:sp>
      <p:sp>
        <p:nvSpPr>
          <p:cNvPr id="3" name="Triangle isocèle 2"/>
          <p:cNvSpPr/>
          <p:nvPr/>
        </p:nvSpPr>
        <p:spPr>
          <a:xfrm rot="5400000">
            <a:off x="1346835" y="4182745"/>
            <a:ext cx="321310" cy="155575"/>
          </a:xfrm>
          <a:prstGeom prst="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3486150" y="5543550"/>
            <a:ext cx="2171700" cy="3429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5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557530" indent="-214630" eaLnBrk="0" hangingPunct="0">
              <a:defRPr sz="15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857250" indent="-171450" eaLnBrk="0" hangingPunct="0">
              <a:defRPr sz="15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200150" indent="-171450" eaLnBrk="0" hangingPunct="0">
              <a:defRPr sz="15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1543050" indent="-171450" eaLnBrk="0" hangingPunct="0">
              <a:defRPr sz="15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15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15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15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15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fld id="{28E04A92-E919-4B64-8755-830C6DFFB7A6}" type="slidenum">
              <a:rPr lang="fr-FR" sz="1050"/>
            </a:fld>
            <a:endParaRPr lang="fr-FR" sz="1050"/>
          </a:p>
        </p:txBody>
      </p:sp>
      <p:sp>
        <p:nvSpPr>
          <p:cNvPr id="151556" name="Rectangle 4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724535" y="1828800"/>
            <a:ext cx="7987665" cy="476885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None/>
              <a:defRPr/>
            </a:pPr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Copie des valeurs des paramètres effectifs dans les paramètres formels.</a:t>
            </a:r>
            <a:endParaRPr lang="fr-F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461" name="Text Box 5"/>
          <p:cNvSpPr txBox="1">
            <a:spLocks noChangeArrowheads="1"/>
          </p:cNvSpPr>
          <p:nvPr/>
        </p:nvSpPr>
        <p:spPr bwMode="auto">
          <a:xfrm>
            <a:off x="1584723" y="2728913"/>
            <a:ext cx="1615678" cy="230832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fr-FR" sz="1800" dirty="0" err="1">
                <a:latin typeface="Times New Roman" panose="02020603050405020304" pitchFamily="18" charset="0"/>
              </a:rPr>
              <a:t>void</a:t>
            </a:r>
            <a:r>
              <a:rPr lang="fr-FR" sz="1800" dirty="0">
                <a:latin typeface="Times New Roman" panose="02020603050405020304" pitchFamily="18" charset="0"/>
              </a:rPr>
              <a:t> main ()</a:t>
            </a:r>
            <a:endParaRPr lang="fr-FR" sz="1800" dirty="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fr-FR" sz="1800" dirty="0">
                <a:latin typeface="Times New Roman" panose="02020603050405020304" pitchFamily="18" charset="0"/>
              </a:rPr>
              <a:t>{</a:t>
            </a:r>
            <a:endParaRPr lang="fr-FR" sz="1800" dirty="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fr-FR" sz="1800" dirty="0">
                <a:latin typeface="Times New Roman" panose="02020603050405020304" pitchFamily="18" charset="0"/>
              </a:rPr>
              <a:t>   </a:t>
            </a:r>
            <a:r>
              <a:rPr lang="fr-FR" sz="1800" dirty="0" err="1">
                <a:latin typeface="Times New Roman" panose="02020603050405020304" pitchFamily="18" charset="0"/>
              </a:rPr>
              <a:t>int</a:t>
            </a:r>
            <a:r>
              <a:rPr lang="fr-FR" sz="1800" dirty="0">
                <a:latin typeface="Times New Roman" panose="02020603050405020304" pitchFamily="18" charset="0"/>
              </a:rPr>
              <a:t> A;</a:t>
            </a:r>
            <a:endParaRPr lang="fr-FR" sz="1800" dirty="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fr-FR" sz="1800" dirty="0">
                <a:latin typeface="Times New Roman" panose="02020603050405020304" pitchFamily="18" charset="0"/>
              </a:rPr>
              <a:t>   </a:t>
            </a:r>
            <a:r>
              <a:rPr lang="fr-FR" sz="1800" dirty="0" err="1">
                <a:latin typeface="Times New Roman" panose="02020603050405020304" pitchFamily="18" charset="0"/>
              </a:rPr>
              <a:t>int</a:t>
            </a:r>
            <a:r>
              <a:rPr lang="fr-FR" sz="1800" dirty="0">
                <a:latin typeface="Times New Roman" panose="02020603050405020304" pitchFamily="18" charset="0"/>
              </a:rPr>
              <a:t> B;</a:t>
            </a:r>
            <a:endParaRPr lang="fr-FR" sz="1800" dirty="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fr-FR" sz="1800" dirty="0">
                <a:latin typeface="Times New Roman" panose="02020603050405020304" pitchFamily="18" charset="0"/>
              </a:rPr>
              <a:t>   A = 5;</a:t>
            </a:r>
            <a:endParaRPr lang="fr-FR" sz="1800" dirty="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fr-FR" sz="1800" dirty="0">
                <a:latin typeface="Times New Roman" panose="02020603050405020304" pitchFamily="18" charset="0"/>
              </a:rPr>
              <a:t>   F1 (A);</a:t>
            </a:r>
            <a:endParaRPr lang="fr-FR" sz="1800" dirty="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fr-FR" sz="1800" dirty="0">
                <a:latin typeface="Times New Roman" panose="02020603050405020304" pitchFamily="18" charset="0"/>
              </a:rPr>
              <a:t>   B = A;</a:t>
            </a:r>
            <a:endParaRPr lang="fr-FR" sz="1800" dirty="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fr-FR" sz="1800" dirty="0">
                <a:latin typeface="Times New Roman" panose="02020603050405020304" pitchFamily="18" charset="0"/>
              </a:rPr>
              <a:t>}</a:t>
            </a:r>
            <a:endParaRPr lang="en-GB" sz="1800" dirty="0">
              <a:latin typeface="Times New Roman" panose="02020603050405020304" pitchFamily="18" charset="0"/>
            </a:endParaRPr>
          </a:p>
        </p:txBody>
      </p:sp>
      <p:sp>
        <p:nvSpPr>
          <p:cNvPr id="19462" name="Text Box 6"/>
          <p:cNvSpPr txBox="1">
            <a:spLocks noChangeArrowheads="1"/>
          </p:cNvSpPr>
          <p:nvPr/>
        </p:nvSpPr>
        <p:spPr bwMode="auto">
          <a:xfrm>
            <a:off x="5886450" y="2728913"/>
            <a:ext cx="1615679" cy="230832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fr-FR" sz="1800">
                <a:latin typeface="Times New Roman" panose="02020603050405020304" pitchFamily="18" charset="0"/>
              </a:rPr>
              <a:t>void F1 (int X)</a:t>
            </a:r>
            <a:endParaRPr lang="fr-FR" sz="180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fr-FR" sz="1800">
                <a:latin typeface="Times New Roman" panose="02020603050405020304" pitchFamily="18" charset="0"/>
              </a:rPr>
              <a:t>{</a:t>
            </a:r>
            <a:endParaRPr lang="fr-FR" sz="180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fr-FR" sz="1800">
                <a:latin typeface="Times New Roman" panose="02020603050405020304" pitchFamily="18" charset="0"/>
              </a:rPr>
              <a:t>   int Y;</a:t>
            </a:r>
            <a:endParaRPr lang="fr-FR" sz="180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fr-FR" sz="180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fr-FR" sz="1800">
                <a:latin typeface="Times New Roman" panose="02020603050405020304" pitchFamily="18" charset="0"/>
              </a:rPr>
              <a:t>   Y = X;</a:t>
            </a:r>
            <a:endParaRPr lang="fr-FR" sz="180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fr-FR" sz="1800">
                <a:latin typeface="Times New Roman" panose="02020603050405020304" pitchFamily="18" charset="0"/>
              </a:rPr>
              <a:t>   </a:t>
            </a:r>
            <a:endParaRPr lang="fr-FR" sz="180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fr-FR" sz="1800">
                <a:latin typeface="Times New Roman" panose="02020603050405020304" pitchFamily="18" charset="0"/>
              </a:rPr>
              <a:t>   X = 6;</a:t>
            </a:r>
            <a:endParaRPr lang="fr-FR" sz="180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fr-FR" sz="1800">
                <a:latin typeface="Times New Roman" panose="02020603050405020304" pitchFamily="18" charset="0"/>
              </a:rPr>
              <a:t>}</a:t>
            </a:r>
            <a:endParaRPr lang="en-GB" sz="1800">
              <a:latin typeface="Times New Roman" panose="02020603050405020304" pitchFamily="18" charset="0"/>
            </a:endParaRPr>
          </a:p>
        </p:txBody>
      </p:sp>
      <p:sp>
        <p:nvSpPr>
          <p:cNvPr id="19463" name="Text Box 7"/>
          <p:cNvSpPr txBox="1">
            <a:spLocks noChangeArrowheads="1"/>
          </p:cNvSpPr>
          <p:nvPr/>
        </p:nvSpPr>
        <p:spPr bwMode="auto">
          <a:xfrm>
            <a:off x="3245645" y="2702719"/>
            <a:ext cx="29765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fr-FR" sz="1800">
                <a:latin typeface="Times New Roman" panose="02020603050405020304" pitchFamily="18" charset="0"/>
              </a:rPr>
              <a:t>A</a:t>
            </a:r>
            <a:endParaRPr lang="en-GB" sz="1800">
              <a:latin typeface="Times New Roman" panose="02020603050405020304" pitchFamily="18" charset="0"/>
            </a:endParaRPr>
          </a:p>
        </p:txBody>
      </p:sp>
      <p:sp>
        <p:nvSpPr>
          <p:cNvPr id="19464" name="Rectangle 8"/>
          <p:cNvSpPr>
            <a:spLocks noChangeArrowheads="1"/>
          </p:cNvSpPr>
          <p:nvPr/>
        </p:nvSpPr>
        <p:spPr bwMode="auto">
          <a:xfrm>
            <a:off x="3543300" y="2728913"/>
            <a:ext cx="228600" cy="3429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fr-FR" sz="1500"/>
          </a:p>
        </p:txBody>
      </p:sp>
      <p:sp>
        <p:nvSpPr>
          <p:cNvPr id="19465" name="Text Box 9"/>
          <p:cNvSpPr txBox="1">
            <a:spLocks noChangeArrowheads="1"/>
          </p:cNvSpPr>
          <p:nvPr/>
        </p:nvSpPr>
        <p:spPr bwMode="auto">
          <a:xfrm>
            <a:off x="3257551" y="3071813"/>
            <a:ext cx="29765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fr-FR" sz="1800">
                <a:latin typeface="Times New Roman" panose="02020603050405020304" pitchFamily="18" charset="0"/>
              </a:rPr>
              <a:t>B</a:t>
            </a:r>
            <a:endParaRPr lang="en-GB" sz="1800">
              <a:latin typeface="Times New Roman" panose="02020603050405020304" pitchFamily="18" charset="0"/>
            </a:endParaRPr>
          </a:p>
        </p:txBody>
      </p:sp>
      <p:sp>
        <p:nvSpPr>
          <p:cNvPr id="19466" name="Rectangle 10"/>
          <p:cNvSpPr>
            <a:spLocks noChangeArrowheads="1"/>
          </p:cNvSpPr>
          <p:nvPr/>
        </p:nvSpPr>
        <p:spPr bwMode="auto">
          <a:xfrm>
            <a:off x="3543300" y="3098006"/>
            <a:ext cx="228600" cy="3429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fr-FR" sz="1500"/>
          </a:p>
        </p:txBody>
      </p:sp>
      <p:sp>
        <p:nvSpPr>
          <p:cNvPr id="19467" name="Text Box 11"/>
          <p:cNvSpPr txBox="1">
            <a:spLocks noChangeArrowheads="1"/>
          </p:cNvSpPr>
          <p:nvPr/>
        </p:nvSpPr>
        <p:spPr bwMode="auto">
          <a:xfrm>
            <a:off x="5543551" y="3071813"/>
            <a:ext cx="29765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fr-FR" sz="1800">
                <a:latin typeface="Times New Roman" panose="02020603050405020304" pitchFamily="18" charset="0"/>
              </a:rPr>
              <a:t>X</a:t>
            </a:r>
            <a:endParaRPr lang="en-GB" sz="1800">
              <a:latin typeface="Times New Roman" panose="02020603050405020304" pitchFamily="18" charset="0"/>
            </a:endParaRPr>
          </a:p>
        </p:txBody>
      </p:sp>
      <p:sp>
        <p:nvSpPr>
          <p:cNvPr id="19468" name="Rectangle 12"/>
          <p:cNvSpPr>
            <a:spLocks noChangeArrowheads="1"/>
          </p:cNvSpPr>
          <p:nvPr/>
        </p:nvSpPr>
        <p:spPr bwMode="auto">
          <a:xfrm>
            <a:off x="5314950" y="3071813"/>
            <a:ext cx="228600" cy="3429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fr-FR" sz="1500"/>
          </a:p>
        </p:txBody>
      </p:sp>
      <p:sp>
        <p:nvSpPr>
          <p:cNvPr id="19471" name="Freeform 15"/>
          <p:cNvSpPr/>
          <p:nvPr/>
        </p:nvSpPr>
        <p:spPr bwMode="auto">
          <a:xfrm>
            <a:off x="3657600" y="2624138"/>
            <a:ext cx="1771650" cy="561975"/>
          </a:xfrm>
          <a:custGeom>
            <a:avLst/>
            <a:gdLst>
              <a:gd name="T0" fmla="*/ 0 w 1488"/>
              <a:gd name="T1" fmla="*/ 2147483647 h 472"/>
              <a:gd name="T2" fmla="*/ 2147483647 w 1488"/>
              <a:gd name="T3" fmla="*/ 2147483647 h 472"/>
              <a:gd name="T4" fmla="*/ 2147483647 w 1488"/>
              <a:gd name="T5" fmla="*/ 2147483647 h 472"/>
              <a:gd name="T6" fmla="*/ 0 60000 65536"/>
              <a:gd name="T7" fmla="*/ 0 60000 65536"/>
              <a:gd name="T8" fmla="*/ 0 60000 65536"/>
              <a:gd name="T9" fmla="*/ 0 w 1488"/>
              <a:gd name="T10" fmla="*/ 0 h 472"/>
              <a:gd name="T11" fmla="*/ 1488 w 1488"/>
              <a:gd name="T12" fmla="*/ 472 h 47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88" h="472">
                <a:moveTo>
                  <a:pt x="0" y="232"/>
                </a:moveTo>
                <a:cubicBezTo>
                  <a:pt x="332" y="116"/>
                  <a:pt x="664" y="0"/>
                  <a:pt x="912" y="40"/>
                </a:cubicBezTo>
                <a:cubicBezTo>
                  <a:pt x="1160" y="80"/>
                  <a:pt x="1392" y="400"/>
                  <a:pt x="1488" y="472"/>
                </a:cubicBezTo>
              </a:path>
            </a:pathLst>
          </a:custGeom>
          <a:noFill/>
          <a:ln w="25400">
            <a:solidFill>
              <a:schemeClr val="tx1"/>
            </a:solidFill>
            <a:prstDash val="lgDashDot"/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fr-FR" sz="1500"/>
          </a:p>
        </p:txBody>
      </p:sp>
      <p:sp>
        <p:nvSpPr>
          <p:cNvPr id="19" name="Forme libre 18"/>
          <p:cNvSpPr/>
          <p:nvPr/>
        </p:nvSpPr>
        <p:spPr bwMode="auto">
          <a:xfrm>
            <a:off x="2339752" y="2950370"/>
            <a:ext cx="923753" cy="1270718"/>
          </a:xfrm>
          <a:custGeom>
            <a:avLst/>
            <a:gdLst>
              <a:gd name="connsiteX0" fmla="*/ 0 w 1191126"/>
              <a:gd name="connsiteY0" fmla="*/ 1985211 h 1985211"/>
              <a:gd name="connsiteX1" fmla="*/ 577516 w 1191126"/>
              <a:gd name="connsiteY1" fmla="*/ 601579 h 1985211"/>
              <a:gd name="connsiteX2" fmla="*/ 1191126 w 1191126"/>
              <a:gd name="connsiteY2" fmla="*/ 0 h 1985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91126" h="1985211">
                <a:moveTo>
                  <a:pt x="0" y="1985211"/>
                </a:moveTo>
                <a:cubicBezTo>
                  <a:pt x="189497" y="1458829"/>
                  <a:pt x="378995" y="932447"/>
                  <a:pt x="577516" y="601579"/>
                </a:cubicBezTo>
                <a:cubicBezTo>
                  <a:pt x="776037" y="270711"/>
                  <a:pt x="983581" y="135355"/>
                  <a:pt x="1191126" y="0"/>
                </a:cubicBezTo>
              </a:path>
            </a:pathLst>
          </a:custGeom>
          <a:gradFill rotWithShape="0">
            <a:gsLst>
              <a:gs pos="0">
                <a:schemeClr val="bg2"/>
              </a:gs>
              <a:gs pos="50000">
                <a:schemeClr val="bg1"/>
              </a:gs>
              <a:gs pos="100000">
                <a:schemeClr val="bg2"/>
              </a:gs>
            </a:gsLst>
            <a:lin ang="5400000" scaled="1"/>
          </a:gradFill>
          <a:ln w="9525" cap="flat" cmpd="sng" algn="ctr">
            <a:solidFill>
              <a:schemeClr val="tx1"/>
            </a:solidFill>
            <a:prstDash val="lgDash"/>
            <a:round/>
            <a:headEnd type="none" w="med" len="med"/>
            <a:tailEnd type="triangle" w="med" len="med"/>
          </a:ln>
          <a:effectLst/>
        </p:spPr>
        <p:txBody>
          <a:bodyPr lIns="67500" tIns="35100" rIns="67500" bIns="35100"/>
          <a:lstStyle/>
          <a:p>
            <a:pPr marL="257175" indent="-257175">
              <a:buBlip>
                <a:blip r:embed="rId1"/>
              </a:buBlip>
              <a:defRPr/>
            </a:pPr>
            <a:endParaRPr lang="fr-FR" sz="1350"/>
          </a:p>
        </p:txBody>
      </p:sp>
      <p:sp>
        <p:nvSpPr>
          <p:cNvPr id="9" name="Rectangle 8"/>
          <p:cNvSpPr/>
          <p:nvPr/>
        </p:nvSpPr>
        <p:spPr>
          <a:xfrm>
            <a:off x="926053" y="613189"/>
            <a:ext cx="7773521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Passage par copie de valeur</a:t>
            </a:r>
            <a:endParaRPr lang="fr-FR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Zone de texte 2"/>
          <p:cNvSpPr txBox="1"/>
          <p:nvPr/>
        </p:nvSpPr>
        <p:spPr>
          <a:xfrm>
            <a:off x="3486150" y="2729230"/>
            <a:ext cx="3663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b="1">
                <a:solidFill>
                  <a:schemeClr val="accent2"/>
                </a:solidFill>
              </a:rPr>
              <a:t>5</a:t>
            </a:r>
            <a:endParaRPr lang="fr-FR" altLang="en-US" b="1">
              <a:solidFill>
                <a:schemeClr val="accent2"/>
              </a:solidFill>
            </a:endParaRPr>
          </a:p>
        </p:txBody>
      </p:sp>
      <p:sp>
        <p:nvSpPr>
          <p:cNvPr id="4" name="Zone de texte 3"/>
          <p:cNvSpPr txBox="1"/>
          <p:nvPr/>
        </p:nvSpPr>
        <p:spPr>
          <a:xfrm>
            <a:off x="5314950" y="3046730"/>
            <a:ext cx="3663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b="1">
                <a:solidFill>
                  <a:schemeClr val="accent2"/>
                </a:solidFill>
              </a:rPr>
              <a:t>5</a:t>
            </a:r>
            <a:endParaRPr lang="fr-FR" altLang="en-US" b="1">
              <a:solidFill>
                <a:schemeClr val="accent2"/>
              </a:solidFill>
            </a:endParaRPr>
          </a:p>
        </p:txBody>
      </p:sp>
      <p:sp>
        <p:nvSpPr>
          <p:cNvPr id="5" name="Triangle isocèle 4"/>
          <p:cNvSpPr/>
          <p:nvPr/>
        </p:nvSpPr>
        <p:spPr>
          <a:xfrm rot="16200000">
            <a:off x="7418705" y="2859405"/>
            <a:ext cx="321310" cy="155575"/>
          </a:xfrm>
          <a:prstGeom prst="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3486150" y="5543550"/>
            <a:ext cx="2171700" cy="3429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5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557530" indent="-214630" eaLnBrk="0" hangingPunct="0">
              <a:defRPr sz="15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857250" indent="-171450" eaLnBrk="0" hangingPunct="0">
              <a:defRPr sz="15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200150" indent="-171450" eaLnBrk="0" hangingPunct="0">
              <a:defRPr sz="15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1543050" indent="-171450" eaLnBrk="0" hangingPunct="0">
              <a:defRPr sz="15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15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15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15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15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fld id="{28E04A92-E919-4B64-8755-830C6DFFB7A6}" type="slidenum">
              <a:rPr lang="fr-FR" sz="1050"/>
            </a:fld>
            <a:endParaRPr lang="fr-FR" sz="1050"/>
          </a:p>
        </p:txBody>
      </p:sp>
      <p:sp>
        <p:nvSpPr>
          <p:cNvPr id="151556" name="Rectangle 4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724535" y="1828800"/>
            <a:ext cx="7987665" cy="476885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None/>
              <a:defRPr/>
            </a:pPr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Copie des valeurs des paramètres effectifs dans les paramètres formels.</a:t>
            </a:r>
            <a:endParaRPr lang="fr-F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461" name="Text Box 5"/>
          <p:cNvSpPr txBox="1">
            <a:spLocks noChangeArrowheads="1"/>
          </p:cNvSpPr>
          <p:nvPr/>
        </p:nvSpPr>
        <p:spPr bwMode="auto">
          <a:xfrm>
            <a:off x="1584723" y="2728913"/>
            <a:ext cx="1615678" cy="230832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fr-FR" sz="1800" dirty="0" err="1">
                <a:latin typeface="Times New Roman" panose="02020603050405020304" pitchFamily="18" charset="0"/>
              </a:rPr>
              <a:t>void</a:t>
            </a:r>
            <a:r>
              <a:rPr lang="fr-FR" sz="1800" dirty="0">
                <a:latin typeface="Times New Roman" panose="02020603050405020304" pitchFamily="18" charset="0"/>
              </a:rPr>
              <a:t> main ()</a:t>
            </a:r>
            <a:endParaRPr lang="fr-FR" sz="1800" dirty="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fr-FR" sz="1800" dirty="0">
                <a:latin typeface="Times New Roman" panose="02020603050405020304" pitchFamily="18" charset="0"/>
              </a:rPr>
              <a:t>{</a:t>
            </a:r>
            <a:endParaRPr lang="fr-FR" sz="1800" dirty="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fr-FR" sz="1800" dirty="0">
                <a:latin typeface="Times New Roman" panose="02020603050405020304" pitchFamily="18" charset="0"/>
              </a:rPr>
              <a:t>   </a:t>
            </a:r>
            <a:r>
              <a:rPr lang="fr-FR" sz="1800" dirty="0" err="1">
                <a:latin typeface="Times New Roman" panose="02020603050405020304" pitchFamily="18" charset="0"/>
              </a:rPr>
              <a:t>int</a:t>
            </a:r>
            <a:r>
              <a:rPr lang="fr-FR" sz="1800" dirty="0">
                <a:latin typeface="Times New Roman" panose="02020603050405020304" pitchFamily="18" charset="0"/>
              </a:rPr>
              <a:t> A;</a:t>
            </a:r>
            <a:endParaRPr lang="fr-FR" sz="1800" dirty="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fr-FR" sz="1800" dirty="0">
                <a:latin typeface="Times New Roman" panose="02020603050405020304" pitchFamily="18" charset="0"/>
              </a:rPr>
              <a:t>   </a:t>
            </a:r>
            <a:r>
              <a:rPr lang="fr-FR" sz="1800" dirty="0" err="1">
                <a:latin typeface="Times New Roman" panose="02020603050405020304" pitchFamily="18" charset="0"/>
              </a:rPr>
              <a:t>int</a:t>
            </a:r>
            <a:r>
              <a:rPr lang="fr-FR" sz="1800" dirty="0">
                <a:latin typeface="Times New Roman" panose="02020603050405020304" pitchFamily="18" charset="0"/>
              </a:rPr>
              <a:t> B;</a:t>
            </a:r>
            <a:endParaRPr lang="fr-FR" sz="1800" dirty="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fr-FR" sz="1800" dirty="0">
                <a:latin typeface="Times New Roman" panose="02020603050405020304" pitchFamily="18" charset="0"/>
              </a:rPr>
              <a:t>   A = 5;</a:t>
            </a:r>
            <a:endParaRPr lang="fr-FR" sz="1800" dirty="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fr-FR" sz="1800" dirty="0">
                <a:latin typeface="Times New Roman" panose="02020603050405020304" pitchFamily="18" charset="0"/>
              </a:rPr>
              <a:t>   F1 (A);</a:t>
            </a:r>
            <a:endParaRPr lang="fr-FR" sz="1800" dirty="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fr-FR" sz="1800" dirty="0">
                <a:latin typeface="Times New Roman" panose="02020603050405020304" pitchFamily="18" charset="0"/>
              </a:rPr>
              <a:t>   B = A;</a:t>
            </a:r>
            <a:endParaRPr lang="fr-FR" sz="1800" dirty="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fr-FR" sz="1800" dirty="0">
                <a:latin typeface="Times New Roman" panose="02020603050405020304" pitchFamily="18" charset="0"/>
              </a:rPr>
              <a:t>}</a:t>
            </a:r>
            <a:endParaRPr lang="en-GB" sz="1800" dirty="0">
              <a:latin typeface="Times New Roman" panose="02020603050405020304" pitchFamily="18" charset="0"/>
            </a:endParaRPr>
          </a:p>
        </p:txBody>
      </p:sp>
      <p:sp>
        <p:nvSpPr>
          <p:cNvPr id="19462" name="Text Box 6"/>
          <p:cNvSpPr txBox="1">
            <a:spLocks noChangeArrowheads="1"/>
          </p:cNvSpPr>
          <p:nvPr/>
        </p:nvSpPr>
        <p:spPr bwMode="auto">
          <a:xfrm>
            <a:off x="5886450" y="2728913"/>
            <a:ext cx="1615679" cy="230832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fr-FR" sz="1800">
                <a:latin typeface="Times New Roman" panose="02020603050405020304" pitchFamily="18" charset="0"/>
              </a:rPr>
              <a:t>void F1 (int X)</a:t>
            </a:r>
            <a:endParaRPr lang="fr-FR" sz="180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fr-FR" sz="1800">
                <a:latin typeface="Times New Roman" panose="02020603050405020304" pitchFamily="18" charset="0"/>
              </a:rPr>
              <a:t>{</a:t>
            </a:r>
            <a:endParaRPr lang="fr-FR" sz="180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fr-FR" sz="1800">
                <a:latin typeface="Times New Roman" panose="02020603050405020304" pitchFamily="18" charset="0"/>
              </a:rPr>
              <a:t>   int Y;</a:t>
            </a:r>
            <a:endParaRPr lang="fr-FR" sz="180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fr-FR" sz="180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fr-FR" sz="1800">
                <a:latin typeface="Times New Roman" panose="02020603050405020304" pitchFamily="18" charset="0"/>
              </a:rPr>
              <a:t>   Y = X;</a:t>
            </a:r>
            <a:endParaRPr lang="fr-FR" sz="180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fr-FR" sz="1800">
                <a:latin typeface="Times New Roman" panose="02020603050405020304" pitchFamily="18" charset="0"/>
              </a:rPr>
              <a:t>   </a:t>
            </a:r>
            <a:endParaRPr lang="fr-FR" sz="180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fr-FR" sz="1800">
                <a:latin typeface="Times New Roman" panose="02020603050405020304" pitchFamily="18" charset="0"/>
              </a:rPr>
              <a:t>   X = 6;</a:t>
            </a:r>
            <a:endParaRPr lang="fr-FR" sz="180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fr-FR" sz="1800">
                <a:latin typeface="Times New Roman" panose="02020603050405020304" pitchFamily="18" charset="0"/>
              </a:rPr>
              <a:t>}</a:t>
            </a:r>
            <a:endParaRPr lang="en-GB" sz="1800">
              <a:latin typeface="Times New Roman" panose="02020603050405020304" pitchFamily="18" charset="0"/>
            </a:endParaRPr>
          </a:p>
        </p:txBody>
      </p:sp>
      <p:sp>
        <p:nvSpPr>
          <p:cNvPr id="19463" name="Text Box 7"/>
          <p:cNvSpPr txBox="1">
            <a:spLocks noChangeArrowheads="1"/>
          </p:cNvSpPr>
          <p:nvPr/>
        </p:nvSpPr>
        <p:spPr bwMode="auto">
          <a:xfrm>
            <a:off x="3245645" y="2702719"/>
            <a:ext cx="29765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fr-FR" sz="1800">
                <a:latin typeface="Times New Roman" panose="02020603050405020304" pitchFamily="18" charset="0"/>
              </a:rPr>
              <a:t>A</a:t>
            </a:r>
            <a:endParaRPr lang="en-GB" sz="1800">
              <a:latin typeface="Times New Roman" panose="02020603050405020304" pitchFamily="18" charset="0"/>
            </a:endParaRPr>
          </a:p>
        </p:txBody>
      </p:sp>
      <p:sp>
        <p:nvSpPr>
          <p:cNvPr id="19464" name="Rectangle 8"/>
          <p:cNvSpPr>
            <a:spLocks noChangeArrowheads="1"/>
          </p:cNvSpPr>
          <p:nvPr/>
        </p:nvSpPr>
        <p:spPr bwMode="auto">
          <a:xfrm>
            <a:off x="3543300" y="2728913"/>
            <a:ext cx="228600" cy="3429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fr-FR" sz="1500"/>
          </a:p>
        </p:txBody>
      </p:sp>
      <p:sp>
        <p:nvSpPr>
          <p:cNvPr id="19465" name="Text Box 9"/>
          <p:cNvSpPr txBox="1">
            <a:spLocks noChangeArrowheads="1"/>
          </p:cNvSpPr>
          <p:nvPr/>
        </p:nvSpPr>
        <p:spPr bwMode="auto">
          <a:xfrm>
            <a:off x="3257551" y="3071813"/>
            <a:ext cx="29765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fr-FR" sz="1800">
                <a:latin typeface="Times New Roman" panose="02020603050405020304" pitchFamily="18" charset="0"/>
              </a:rPr>
              <a:t>B</a:t>
            </a:r>
            <a:endParaRPr lang="en-GB" sz="1800">
              <a:latin typeface="Times New Roman" panose="02020603050405020304" pitchFamily="18" charset="0"/>
            </a:endParaRPr>
          </a:p>
        </p:txBody>
      </p:sp>
      <p:sp>
        <p:nvSpPr>
          <p:cNvPr id="19466" name="Rectangle 10"/>
          <p:cNvSpPr>
            <a:spLocks noChangeArrowheads="1"/>
          </p:cNvSpPr>
          <p:nvPr/>
        </p:nvSpPr>
        <p:spPr bwMode="auto">
          <a:xfrm>
            <a:off x="3543300" y="3098006"/>
            <a:ext cx="228600" cy="3429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fr-FR" sz="1500"/>
          </a:p>
        </p:txBody>
      </p:sp>
      <p:sp>
        <p:nvSpPr>
          <p:cNvPr id="19467" name="Text Box 11"/>
          <p:cNvSpPr txBox="1">
            <a:spLocks noChangeArrowheads="1"/>
          </p:cNvSpPr>
          <p:nvPr/>
        </p:nvSpPr>
        <p:spPr bwMode="auto">
          <a:xfrm>
            <a:off x="5543551" y="3071813"/>
            <a:ext cx="29765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fr-FR" sz="1800">
                <a:latin typeface="Times New Roman" panose="02020603050405020304" pitchFamily="18" charset="0"/>
              </a:rPr>
              <a:t>X</a:t>
            </a:r>
            <a:endParaRPr lang="en-GB" sz="1800">
              <a:latin typeface="Times New Roman" panose="02020603050405020304" pitchFamily="18" charset="0"/>
            </a:endParaRPr>
          </a:p>
        </p:txBody>
      </p:sp>
      <p:sp>
        <p:nvSpPr>
          <p:cNvPr id="19468" name="Rectangle 12"/>
          <p:cNvSpPr>
            <a:spLocks noChangeArrowheads="1"/>
          </p:cNvSpPr>
          <p:nvPr/>
        </p:nvSpPr>
        <p:spPr bwMode="auto">
          <a:xfrm>
            <a:off x="5314950" y="3071813"/>
            <a:ext cx="228600" cy="3429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fr-FR" sz="1500"/>
          </a:p>
        </p:txBody>
      </p:sp>
      <p:sp>
        <p:nvSpPr>
          <p:cNvPr id="19471" name="Freeform 15"/>
          <p:cNvSpPr/>
          <p:nvPr/>
        </p:nvSpPr>
        <p:spPr bwMode="auto">
          <a:xfrm>
            <a:off x="3657600" y="2624138"/>
            <a:ext cx="1771650" cy="561975"/>
          </a:xfrm>
          <a:custGeom>
            <a:avLst/>
            <a:gdLst>
              <a:gd name="T0" fmla="*/ 0 w 1488"/>
              <a:gd name="T1" fmla="*/ 2147483647 h 472"/>
              <a:gd name="T2" fmla="*/ 2147483647 w 1488"/>
              <a:gd name="T3" fmla="*/ 2147483647 h 472"/>
              <a:gd name="T4" fmla="*/ 2147483647 w 1488"/>
              <a:gd name="T5" fmla="*/ 2147483647 h 472"/>
              <a:gd name="T6" fmla="*/ 0 60000 65536"/>
              <a:gd name="T7" fmla="*/ 0 60000 65536"/>
              <a:gd name="T8" fmla="*/ 0 60000 65536"/>
              <a:gd name="T9" fmla="*/ 0 w 1488"/>
              <a:gd name="T10" fmla="*/ 0 h 472"/>
              <a:gd name="T11" fmla="*/ 1488 w 1488"/>
              <a:gd name="T12" fmla="*/ 472 h 47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88" h="472">
                <a:moveTo>
                  <a:pt x="0" y="232"/>
                </a:moveTo>
                <a:cubicBezTo>
                  <a:pt x="332" y="116"/>
                  <a:pt x="664" y="0"/>
                  <a:pt x="912" y="40"/>
                </a:cubicBezTo>
                <a:cubicBezTo>
                  <a:pt x="1160" y="80"/>
                  <a:pt x="1392" y="400"/>
                  <a:pt x="1488" y="472"/>
                </a:cubicBezTo>
              </a:path>
            </a:pathLst>
          </a:custGeom>
          <a:noFill/>
          <a:ln w="25400">
            <a:solidFill>
              <a:schemeClr val="tx1"/>
            </a:solidFill>
            <a:prstDash val="lgDashDot"/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fr-FR" sz="1500"/>
          </a:p>
        </p:txBody>
      </p:sp>
      <p:sp>
        <p:nvSpPr>
          <p:cNvPr id="19" name="Forme libre 18"/>
          <p:cNvSpPr/>
          <p:nvPr/>
        </p:nvSpPr>
        <p:spPr bwMode="auto">
          <a:xfrm>
            <a:off x="2339752" y="2950370"/>
            <a:ext cx="923753" cy="1270718"/>
          </a:xfrm>
          <a:custGeom>
            <a:avLst/>
            <a:gdLst>
              <a:gd name="connsiteX0" fmla="*/ 0 w 1191126"/>
              <a:gd name="connsiteY0" fmla="*/ 1985211 h 1985211"/>
              <a:gd name="connsiteX1" fmla="*/ 577516 w 1191126"/>
              <a:gd name="connsiteY1" fmla="*/ 601579 h 1985211"/>
              <a:gd name="connsiteX2" fmla="*/ 1191126 w 1191126"/>
              <a:gd name="connsiteY2" fmla="*/ 0 h 1985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91126" h="1985211">
                <a:moveTo>
                  <a:pt x="0" y="1985211"/>
                </a:moveTo>
                <a:cubicBezTo>
                  <a:pt x="189497" y="1458829"/>
                  <a:pt x="378995" y="932447"/>
                  <a:pt x="577516" y="601579"/>
                </a:cubicBezTo>
                <a:cubicBezTo>
                  <a:pt x="776037" y="270711"/>
                  <a:pt x="983581" y="135355"/>
                  <a:pt x="1191126" y="0"/>
                </a:cubicBezTo>
              </a:path>
            </a:pathLst>
          </a:custGeom>
          <a:gradFill rotWithShape="0">
            <a:gsLst>
              <a:gs pos="0">
                <a:schemeClr val="bg2"/>
              </a:gs>
              <a:gs pos="50000">
                <a:schemeClr val="bg1"/>
              </a:gs>
              <a:gs pos="100000">
                <a:schemeClr val="bg2"/>
              </a:gs>
            </a:gsLst>
            <a:lin ang="5400000" scaled="1"/>
          </a:gradFill>
          <a:ln w="9525" cap="flat" cmpd="sng" algn="ctr">
            <a:solidFill>
              <a:schemeClr val="tx1"/>
            </a:solidFill>
            <a:prstDash val="lgDash"/>
            <a:round/>
            <a:headEnd type="none" w="med" len="med"/>
            <a:tailEnd type="triangle" w="med" len="med"/>
          </a:ln>
          <a:effectLst/>
        </p:spPr>
        <p:txBody>
          <a:bodyPr lIns="67500" tIns="35100" rIns="67500" bIns="35100"/>
          <a:lstStyle/>
          <a:p>
            <a:pPr marL="257175" indent="-257175">
              <a:buBlip>
                <a:blip r:embed="rId1"/>
              </a:buBlip>
              <a:defRPr/>
            </a:pPr>
            <a:endParaRPr lang="fr-FR" sz="1350"/>
          </a:p>
        </p:txBody>
      </p:sp>
      <p:sp>
        <p:nvSpPr>
          <p:cNvPr id="9" name="Rectangle 8"/>
          <p:cNvSpPr/>
          <p:nvPr/>
        </p:nvSpPr>
        <p:spPr>
          <a:xfrm>
            <a:off x="926053" y="613189"/>
            <a:ext cx="7773521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Passage par copie de valeur</a:t>
            </a:r>
            <a:endParaRPr lang="fr-FR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Zone de texte 2"/>
          <p:cNvSpPr txBox="1"/>
          <p:nvPr/>
        </p:nvSpPr>
        <p:spPr>
          <a:xfrm>
            <a:off x="3486150" y="2729230"/>
            <a:ext cx="3663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b="1">
                <a:solidFill>
                  <a:schemeClr val="accent2"/>
                </a:solidFill>
              </a:rPr>
              <a:t>5</a:t>
            </a:r>
            <a:endParaRPr lang="fr-FR" altLang="en-US" b="1">
              <a:solidFill>
                <a:schemeClr val="accent2"/>
              </a:solidFill>
            </a:endParaRPr>
          </a:p>
        </p:txBody>
      </p:sp>
      <p:sp>
        <p:nvSpPr>
          <p:cNvPr id="4" name="Zone de texte 3"/>
          <p:cNvSpPr txBox="1"/>
          <p:nvPr/>
        </p:nvSpPr>
        <p:spPr>
          <a:xfrm>
            <a:off x="5314950" y="3046730"/>
            <a:ext cx="3663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b="1">
                <a:solidFill>
                  <a:schemeClr val="accent2"/>
                </a:solidFill>
              </a:rPr>
              <a:t>5</a:t>
            </a:r>
            <a:endParaRPr lang="fr-FR" altLang="en-US" b="1">
              <a:solidFill>
                <a:schemeClr val="accent2"/>
              </a:solidFill>
            </a:endParaRPr>
          </a:p>
        </p:txBody>
      </p:sp>
      <p:sp>
        <p:nvSpPr>
          <p:cNvPr id="2" name="Zone de texte 1"/>
          <p:cNvSpPr txBox="1"/>
          <p:nvPr/>
        </p:nvSpPr>
        <p:spPr>
          <a:xfrm>
            <a:off x="4827905" y="3512185"/>
            <a:ext cx="3663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b="1">
                <a:solidFill>
                  <a:schemeClr val="accent2"/>
                </a:solidFill>
              </a:rPr>
              <a:t>5</a:t>
            </a:r>
            <a:endParaRPr lang="fr-FR" altLang="en-US" b="1">
              <a:solidFill>
                <a:schemeClr val="accent2"/>
              </a:solidFill>
            </a:endParaRPr>
          </a:p>
        </p:txBody>
      </p:sp>
      <p:sp>
        <p:nvSpPr>
          <p:cNvPr id="5" name="Rectangle 10"/>
          <p:cNvSpPr>
            <a:spLocks noChangeArrowheads="1"/>
          </p:cNvSpPr>
          <p:nvPr/>
        </p:nvSpPr>
        <p:spPr bwMode="auto">
          <a:xfrm>
            <a:off x="4896485" y="3512026"/>
            <a:ext cx="228600" cy="3429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fr-FR" sz="1500"/>
          </a:p>
        </p:txBody>
      </p:sp>
      <p:sp>
        <p:nvSpPr>
          <p:cNvPr id="6" name="Text Box 9"/>
          <p:cNvSpPr txBox="1">
            <a:spLocks noChangeArrowheads="1"/>
          </p:cNvSpPr>
          <p:nvPr/>
        </p:nvSpPr>
        <p:spPr bwMode="auto">
          <a:xfrm>
            <a:off x="3852545" y="3512185"/>
            <a:ext cx="975995" cy="306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fr-FR" sz="1400">
                <a:latin typeface="Times New Roman" panose="02020603050405020304" pitchFamily="18" charset="0"/>
              </a:rPr>
              <a:t>copie de X</a:t>
            </a:r>
            <a:endParaRPr lang="fr-FR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3486150" y="5543550"/>
            <a:ext cx="2171700" cy="3429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5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557530" indent="-214630" eaLnBrk="0" hangingPunct="0">
              <a:defRPr sz="15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857250" indent="-171450" eaLnBrk="0" hangingPunct="0">
              <a:defRPr sz="15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200150" indent="-171450" eaLnBrk="0" hangingPunct="0">
              <a:defRPr sz="15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1543050" indent="-171450" eaLnBrk="0" hangingPunct="0">
              <a:defRPr sz="15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15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15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15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15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fld id="{28E04A92-E919-4B64-8755-830C6DFFB7A6}" type="slidenum">
              <a:rPr lang="fr-FR" sz="1050"/>
            </a:fld>
            <a:endParaRPr lang="fr-FR" sz="1050"/>
          </a:p>
        </p:txBody>
      </p:sp>
      <p:sp>
        <p:nvSpPr>
          <p:cNvPr id="151556" name="Rectangle 4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724535" y="1828800"/>
            <a:ext cx="7987665" cy="476885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None/>
              <a:defRPr/>
            </a:pPr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Copie des valeurs des paramètres effectifs dans les paramètres formels.</a:t>
            </a:r>
            <a:endParaRPr lang="fr-F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461" name="Text Box 5"/>
          <p:cNvSpPr txBox="1">
            <a:spLocks noChangeArrowheads="1"/>
          </p:cNvSpPr>
          <p:nvPr/>
        </p:nvSpPr>
        <p:spPr bwMode="auto">
          <a:xfrm>
            <a:off x="1584723" y="2728913"/>
            <a:ext cx="1615678" cy="230832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fr-FR" sz="1800" dirty="0" err="1">
                <a:latin typeface="Times New Roman" panose="02020603050405020304" pitchFamily="18" charset="0"/>
              </a:rPr>
              <a:t>void</a:t>
            </a:r>
            <a:r>
              <a:rPr lang="fr-FR" sz="1800" dirty="0">
                <a:latin typeface="Times New Roman" panose="02020603050405020304" pitchFamily="18" charset="0"/>
              </a:rPr>
              <a:t> main ()</a:t>
            </a:r>
            <a:endParaRPr lang="fr-FR" sz="1800" dirty="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fr-FR" sz="1800" dirty="0">
                <a:latin typeface="Times New Roman" panose="02020603050405020304" pitchFamily="18" charset="0"/>
              </a:rPr>
              <a:t>{</a:t>
            </a:r>
            <a:endParaRPr lang="fr-FR" sz="1800" dirty="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fr-FR" sz="1800" dirty="0">
                <a:latin typeface="Times New Roman" panose="02020603050405020304" pitchFamily="18" charset="0"/>
              </a:rPr>
              <a:t>   </a:t>
            </a:r>
            <a:r>
              <a:rPr lang="fr-FR" sz="1800" dirty="0" err="1">
                <a:latin typeface="Times New Roman" panose="02020603050405020304" pitchFamily="18" charset="0"/>
              </a:rPr>
              <a:t>int</a:t>
            </a:r>
            <a:r>
              <a:rPr lang="fr-FR" sz="1800" dirty="0">
                <a:latin typeface="Times New Roman" panose="02020603050405020304" pitchFamily="18" charset="0"/>
              </a:rPr>
              <a:t> A;</a:t>
            </a:r>
            <a:endParaRPr lang="fr-FR" sz="1800" dirty="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fr-FR" sz="1800" dirty="0">
                <a:latin typeface="Times New Roman" panose="02020603050405020304" pitchFamily="18" charset="0"/>
              </a:rPr>
              <a:t>   </a:t>
            </a:r>
            <a:r>
              <a:rPr lang="fr-FR" sz="1800" dirty="0" err="1">
                <a:latin typeface="Times New Roman" panose="02020603050405020304" pitchFamily="18" charset="0"/>
              </a:rPr>
              <a:t>int</a:t>
            </a:r>
            <a:r>
              <a:rPr lang="fr-FR" sz="1800" dirty="0">
                <a:latin typeface="Times New Roman" panose="02020603050405020304" pitchFamily="18" charset="0"/>
              </a:rPr>
              <a:t> B;</a:t>
            </a:r>
            <a:endParaRPr lang="fr-FR" sz="1800" dirty="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fr-FR" sz="1800" dirty="0">
                <a:latin typeface="Times New Roman" panose="02020603050405020304" pitchFamily="18" charset="0"/>
              </a:rPr>
              <a:t>   A = 5;</a:t>
            </a:r>
            <a:endParaRPr lang="fr-FR" sz="1800" dirty="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fr-FR" sz="1800" dirty="0">
                <a:latin typeface="Times New Roman" panose="02020603050405020304" pitchFamily="18" charset="0"/>
              </a:rPr>
              <a:t>   F1 (A);</a:t>
            </a:r>
            <a:endParaRPr lang="fr-FR" sz="1800" dirty="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fr-FR" sz="1800" dirty="0">
                <a:latin typeface="Times New Roman" panose="02020603050405020304" pitchFamily="18" charset="0"/>
              </a:rPr>
              <a:t>   B = A;</a:t>
            </a:r>
            <a:endParaRPr lang="fr-FR" sz="1800" dirty="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fr-FR" sz="1800" dirty="0">
                <a:latin typeface="Times New Roman" panose="02020603050405020304" pitchFamily="18" charset="0"/>
              </a:rPr>
              <a:t>}</a:t>
            </a:r>
            <a:endParaRPr lang="en-GB" sz="1800" dirty="0">
              <a:latin typeface="Times New Roman" panose="02020603050405020304" pitchFamily="18" charset="0"/>
            </a:endParaRPr>
          </a:p>
        </p:txBody>
      </p:sp>
      <p:sp>
        <p:nvSpPr>
          <p:cNvPr id="19462" name="Text Box 6"/>
          <p:cNvSpPr txBox="1">
            <a:spLocks noChangeArrowheads="1"/>
          </p:cNvSpPr>
          <p:nvPr/>
        </p:nvSpPr>
        <p:spPr bwMode="auto">
          <a:xfrm>
            <a:off x="5886450" y="2728913"/>
            <a:ext cx="1615679" cy="230832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fr-FR" sz="1800">
                <a:latin typeface="Times New Roman" panose="02020603050405020304" pitchFamily="18" charset="0"/>
              </a:rPr>
              <a:t>void F1 (int X)</a:t>
            </a:r>
            <a:endParaRPr lang="fr-FR" sz="180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fr-FR" sz="1800">
                <a:latin typeface="Times New Roman" panose="02020603050405020304" pitchFamily="18" charset="0"/>
              </a:rPr>
              <a:t>{</a:t>
            </a:r>
            <a:endParaRPr lang="fr-FR" sz="180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fr-FR" sz="1800">
                <a:latin typeface="Times New Roman" panose="02020603050405020304" pitchFamily="18" charset="0"/>
              </a:rPr>
              <a:t>   int Y;</a:t>
            </a:r>
            <a:endParaRPr lang="fr-FR" sz="180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fr-FR" sz="180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fr-FR" sz="1800">
                <a:latin typeface="Times New Roman" panose="02020603050405020304" pitchFamily="18" charset="0"/>
              </a:rPr>
              <a:t>   Y = X;</a:t>
            </a:r>
            <a:endParaRPr lang="fr-FR" sz="180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fr-FR" sz="1800">
                <a:latin typeface="Times New Roman" panose="02020603050405020304" pitchFamily="18" charset="0"/>
              </a:rPr>
              <a:t>   </a:t>
            </a:r>
            <a:endParaRPr lang="fr-FR" sz="180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fr-FR" sz="1800">
                <a:latin typeface="Times New Roman" panose="02020603050405020304" pitchFamily="18" charset="0"/>
              </a:rPr>
              <a:t>   X = 6;</a:t>
            </a:r>
            <a:endParaRPr lang="fr-FR" sz="180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fr-FR" sz="1800">
                <a:latin typeface="Times New Roman" panose="02020603050405020304" pitchFamily="18" charset="0"/>
              </a:rPr>
              <a:t>}</a:t>
            </a:r>
            <a:endParaRPr lang="en-GB" sz="1800">
              <a:latin typeface="Times New Roman" panose="02020603050405020304" pitchFamily="18" charset="0"/>
            </a:endParaRPr>
          </a:p>
        </p:txBody>
      </p:sp>
      <p:sp>
        <p:nvSpPr>
          <p:cNvPr id="19463" name="Text Box 7"/>
          <p:cNvSpPr txBox="1">
            <a:spLocks noChangeArrowheads="1"/>
          </p:cNvSpPr>
          <p:nvPr/>
        </p:nvSpPr>
        <p:spPr bwMode="auto">
          <a:xfrm>
            <a:off x="3245645" y="2702719"/>
            <a:ext cx="29765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fr-FR" sz="1800">
                <a:latin typeface="Times New Roman" panose="02020603050405020304" pitchFamily="18" charset="0"/>
              </a:rPr>
              <a:t>A</a:t>
            </a:r>
            <a:endParaRPr lang="en-GB" sz="1800">
              <a:latin typeface="Times New Roman" panose="02020603050405020304" pitchFamily="18" charset="0"/>
            </a:endParaRPr>
          </a:p>
        </p:txBody>
      </p:sp>
      <p:sp>
        <p:nvSpPr>
          <p:cNvPr id="19464" name="Rectangle 8"/>
          <p:cNvSpPr>
            <a:spLocks noChangeArrowheads="1"/>
          </p:cNvSpPr>
          <p:nvPr/>
        </p:nvSpPr>
        <p:spPr bwMode="auto">
          <a:xfrm>
            <a:off x="3543300" y="2728913"/>
            <a:ext cx="228600" cy="3429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fr-FR" sz="1500"/>
          </a:p>
        </p:txBody>
      </p:sp>
      <p:sp>
        <p:nvSpPr>
          <p:cNvPr id="19465" name="Text Box 9"/>
          <p:cNvSpPr txBox="1">
            <a:spLocks noChangeArrowheads="1"/>
          </p:cNvSpPr>
          <p:nvPr/>
        </p:nvSpPr>
        <p:spPr bwMode="auto">
          <a:xfrm>
            <a:off x="3257551" y="3071813"/>
            <a:ext cx="29765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fr-FR" sz="1800">
                <a:latin typeface="Times New Roman" panose="02020603050405020304" pitchFamily="18" charset="0"/>
              </a:rPr>
              <a:t>B</a:t>
            </a:r>
            <a:endParaRPr lang="en-GB" sz="1800">
              <a:latin typeface="Times New Roman" panose="02020603050405020304" pitchFamily="18" charset="0"/>
            </a:endParaRPr>
          </a:p>
        </p:txBody>
      </p:sp>
      <p:sp>
        <p:nvSpPr>
          <p:cNvPr id="19466" name="Rectangle 10"/>
          <p:cNvSpPr>
            <a:spLocks noChangeArrowheads="1"/>
          </p:cNvSpPr>
          <p:nvPr/>
        </p:nvSpPr>
        <p:spPr bwMode="auto">
          <a:xfrm>
            <a:off x="3543300" y="3098006"/>
            <a:ext cx="228600" cy="3429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fr-FR" sz="1500"/>
          </a:p>
        </p:txBody>
      </p:sp>
      <p:sp>
        <p:nvSpPr>
          <p:cNvPr id="19467" name="Text Box 11"/>
          <p:cNvSpPr txBox="1">
            <a:spLocks noChangeArrowheads="1"/>
          </p:cNvSpPr>
          <p:nvPr/>
        </p:nvSpPr>
        <p:spPr bwMode="auto">
          <a:xfrm>
            <a:off x="5543551" y="3071813"/>
            <a:ext cx="29765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fr-FR" sz="1800">
                <a:latin typeface="Times New Roman" panose="02020603050405020304" pitchFamily="18" charset="0"/>
              </a:rPr>
              <a:t>X</a:t>
            </a:r>
            <a:endParaRPr lang="en-GB" sz="1800">
              <a:latin typeface="Times New Roman" panose="02020603050405020304" pitchFamily="18" charset="0"/>
            </a:endParaRPr>
          </a:p>
        </p:txBody>
      </p:sp>
      <p:sp>
        <p:nvSpPr>
          <p:cNvPr id="19468" name="Rectangle 12"/>
          <p:cNvSpPr>
            <a:spLocks noChangeArrowheads="1"/>
          </p:cNvSpPr>
          <p:nvPr/>
        </p:nvSpPr>
        <p:spPr bwMode="auto">
          <a:xfrm>
            <a:off x="5314950" y="3071813"/>
            <a:ext cx="228600" cy="3429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fr-FR" sz="1500"/>
          </a:p>
        </p:txBody>
      </p:sp>
      <p:sp>
        <p:nvSpPr>
          <p:cNvPr id="19471" name="Freeform 15"/>
          <p:cNvSpPr/>
          <p:nvPr/>
        </p:nvSpPr>
        <p:spPr bwMode="auto">
          <a:xfrm>
            <a:off x="3657600" y="2624138"/>
            <a:ext cx="1771650" cy="561975"/>
          </a:xfrm>
          <a:custGeom>
            <a:avLst/>
            <a:gdLst>
              <a:gd name="T0" fmla="*/ 0 w 1488"/>
              <a:gd name="T1" fmla="*/ 2147483647 h 472"/>
              <a:gd name="T2" fmla="*/ 2147483647 w 1488"/>
              <a:gd name="T3" fmla="*/ 2147483647 h 472"/>
              <a:gd name="T4" fmla="*/ 2147483647 w 1488"/>
              <a:gd name="T5" fmla="*/ 2147483647 h 472"/>
              <a:gd name="T6" fmla="*/ 0 60000 65536"/>
              <a:gd name="T7" fmla="*/ 0 60000 65536"/>
              <a:gd name="T8" fmla="*/ 0 60000 65536"/>
              <a:gd name="T9" fmla="*/ 0 w 1488"/>
              <a:gd name="T10" fmla="*/ 0 h 472"/>
              <a:gd name="T11" fmla="*/ 1488 w 1488"/>
              <a:gd name="T12" fmla="*/ 472 h 47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88" h="472">
                <a:moveTo>
                  <a:pt x="0" y="232"/>
                </a:moveTo>
                <a:cubicBezTo>
                  <a:pt x="332" y="116"/>
                  <a:pt x="664" y="0"/>
                  <a:pt x="912" y="40"/>
                </a:cubicBezTo>
                <a:cubicBezTo>
                  <a:pt x="1160" y="80"/>
                  <a:pt x="1392" y="400"/>
                  <a:pt x="1488" y="472"/>
                </a:cubicBezTo>
              </a:path>
            </a:pathLst>
          </a:custGeom>
          <a:noFill/>
          <a:ln w="25400">
            <a:solidFill>
              <a:schemeClr val="tx1"/>
            </a:solidFill>
            <a:prstDash val="lgDashDot"/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fr-FR" sz="1500"/>
          </a:p>
        </p:txBody>
      </p:sp>
      <p:sp>
        <p:nvSpPr>
          <p:cNvPr id="19" name="Forme libre 18"/>
          <p:cNvSpPr/>
          <p:nvPr/>
        </p:nvSpPr>
        <p:spPr bwMode="auto">
          <a:xfrm>
            <a:off x="2339752" y="2950370"/>
            <a:ext cx="923753" cy="1270718"/>
          </a:xfrm>
          <a:custGeom>
            <a:avLst/>
            <a:gdLst>
              <a:gd name="connsiteX0" fmla="*/ 0 w 1191126"/>
              <a:gd name="connsiteY0" fmla="*/ 1985211 h 1985211"/>
              <a:gd name="connsiteX1" fmla="*/ 577516 w 1191126"/>
              <a:gd name="connsiteY1" fmla="*/ 601579 h 1985211"/>
              <a:gd name="connsiteX2" fmla="*/ 1191126 w 1191126"/>
              <a:gd name="connsiteY2" fmla="*/ 0 h 1985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91126" h="1985211">
                <a:moveTo>
                  <a:pt x="0" y="1985211"/>
                </a:moveTo>
                <a:cubicBezTo>
                  <a:pt x="189497" y="1458829"/>
                  <a:pt x="378995" y="932447"/>
                  <a:pt x="577516" y="601579"/>
                </a:cubicBezTo>
                <a:cubicBezTo>
                  <a:pt x="776037" y="270711"/>
                  <a:pt x="983581" y="135355"/>
                  <a:pt x="1191126" y="0"/>
                </a:cubicBezTo>
              </a:path>
            </a:pathLst>
          </a:custGeom>
          <a:gradFill rotWithShape="0">
            <a:gsLst>
              <a:gs pos="0">
                <a:schemeClr val="bg2"/>
              </a:gs>
              <a:gs pos="50000">
                <a:schemeClr val="bg1"/>
              </a:gs>
              <a:gs pos="100000">
                <a:schemeClr val="bg2"/>
              </a:gs>
            </a:gsLst>
            <a:lin ang="5400000" scaled="1"/>
          </a:gradFill>
          <a:ln w="9525" cap="flat" cmpd="sng" algn="ctr">
            <a:solidFill>
              <a:schemeClr val="tx1"/>
            </a:solidFill>
            <a:prstDash val="lgDash"/>
            <a:round/>
            <a:headEnd type="none" w="med" len="med"/>
            <a:tailEnd type="triangle" w="med" len="med"/>
          </a:ln>
          <a:effectLst/>
        </p:spPr>
        <p:txBody>
          <a:bodyPr lIns="67500" tIns="35100" rIns="67500" bIns="35100"/>
          <a:lstStyle/>
          <a:p>
            <a:pPr marL="257175" indent="-257175">
              <a:buBlip>
                <a:blip r:embed="rId1"/>
              </a:buBlip>
              <a:defRPr/>
            </a:pPr>
            <a:endParaRPr lang="fr-FR" sz="1350"/>
          </a:p>
        </p:txBody>
      </p:sp>
      <p:sp>
        <p:nvSpPr>
          <p:cNvPr id="9" name="Rectangle 8"/>
          <p:cNvSpPr/>
          <p:nvPr/>
        </p:nvSpPr>
        <p:spPr>
          <a:xfrm>
            <a:off x="926053" y="613189"/>
            <a:ext cx="7773521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Passage par copie de valeur</a:t>
            </a:r>
            <a:endParaRPr lang="fr-FR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Zone de texte 2"/>
          <p:cNvSpPr txBox="1"/>
          <p:nvPr/>
        </p:nvSpPr>
        <p:spPr>
          <a:xfrm>
            <a:off x="3486150" y="2729230"/>
            <a:ext cx="3663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b="1">
                <a:solidFill>
                  <a:schemeClr val="accent2"/>
                </a:solidFill>
              </a:rPr>
              <a:t>5</a:t>
            </a:r>
            <a:endParaRPr lang="fr-FR" altLang="en-US" b="1">
              <a:solidFill>
                <a:schemeClr val="accent2"/>
              </a:solidFill>
            </a:endParaRPr>
          </a:p>
        </p:txBody>
      </p:sp>
      <p:sp>
        <p:nvSpPr>
          <p:cNvPr id="4" name="Zone de texte 3"/>
          <p:cNvSpPr txBox="1"/>
          <p:nvPr/>
        </p:nvSpPr>
        <p:spPr>
          <a:xfrm>
            <a:off x="5314950" y="3046730"/>
            <a:ext cx="3663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b="1">
                <a:solidFill>
                  <a:schemeClr val="accent2"/>
                </a:solidFill>
              </a:rPr>
              <a:t>5</a:t>
            </a:r>
            <a:endParaRPr lang="fr-FR" altLang="en-US" b="1">
              <a:solidFill>
                <a:schemeClr val="accent2"/>
              </a:solidFill>
            </a:endParaRPr>
          </a:p>
        </p:txBody>
      </p:sp>
      <p:sp>
        <p:nvSpPr>
          <p:cNvPr id="2" name="Zone de texte 1"/>
          <p:cNvSpPr txBox="1"/>
          <p:nvPr/>
        </p:nvSpPr>
        <p:spPr>
          <a:xfrm>
            <a:off x="4827905" y="3512185"/>
            <a:ext cx="3663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b="1">
                <a:solidFill>
                  <a:schemeClr val="accent2"/>
                </a:solidFill>
              </a:rPr>
              <a:t>5</a:t>
            </a:r>
            <a:endParaRPr lang="fr-FR" altLang="en-US" b="1">
              <a:solidFill>
                <a:schemeClr val="accent2"/>
              </a:solidFill>
            </a:endParaRPr>
          </a:p>
        </p:txBody>
      </p:sp>
      <p:sp>
        <p:nvSpPr>
          <p:cNvPr id="5" name="Rectangle 10"/>
          <p:cNvSpPr>
            <a:spLocks noChangeArrowheads="1"/>
          </p:cNvSpPr>
          <p:nvPr/>
        </p:nvSpPr>
        <p:spPr bwMode="auto">
          <a:xfrm>
            <a:off x="4896485" y="3512026"/>
            <a:ext cx="228600" cy="3429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fr-FR" sz="1500"/>
          </a:p>
        </p:txBody>
      </p:sp>
      <p:sp>
        <p:nvSpPr>
          <p:cNvPr id="6" name="Text Box 9"/>
          <p:cNvSpPr txBox="1">
            <a:spLocks noChangeArrowheads="1"/>
          </p:cNvSpPr>
          <p:nvPr/>
        </p:nvSpPr>
        <p:spPr bwMode="auto">
          <a:xfrm>
            <a:off x="3852545" y="3512185"/>
            <a:ext cx="975995" cy="306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fr-FR" sz="1400">
                <a:latin typeface="Times New Roman" panose="02020603050405020304" pitchFamily="18" charset="0"/>
              </a:rPr>
              <a:t>copie de X</a:t>
            </a:r>
            <a:endParaRPr lang="fr-FR" sz="1400">
              <a:latin typeface="Times New Roman" panose="02020603050405020304" pitchFamily="18" charset="0"/>
            </a:endParaRPr>
          </a:p>
        </p:txBody>
      </p:sp>
      <p:sp>
        <p:nvSpPr>
          <p:cNvPr id="7" name="Text Box 9"/>
          <p:cNvSpPr txBox="1">
            <a:spLocks noChangeArrowheads="1"/>
          </p:cNvSpPr>
          <p:nvPr/>
        </p:nvSpPr>
        <p:spPr bwMode="auto">
          <a:xfrm>
            <a:off x="3852545" y="3914140"/>
            <a:ext cx="975995" cy="306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fr-FR" sz="1400">
                <a:latin typeface="Times New Roman" panose="02020603050405020304" pitchFamily="18" charset="0"/>
              </a:rPr>
              <a:t>copie de Y</a:t>
            </a:r>
            <a:endParaRPr lang="fr-FR" sz="1400">
              <a:latin typeface="Times New Roman" panose="02020603050405020304" pitchFamily="18" charset="0"/>
            </a:endParaRPr>
          </a:p>
        </p:txBody>
      </p:sp>
      <p:sp>
        <p:nvSpPr>
          <p:cNvPr id="8" name="Rectangle 10"/>
          <p:cNvSpPr>
            <a:spLocks noChangeArrowheads="1"/>
          </p:cNvSpPr>
          <p:nvPr/>
        </p:nvSpPr>
        <p:spPr bwMode="auto">
          <a:xfrm>
            <a:off x="4897120" y="3896201"/>
            <a:ext cx="228600" cy="3429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fr-FR" sz="1500"/>
          </a:p>
        </p:txBody>
      </p:sp>
      <p:sp>
        <p:nvSpPr>
          <p:cNvPr id="10" name="Zone de texte 9"/>
          <p:cNvSpPr txBox="1"/>
          <p:nvPr/>
        </p:nvSpPr>
        <p:spPr>
          <a:xfrm>
            <a:off x="4824730" y="3870960"/>
            <a:ext cx="3663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b="1">
                <a:solidFill>
                  <a:schemeClr val="accent2"/>
                </a:solidFill>
              </a:rPr>
              <a:t>5</a:t>
            </a:r>
            <a:endParaRPr lang="fr-FR" altLang="en-US" b="1">
              <a:solidFill>
                <a:schemeClr val="accent2"/>
              </a:solidFill>
            </a:endParaRPr>
          </a:p>
        </p:txBody>
      </p:sp>
      <p:sp>
        <p:nvSpPr>
          <p:cNvPr id="11" name="Triangle isocèle 10"/>
          <p:cNvSpPr/>
          <p:nvPr/>
        </p:nvSpPr>
        <p:spPr>
          <a:xfrm rot="16200000">
            <a:off x="6921500" y="3953510"/>
            <a:ext cx="321310" cy="155575"/>
          </a:xfrm>
          <a:prstGeom prst="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3486150" y="5543550"/>
            <a:ext cx="2171700" cy="3429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5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557530" indent="-214630" eaLnBrk="0" hangingPunct="0">
              <a:defRPr sz="15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857250" indent="-171450" eaLnBrk="0" hangingPunct="0">
              <a:defRPr sz="15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200150" indent="-171450" eaLnBrk="0" hangingPunct="0">
              <a:defRPr sz="15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1543050" indent="-171450" eaLnBrk="0" hangingPunct="0">
              <a:defRPr sz="15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15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15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15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15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fld id="{28E04A92-E919-4B64-8755-830C6DFFB7A6}" type="slidenum">
              <a:rPr lang="fr-FR" sz="1050"/>
            </a:fld>
            <a:endParaRPr lang="fr-FR" sz="1050"/>
          </a:p>
        </p:txBody>
      </p:sp>
      <p:sp>
        <p:nvSpPr>
          <p:cNvPr id="151556" name="Rectangle 4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724535" y="1828800"/>
            <a:ext cx="7987665" cy="476885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None/>
              <a:defRPr/>
            </a:pPr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Copie des valeurs des paramètres effectifs dans les paramètres formels.</a:t>
            </a:r>
            <a:endParaRPr lang="fr-F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461" name="Text Box 5"/>
          <p:cNvSpPr txBox="1">
            <a:spLocks noChangeArrowheads="1"/>
          </p:cNvSpPr>
          <p:nvPr/>
        </p:nvSpPr>
        <p:spPr bwMode="auto">
          <a:xfrm>
            <a:off x="1584723" y="2728913"/>
            <a:ext cx="1615678" cy="230832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fr-FR" sz="1800" dirty="0" err="1">
                <a:latin typeface="Times New Roman" panose="02020603050405020304" pitchFamily="18" charset="0"/>
              </a:rPr>
              <a:t>void</a:t>
            </a:r>
            <a:r>
              <a:rPr lang="fr-FR" sz="1800" dirty="0">
                <a:latin typeface="Times New Roman" panose="02020603050405020304" pitchFamily="18" charset="0"/>
              </a:rPr>
              <a:t> main ()</a:t>
            </a:r>
            <a:endParaRPr lang="fr-FR" sz="1800" dirty="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fr-FR" sz="1800" dirty="0">
                <a:latin typeface="Times New Roman" panose="02020603050405020304" pitchFamily="18" charset="0"/>
              </a:rPr>
              <a:t>{</a:t>
            </a:r>
            <a:endParaRPr lang="fr-FR" sz="1800" dirty="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fr-FR" sz="1800" dirty="0">
                <a:latin typeface="Times New Roman" panose="02020603050405020304" pitchFamily="18" charset="0"/>
              </a:rPr>
              <a:t>   </a:t>
            </a:r>
            <a:r>
              <a:rPr lang="fr-FR" sz="1800" dirty="0" err="1">
                <a:latin typeface="Times New Roman" panose="02020603050405020304" pitchFamily="18" charset="0"/>
              </a:rPr>
              <a:t>int</a:t>
            </a:r>
            <a:r>
              <a:rPr lang="fr-FR" sz="1800" dirty="0">
                <a:latin typeface="Times New Roman" panose="02020603050405020304" pitchFamily="18" charset="0"/>
              </a:rPr>
              <a:t> A;</a:t>
            </a:r>
            <a:endParaRPr lang="fr-FR" sz="1800" dirty="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fr-FR" sz="1800" dirty="0">
                <a:latin typeface="Times New Roman" panose="02020603050405020304" pitchFamily="18" charset="0"/>
              </a:rPr>
              <a:t>   </a:t>
            </a:r>
            <a:r>
              <a:rPr lang="fr-FR" sz="1800" dirty="0" err="1">
                <a:latin typeface="Times New Roman" panose="02020603050405020304" pitchFamily="18" charset="0"/>
              </a:rPr>
              <a:t>int</a:t>
            </a:r>
            <a:r>
              <a:rPr lang="fr-FR" sz="1800" dirty="0">
                <a:latin typeface="Times New Roman" panose="02020603050405020304" pitchFamily="18" charset="0"/>
              </a:rPr>
              <a:t> B;</a:t>
            </a:r>
            <a:endParaRPr lang="fr-FR" sz="1800" dirty="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fr-FR" sz="1800" dirty="0">
                <a:latin typeface="Times New Roman" panose="02020603050405020304" pitchFamily="18" charset="0"/>
              </a:rPr>
              <a:t>   A = 5;</a:t>
            </a:r>
            <a:endParaRPr lang="fr-FR" sz="1800" dirty="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fr-FR" sz="1800" dirty="0">
                <a:latin typeface="Times New Roman" panose="02020603050405020304" pitchFamily="18" charset="0"/>
              </a:rPr>
              <a:t>   F1 (A);</a:t>
            </a:r>
            <a:endParaRPr lang="fr-FR" sz="1800" dirty="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fr-FR" sz="1800" dirty="0">
                <a:latin typeface="Times New Roman" panose="02020603050405020304" pitchFamily="18" charset="0"/>
              </a:rPr>
              <a:t>   B = A;</a:t>
            </a:r>
            <a:endParaRPr lang="fr-FR" sz="1800" dirty="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fr-FR" sz="1800" dirty="0">
                <a:latin typeface="Times New Roman" panose="02020603050405020304" pitchFamily="18" charset="0"/>
              </a:rPr>
              <a:t>}</a:t>
            </a:r>
            <a:endParaRPr lang="en-GB" sz="1800" dirty="0">
              <a:latin typeface="Times New Roman" panose="02020603050405020304" pitchFamily="18" charset="0"/>
            </a:endParaRPr>
          </a:p>
        </p:txBody>
      </p:sp>
      <p:sp>
        <p:nvSpPr>
          <p:cNvPr id="19462" name="Text Box 6"/>
          <p:cNvSpPr txBox="1">
            <a:spLocks noChangeArrowheads="1"/>
          </p:cNvSpPr>
          <p:nvPr/>
        </p:nvSpPr>
        <p:spPr bwMode="auto">
          <a:xfrm>
            <a:off x="5886450" y="2728913"/>
            <a:ext cx="1615679" cy="230832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fr-FR" sz="1800">
                <a:latin typeface="Times New Roman" panose="02020603050405020304" pitchFamily="18" charset="0"/>
              </a:rPr>
              <a:t>void F1 (int X)</a:t>
            </a:r>
            <a:endParaRPr lang="fr-FR" sz="180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fr-FR" sz="1800">
                <a:latin typeface="Times New Roman" panose="02020603050405020304" pitchFamily="18" charset="0"/>
              </a:rPr>
              <a:t>{</a:t>
            </a:r>
            <a:endParaRPr lang="fr-FR" sz="180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fr-FR" sz="1800">
                <a:latin typeface="Times New Roman" panose="02020603050405020304" pitchFamily="18" charset="0"/>
              </a:rPr>
              <a:t>   int Y;</a:t>
            </a:r>
            <a:endParaRPr lang="fr-FR" sz="180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fr-FR" sz="180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fr-FR" sz="1800">
                <a:latin typeface="Times New Roman" panose="02020603050405020304" pitchFamily="18" charset="0"/>
              </a:rPr>
              <a:t>   Y = X;</a:t>
            </a:r>
            <a:endParaRPr lang="fr-FR" sz="180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fr-FR" sz="1800">
                <a:latin typeface="Times New Roman" panose="02020603050405020304" pitchFamily="18" charset="0"/>
              </a:rPr>
              <a:t>   </a:t>
            </a:r>
            <a:endParaRPr lang="fr-FR" sz="180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fr-FR" sz="1800">
                <a:latin typeface="Times New Roman" panose="02020603050405020304" pitchFamily="18" charset="0"/>
              </a:rPr>
              <a:t>   X = 6;</a:t>
            </a:r>
            <a:endParaRPr lang="fr-FR" sz="180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fr-FR" sz="1800">
                <a:latin typeface="Times New Roman" panose="02020603050405020304" pitchFamily="18" charset="0"/>
              </a:rPr>
              <a:t>}</a:t>
            </a:r>
            <a:endParaRPr lang="en-GB" sz="1800">
              <a:latin typeface="Times New Roman" panose="02020603050405020304" pitchFamily="18" charset="0"/>
            </a:endParaRPr>
          </a:p>
        </p:txBody>
      </p:sp>
      <p:sp>
        <p:nvSpPr>
          <p:cNvPr id="19463" name="Text Box 7"/>
          <p:cNvSpPr txBox="1">
            <a:spLocks noChangeArrowheads="1"/>
          </p:cNvSpPr>
          <p:nvPr/>
        </p:nvSpPr>
        <p:spPr bwMode="auto">
          <a:xfrm>
            <a:off x="3245645" y="2702719"/>
            <a:ext cx="29765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fr-FR" sz="1800">
                <a:latin typeface="Times New Roman" panose="02020603050405020304" pitchFamily="18" charset="0"/>
              </a:rPr>
              <a:t>A</a:t>
            </a:r>
            <a:endParaRPr lang="en-GB" sz="1800">
              <a:latin typeface="Times New Roman" panose="02020603050405020304" pitchFamily="18" charset="0"/>
            </a:endParaRPr>
          </a:p>
        </p:txBody>
      </p:sp>
      <p:sp>
        <p:nvSpPr>
          <p:cNvPr id="19464" name="Rectangle 8"/>
          <p:cNvSpPr>
            <a:spLocks noChangeArrowheads="1"/>
          </p:cNvSpPr>
          <p:nvPr/>
        </p:nvSpPr>
        <p:spPr bwMode="auto">
          <a:xfrm>
            <a:off x="3543300" y="2728913"/>
            <a:ext cx="228600" cy="3429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fr-FR" sz="1500"/>
          </a:p>
        </p:txBody>
      </p:sp>
      <p:sp>
        <p:nvSpPr>
          <p:cNvPr id="19465" name="Text Box 9"/>
          <p:cNvSpPr txBox="1">
            <a:spLocks noChangeArrowheads="1"/>
          </p:cNvSpPr>
          <p:nvPr/>
        </p:nvSpPr>
        <p:spPr bwMode="auto">
          <a:xfrm>
            <a:off x="3257551" y="3071813"/>
            <a:ext cx="29765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fr-FR" sz="1800">
                <a:latin typeface="Times New Roman" panose="02020603050405020304" pitchFamily="18" charset="0"/>
              </a:rPr>
              <a:t>B</a:t>
            </a:r>
            <a:endParaRPr lang="en-GB" sz="1800">
              <a:latin typeface="Times New Roman" panose="02020603050405020304" pitchFamily="18" charset="0"/>
            </a:endParaRPr>
          </a:p>
        </p:txBody>
      </p:sp>
      <p:sp>
        <p:nvSpPr>
          <p:cNvPr id="19466" name="Rectangle 10"/>
          <p:cNvSpPr>
            <a:spLocks noChangeArrowheads="1"/>
          </p:cNvSpPr>
          <p:nvPr/>
        </p:nvSpPr>
        <p:spPr bwMode="auto">
          <a:xfrm>
            <a:off x="3543300" y="3098006"/>
            <a:ext cx="228600" cy="3429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fr-FR" sz="1500"/>
          </a:p>
        </p:txBody>
      </p:sp>
      <p:sp>
        <p:nvSpPr>
          <p:cNvPr id="19467" name="Text Box 11"/>
          <p:cNvSpPr txBox="1">
            <a:spLocks noChangeArrowheads="1"/>
          </p:cNvSpPr>
          <p:nvPr/>
        </p:nvSpPr>
        <p:spPr bwMode="auto">
          <a:xfrm>
            <a:off x="5543551" y="3071813"/>
            <a:ext cx="29765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fr-FR" sz="1800">
                <a:latin typeface="Times New Roman" panose="02020603050405020304" pitchFamily="18" charset="0"/>
              </a:rPr>
              <a:t>X</a:t>
            </a:r>
            <a:endParaRPr lang="en-GB" sz="1800">
              <a:latin typeface="Times New Roman" panose="02020603050405020304" pitchFamily="18" charset="0"/>
            </a:endParaRPr>
          </a:p>
        </p:txBody>
      </p:sp>
      <p:sp>
        <p:nvSpPr>
          <p:cNvPr id="19468" name="Rectangle 12"/>
          <p:cNvSpPr>
            <a:spLocks noChangeArrowheads="1"/>
          </p:cNvSpPr>
          <p:nvPr/>
        </p:nvSpPr>
        <p:spPr bwMode="auto">
          <a:xfrm>
            <a:off x="5314950" y="3071813"/>
            <a:ext cx="228600" cy="3429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fr-FR" sz="1500"/>
          </a:p>
        </p:txBody>
      </p:sp>
      <p:sp>
        <p:nvSpPr>
          <p:cNvPr id="19471" name="Freeform 15"/>
          <p:cNvSpPr/>
          <p:nvPr/>
        </p:nvSpPr>
        <p:spPr bwMode="auto">
          <a:xfrm>
            <a:off x="3657600" y="2624138"/>
            <a:ext cx="1771650" cy="561975"/>
          </a:xfrm>
          <a:custGeom>
            <a:avLst/>
            <a:gdLst>
              <a:gd name="T0" fmla="*/ 0 w 1488"/>
              <a:gd name="T1" fmla="*/ 2147483647 h 472"/>
              <a:gd name="T2" fmla="*/ 2147483647 w 1488"/>
              <a:gd name="T3" fmla="*/ 2147483647 h 472"/>
              <a:gd name="T4" fmla="*/ 2147483647 w 1488"/>
              <a:gd name="T5" fmla="*/ 2147483647 h 472"/>
              <a:gd name="T6" fmla="*/ 0 60000 65536"/>
              <a:gd name="T7" fmla="*/ 0 60000 65536"/>
              <a:gd name="T8" fmla="*/ 0 60000 65536"/>
              <a:gd name="T9" fmla="*/ 0 w 1488"/>
              <a:gd name="T10" fmla="*/ 0 h 472"/>
              <a:gd name="T11" fmla="*/ 1488 w 1488"/>
              <a:gd name="T12" fmla="*/ 472 h 47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88" h="472">
                <a:moveTo>
                  <a:pt x="0" y="232"/>
                </a:moveTo>
                <a:cubicBezTo>
                  <a:pt x="332" y="116"/>
                  <a:pt x="664" y="0"/>
                  <a:pt x="912" y="40"/>
                </a:cubicBezTo>
                <a:cubicBezTo>
                  <a:pt x="1160" y="80"/>
                  <a:pt x="1392" y="400"/>
                  <a:pt x="1488" y="472"/>
                </a:cubicBezTo>
              </a:path>
            </a:pathLst>
          </a:custGeom>
          <a:noFill/>
          <a:ln w="25400">
            <a:solidFill>
              <a:schemeClr val="tx1"/>
            </a:solidFill>
            <a:prstDash val="lgDashDot"/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fr-FR" sz="1500"/>
          </a:p>
        </p:txBody>
      </p:sp>
      <p:sp>
        <p:nvSpPr>
          <p:cNvPr id="19" name="Forme libre 18"/>
          <p:cNvSpPr/>
          <p:nvPr/>
        </p:nvSpPr>
        <p:spPr bwMode="auto">
          <a:xfrm>
            <a:off x="2339752" y="2950370"/>
            <a:ext cx="923753" cy="1270718"/>
          </a:xfrm>
          <a:custGeom>
            <a:avLst/>
            <a:gdLst>
              <a:gd name="connsiteX0" fmla="*/ 0 w 1191126"/>
              <a:gd name="connsiteY0" fmla="*/ 1985211 h 1985211"/>
              <a:gd name="connsiteX1" fmla="*/ 577516 w 1191126"/>
              <a:gd name="connsiteY1" fmla="*/ 601579 h 1985211"/>
              <a:gd name="connsiteX2" fmla="*/ 1191126 w 1191126"/>
              <a:gd name="connsiteY2" fmla="*/ 0 h 1985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91126" h="1985211">
                <a:moveTo>
                  <a:pt x="0" y="1985211"/>
                </a:moveTo>
                <a:cubicBezTo>
                  <a:pt x="189497" y="1458829"/>
                  <a:pt x="378995" y="932447"/>
                  <a:pt x="577516" y="601579"/>
                </a:cubicBezTo>
                <a:cubicBezTo>
                  <a:pt x="776037" y="270711"/>
                  <a:pt x="983581" y="135355"/>
                  <a:pt x="1191126" y="0"/>
                </a:cubicBezTo>
              </a:path>
            </a:pathLst>
          </a:custGeom>
          <a:gradFill rotWithShape="0">
            <a:gsLst>
              <a:gs pos="0">
                <a:schemeClr val="bg2"/>
              </a:gs>
              <a:gs pos="50000">
                <a:schemeClr val="bg1"/>
              </a:gs>
              <a:gs pos="100000">
                <a:schemeClr val="bg2"/>
              </a:gs>
            </a:gsLst>
            <a:lin ang="5400000" scaled="1"/>
          </a:gradFill>
          <a:ln w="9525" cap="flat" cmpd="sng" algn="ctr">
            <a:solidFill>
              <a:schemeClr val="tx1"/>
            </a:solidFill>
            <a:prstDash val="lgDash"/>
            <a:round/>
            <a:headEnd type="none" w="med" len="med"/>
            <a:tailEnd type="triangle" w="med" len="med"/>
          </a:ln>
          <a:effectLst/>
        </p:spPr>
        <p:txBody>
          <a:bodyPr lIns="67500" tIns="35100" rIns="67500" bIns="35100"/>
          <a:lstStyle/>
          <a:p>
            <a:pPr marL="257175" indent="-257175">
              <a:buBlip>
                <a:blip r:embed="rId1"/>
              </a:buBlip>
              <a:defRPr/>
            </a:pPr>
            <a:endParaRPr lang="fr-FR" sz="1350"/>
          </a:p>
        </p:txBody>
      </p:sp>
      <p:sp>
        <p:nvSpPr>
          <p:cNvPr id="9" name="Rectangle 8"/>
          <p:cNvSpPr/>
          <p:nvPr/>
        </p:nvSpPr>
        <p:spPr>
          <a:xfrm>
            <a:off x="926053" y="613189"/>
            <a:ext cx="7773521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Passage par copie de valeur</a:t>
            </a:r>
            <a:endParaRPr lang="fr-FR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Zone de texte 2"/>
          <p:cNvSpPr txBox="1"/>
          <p:nvPr/>
        </p:nvSpPr>
        <p:spPr>
          <a:xfrm>
            <a:off x="3486150" y="2729230"/>
            <a:ext cx="3663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b="1">
                <a:solidFill>
                  <a:schemeClr val="accent2"/>
                </a:solidFill>
              </a:rPr>
              <a:t>5</a:t>
            </a:r>
            <a:endParaRPr lang="fr-FR" altLang="en-US" b="1">
              <a:solidFill>
                <a:schemeClr val="accent2"/>
              </a:solidFill>
            </a:endParaRPr>
          </a:p>
        </p:txBody>
      </p:sp>
      <p:sp>
        <p:nvSpPr>
          <p:cNvPr id="4" name="Zone de texte 3"/>
          <p:cNvSpPr txBox="1"/>
          <p:nvPr/>
        </p:nvSpPr>
        <p:spPr>
          <a:xfrm>
            <a:off x="5314950" y="3046730"/>
            <a:ext cx="3663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b="1">
                <a:solidFill>
                  <a:schemeClr val="accent2"/>
                </a:solidFill>
              </a:rPr>
              <a:t>5</a:t>
            </a:r>
            <a:endParaRPr lang="fr-FR" altLang="en-US" b="1">
              <a:solidFill>
                <a:schemeClr val="accent2"/>
              </a:solidFill>
            </a:endParaRPr>
          </a:p>
        </p:txBody>
      </p:sp>
      <p:sp>
        <p:nvSpPr>
          <p:cNvPr id="2" name="Zone de texte 1"/>
          <p:cNvSpPr txBox="1"/>
          <p:nvPr/>
        </p:nvSpPr>
        <p:spPr>
          <a:xfrm>
            <a:off x="4827905" y="3512185"/>
            <a:ext cx="3663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b="1">
                <a:solidFill>
                  <a:schemeClr val="accent2"/>
                </a:solidFill>
              </a:rPr>
              <a:t>6</a:t>
            </a:r>
            <a:endParaRPr lang="fr-FR" altLang="en-US" b="1">
              <a:solidFill>
                <a:schemeClr val="accent2"/>
              </a:solidFill>
            </a:endParaRPr>
          </a:p>
        </p:txBody>
      </p:sp>
      <p:sp>
        <p:nvSpPr>
          <p:cNvPr id="5" name="Rectangle 10"/>
          <p:cNvSpPr>
            <a:spLocks noChangeArrowheads="1"/>
          </p:cNvSpPr>
          <p:nvPr/>
        </p:nvSpPr>
        <p:spPr bwMode="auto">
          <a:xfrm>
            <a:off x="4896485" y="3512026"/>
            <a:ext cx="228600" cy="3429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fr-FR" sz="1500"/>
          </a:p>
        </p:txBody>
      </p:sp>
      <p:sp>
        <p:nvSpPr>
          <p:cNvPr id="6" name="Text Box 9"/>
          <p:cNvSpPr txBox="1">
            <a:spLocks noChangeArrowheads="1"/>
          </p:cNvSpPr>
          <p:nvPr/>
        </p:nvSpPr>
        <p:spPr bwMode="auto">
          <a:xfrm>
            <a:off x="3852545" y="3512185"/>
            <a:ext cx="975995" cy="306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fr-FR" sz="1400">
                <a:latin typeface="Times New Roman" panose="02020603050405020304" pitchFamily="18" charset="0"/>
              </a:rPr>
              <a:t>copie de X</a:t>
            </a:r>
            <a:endParaRPr lang="fr-FR" sz="1400">
              <a:latin typeface="Times New Roman" panose="02020603050405020304" pitchFamily="18" charset="0"/>
            </a:endParaRPr>
          </a:p>
        </p:txBody>
      </p:sp>
      <p:sp>
        <p:nvSpPr>
          <p:cNvPr id="7" name="Text Box 9"/>
          <p:cNvSpPr txBox="1">
            <a:spLocks noChangeArrowheads="1"/>
          </p:cNvSpPr>
          <p:nvPr/>
        </p:nvSpPr>
        <p:spPr bwMode="auto">
          <a:xfrm>
            <a:off x="3852545" y="3914140"/>
            <a:ext cx="975995" cy="306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fr-FR" sz="1400">
                <a:latin typeface="Times New Roman" panose="02020603050405020304" pitchFamily="18" charset="0"/>
              </a:rPr>
              <a:t>copie de Y</a:t>
            </a:r>
            <a:endParaRPr lang="fr-FR" sz="1400">
              <a:latin typeface="Times New Roman" panose="02020603050405020304" pitchFamily="18" charset="0"/>
            </a:endParaRPr>
          </a:p>
        </p:txBody>
      </p:sp>
      <p:sp>
        <p:nvSpPr>
          <p:cNvPr id="8" name="Rectangle 10"/>
          <p:cNvSpPr>
            <a:spLocks noChangeArrowheads="1"/>
          </p:cNvSpPr>
          <p:nvPr/>
        </p:nvSpPr>
        <p:spPr bwMode="auto">
          <a:xfrm>
            <a:off x="4897120" y="3896201"/>
            <a:ext cx="228600" cy="3429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fr-FR" sz="1500"/>
          </a:p>
        </p:txBody>
      </p:sp>
      <p:sp>
        <p:nvSpPr>
          <p:cNvPr id="10" name="Zone de texte 9"/>
          <p:cNvSpPr txBox="1"/>
          <p:nvPr/>
        </p:nvSpPr>
        <p:spPr>
          <a:xfrm>
            <a:off x="4824730" y="3870960"/>
            <a:ext cx="3663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b="1">
                <a:solidFill>
                  <a:schemeClr val="accent2"/>
                </a:solidFill>
              </a:rPr>
              <a:t>5</a:t>
            </a:r>
            <a:endParaRPr lang="fr-FR" altLang="en-US" b="1">
              <a:solidFill>
                <a:schemeClr val="accent2"/>
              </a:solidFill>
            </a:endParaRPr>
          </a:p>
        </p:txBody>
      </p:sp>
      <p:sp>
        <p:nvSpPr>
          <p:cNvPr id="11" name="Triangle isocèle 10"/>
          <p:cNvSpPr/>
          <p:nvPr/>
        </p:nvSpPr>
        <p:spPr>
          <a:xfrm rot="16200000">
            <a:off x="6943090" y="4483100"/>
            <a:ext cx="321310" cy="155575"/>
          </a:xfrm>
          <a:prstGeom prst="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  <p:sp>
        <p:nvSpPr>
          <p:cNvPr id="9" name="Espace réservé du contenu 2"/>
          <p:cNvSpPr txBox="1"/>
          <p:nvPr/>
        </p:nvSpPr>
        <p:spPr>
          <a:xfrm>
            <a:off x="107504" y="1296715"/>
            <a:ext cx="8579296" cy="46439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228600" lvl="1" indent="-228600">
              <a:defRPr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max(int v1,int v2);</a:t>
            </a: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1" indent="-228600">
              <a:defRPr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main()</a:t>
            </a: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1" indent="-228600">
              <a:defRPr/>
            </a:pPr>
            <a:r>
              <a:rPr lang="fr-FR" sz="2000">
                <a:latin typeface="Times New Roman" panose="02020603050405020304" pitchFamily="18" charset="0"/>
                <a:cs typeface="Times New Roman" panose="02020603050405020304" pitchFamily="18" charset="0"/>
              </a:rPr>
              <a:t>{ </a:t>
            </a:r>
            <a:endParaRPr lang="fr-FR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1" indent="-228600">
              <a:defRPr/>
            </a:pPr>
            <a:r>
              <a:rPr lang="fr-FR" sz="2000">
                <a:latin typeface="Times New Roman" panose="02020603050405020304" pitchFamily="18" charset="0"/>
                <a:cs typeface="Times New Roman" panose="02020603050405020304" pitchFamily="18" charset="0"/>
              </a:rPr>
              <a:t>	int </a:t>
            </a:r>
            <a:r>
              <a:rPr lang="fr-F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a,b,m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1" indent="-228600">
              <a:defRPr/>
            </a:pPr>
            <a:r>
              <a:rPr lang="fr-FR" sz="2000">
                <a:latin typeface="Times New Roman" panose="02020603050405020304" pitchFamily="18" charset="0"/>
                <a:cs typeface="Times New Roman" panose="02020603050405020304" pitchFamily="18" charset="0"/>
              </a:rPr>
              <a:t>	printf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("introduire a et b\n");</a:t>
            </a: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1" indent="-228600">
              <a:defRPr/>
            </a:pPr>
            <a:r>
              <a:rPr lang="fr-FR" sz="2000">
                <a:latin typeface="Times New Roman" panose="02020603050405020304" pitchFamily="18" charset="0"/>
                <a:cs typeface="Times New Roman" panose="02020603050405020304" pitchFamily="18" charset="0"/>
              </a:rPr>
              <a:t>	scanf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("%</a:t>
            </a:r>
            <a:r>
              <a:rPr lang="fr-F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d%d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",&amp;</a:t>
            </a:r>
            <a:r>
              <a:rPr lang="fr-F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a,&amp;b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1" indent="-228600">
              <a:defRPr/>
            </a:pPr>
            <a:r>
              <a:rPr lang="fr-FR" sz="22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m=max(a,b</a:t>
            </a:r>
            <a:r>
              <a:rPr lang="fr-FR" sz="2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fr-FR" sz="2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1" indent="-228600">
              <a:defRPr/>
            </a:pPr>
            <a:r>
              <a:rPr lang="fr-FR" sz="2000">
                <a:latin typeface="Times New Roman" panose="02020603050405020304" pitchFamily="18" charset="0"/>
                <a:cs typeface="Times New Roman" panose="02020603050405020304" pitchFamily="18" charset="0"/>
              </a:rPr>
              <a:t>	printf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("\ n le maximum est %</a:t>
            </a:r>
            <a:r>
              <a:rPr lang="fr-F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d",m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1" indent="-228600">
              <a:defRPr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1" indent="-228600">
              <a:defRPr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max(int v1,int v2)</a:t>
            </a: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1" indent="-228600">
              <a:defRPr/>
            </a:pPr>
            <a:r>
              <a:rPr lang="fr-FR" sz="200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fr-FR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1" indent="-228600">
              <a:defRPr/>
            </a:pPr>
            <a:r>
              <a:rPr lang="fr-FR" sz="2000">
                <a:latin typeface="Times New Roman" panose="02020603050405020304" pitchFamily="18" charset="0"/>
                <a:cs typeface="Times New Roman" panose="02020603050405020304" pitchFamily="18" charset="0"/>
              </a:rPr>
              <a:t>	if(v1&gt;v2) </a:t>
            </a:r>
            <a:endParaRPr lang="fr-FR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1" indent="-228600">
              <a:defRPr/>
            </a:pPr>
            <a:r>
              <a:rPr lang="fr-FR" sz="2000">
                <a:latin typeface="Times New Roman" panose="02020603050405020304" pitchFamily="18" charset="0"/>
                <a:cs typeface="Times New Roman" panose="02020603050405020304" pitchFamily="18" charset="0"/>
              </a:rPr>
              <a:t>		return 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v1;</a:t>
            </a: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1" indent="-228600">
              <a:defRPr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fr-FR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r>
              <a:rPr lang="fr-FR" sz="200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fr-FR" sz="2000">
              <a:solidFill>
                <a:srgbClr val="1C9C4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1" indent="-228600">
              <a:defRPr/>
            </a:pPr>
            <a:r>
              <a:rPr lang="fr-FR" sz="2000">
                <a:latin typeface="Times New Roman" panose="02020603050405020304" pitchFamily="18" charset="0"/>
                <a:cs typeface="Times New Roman" panose="02020603050405020304" pitchFamily="18" charset="0"/>
              </a:rPr>
              <a:t>		return 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v2;</a:t>
            </a: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1" indent="-228600">
              <a:defRPr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kumimoji="0" lang="fr-FR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" name="Espace réservé du contenu 2"/>
          <p:cNvSpPr txBox="1"/>
          <p:nvPr/>
        </p:nvSpPr>
        <p:spPr>
          <a:xfrm>
            <a:off x="457200" y="1000108"/>
            <a:ext cx="8435280" cy="52372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914400" marR="0" lvl="1" indent="-4572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anose="05000000000000000000" pitchFamily="2" charset="2"/>
              <a:buChar char="q"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Bulle narrative : rectangle 1"/>
          <p:cNvSpPr/>
          <p:nvPr/>
        </p:nvSpPr>
        <p:spPr>
          <a:xfrm>
            <a:off x="4653354" y="2780928"/>
            <a:ext cx="3193363" cy="837782"/>
          </a:xfrm>
          <a:prstGeom prst="wedgeRectCallout">
            <a:avLst>
              <a:gd name="adj1" fmla="val -132744"/>
              <a:gd name="adj2" fmla="val 24135"/>
            </a:avLst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 valeur de a est copié dans v1</a:t>
            </a:r>
            <a:endParaRPr lang="fr-F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fr-F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valeur de b est copié dans v2 </a:t>
            </a:r>
            <a:endParaRPr lang="fr-F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Bulle narrative : rectangle à coins arrondis 2"/>
          <p:cNvSpPr/>
          <p:nvPr/>
        </p:nvSpPr>
        <p:spPr>
          <a:xfrm>
            <a:off x="4644008" y="4725144"/>
            <a:ext cx="3630079" cy="1215026"/>
          </a:xfrm>
          <a:prstGeom prst="wedgeRoundRectCallout">
            <a:avLst>
              <a:gd name="adj1" fmla="val -106331"/>
              <a:gd name="adj2" fmla="val 10454"/>
              <a:gd name="adj3" fmla="val 16667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fr-F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L’appel de la fonction prend comme valeur la </a:t>
            </a:r>
            <a:r>
              <a:rPr lang="fr-F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valeur renvoyée </a:t>
            </a:r>
            <a:r>
              <a:rPr lang="fr-F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 l’instruction return </a:t>
            </a:r>
            <a:endParaRPr lang="fr-F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26053" y="613189"/>
            <a:ext cx="7773521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Passage par copie de valeur</a:t>
            </a:r>
            <a:endParaRPr lang="fr-FR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28650" y="1484784"/>
            <a:ext cx="8335838" cy="72008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400" i="1" dirty="0">
                <a:solidFill>
                  <a:srgbClr val="0070C0"/>
                </a:solidFill>
              </a:rPr>
              <a:t>Que se passe-t-il ?</a:t>
            </a:r>
            <a:endParaRPr lang="fr-FR" sz="2400" i="1" dirty="0">
              <a:solidFill>
                <a:srgbClr val="0070C0"/>
              </a:solidFill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664" y="2039286"/>
            <a:ext cx="5836177" cy="470208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926053" y="613189"/>
            <a:ext cx="7773521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Passage par copie de valeur</a:t>
            </a:r>
            <a:endParaRPr lang="fr-FR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67544" y="1072122"/>
            <a:ext cx="8496944" cy="595677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926053" y="613189"/>
            <a:ext cx="7773521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Passage par copie de valeur</a:t>
            </a:r>
            <a:endParaRPr lang="fr-FR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  <p:sp>
        <p:nvSpPr>
          <p:cNvPr id="6" name="Rectangle 5"/>
          <p:cNvSpPr/>
          <p:nvPr/>
        </p:nvSpPr>
        <p:spPr>
          <a:xfrm>
            <a:off x="143508" y="2276872"/>
            <a:ext cx="8856984" cy="1783715"/>
          </a:xfrm>
          <a:prstGeom prst="rect">
            <a:avLst/>
          </a:prstGeom>
          <a:blipFill>
            <a:blip r:embed="rId1" cstate="print"/>
            <a:tile tx="0" ty="0" sx="100000" sy="100000" flip="none" algn="tl"/>
          </a:blipFill>
          <a:ln w="1905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Toutes les modifications effectuées sur le </a:t>
            </a:r>
            <a:r>
              <a:rPr lang="fr-FR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paramètre formel </a:t>
            </a:r>
            <a:r>
              <a:rPr lang="fr-FR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n'affectent que cette valeur locale et </a:t>
            </a:r>
            <a:r>
              <a:rPr lang="fr-FR" sz="2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 sont pas visibles dans </a:t>
            </a:r>
            <a:r>
              <a:rPr lang="fr-FR" sz="2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fonction appelante</a:t>
            </a:r>
            <a:r>
              <a:rPr lang="fr-FR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fr-FR" sz="2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fonction ne travaille que sur </a:t>
            </a:r>
            <a:r>
              <a:rPr lang="fr-FR" sz="2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une copie </a:t>
            </a:r>
            <a:r>
              <a:rPr lang="fr-FR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qui va être supprimée à la fin de la fonction.</a:t>
            </a:r>
            <a:endParaRPr lang="fr-F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26053" y="613189"/>
            <a:ext cx="7773521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Passage par copie de valeur</a:t>
            </a:r>
            <a:endParaRPr lang="fr-FR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  <p:sp>
        <p:nvSpPr>
          <p:cNvPr id="12" name="CustomShape 5"/>
          <p:cNvSpPr/>
          <p:nvPr/>
        </p:nvSpPr>
        <p:spPr>
          <a:xfrm>
            <a:off x="714348" y="1571612"/>
            <a:ext cx="8215370" cy="414340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/>
          <a:lstStyle/>
          <a:p>
            <a:pPr algn="just">
              <a:buFontTx/>
              <a:buChar char="-"/>
            </a:pPr>
            <a:r>
              <a:rPr lang="fr-FR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 C, </a:t>
            </a:r>
            <a:r>
              <a:rPr lang="fr-FR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fr-FR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ne permet de retourner qu’</a:t>
            </a:r>
            <a:r>
              <a:rPr lang="fr-FR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une seule </a:t>
            </a:r>
            <a:r>
              <a:rPr lang="fr-FR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valeur.</a:t>
            </a:r>
            <a:endParaRPr lang="fr-FR" sz="24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Tx/>
              <a:buChar char="-"/>
            </a:pPr>
            <a:endParaRPr lang="fr-FR" sz="24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Tx/>
              <a:buChar char="-"/>
            </a:pPr>
            <a:r>
              <a:rPr lang="fr-FR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Parfois une fonction doit retourner </a:t>
            </a:r>
            <a:r>
              <a:rPr lang="fr-FR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plusieurs </a:t>
            </a:r>
            <a:r>
              <a:rPr lang="fr-FR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résultats en sortie.</a:t>
            </a:r>
            <a:endParaRPr lang="fr-FR" sz="24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fr-FR" sz="24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fr-FR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-Il n’y a qu’une solution pour retourner plusieurs résultats: passer en </a:t>
            </a:r>
            <a:endParaRPr lang="fr-FR" sz="24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fr-FR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paramètre  l’</a:t>
            </a:r>
            <a:r>
              <a:rPr lang="fr-FR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adresse</a:t>
            </a:r>
            <a:r>
              <a:rPr lang="fr-FR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des variables où seront stockés les résultats.</a:t>
            </a:r>
            <a:endParaRPr lang="fr-FR" sz="24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fr-FR" sz="24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Tx/>
              <a:buChar char="-"/>
            </a:pPr>
            <a:r>
              <a:rPr lang="fr-FR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 passage par adresse est aussi utile pour modifier  le contenu des </a:t>
            </a:r>
            <a:endParaRPr lang="fr-FR" sz="24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fr-FR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variables  déclarées dans d’autres fonctions .</a:t>
            </a:r>
            <a:endParaRPr lang="fr-FR" sz="24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fr-FR" sz="2000" dirty="0"/>
          </a:p>
          <a:p>
            <a:pPr algn="just">
              <a:buFontTx/>
              <a:buChar char="-"/>
            </a:pP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Tx/>
              <a:buChar char="-"/>
            </a:pP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Tx/>
              <a:buChar char="-"/>
            </a:pP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Tx/>
              <a:buChar char="-"/>
            </a:pP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Tx/>
              <a:buChar char="-"/>
            </a:pP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Tx/>
              <a:buChar char="-"/>
            </a:pP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Tx/>
              <a:buChar char="-"/>
            </a:pP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Tx/>
              <a:buChar char="-"/>
            </a:pP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ZoneTexte 2"/>
          <p:cNvSpPr txBox="1"/>
          <p:nvPr/>
        </p:nvSpPr>
        <p:spPr>
          <a:xfrm>
            <a:off x="971600" y="668667"/>
            <a:ext cx="46688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Passage par adresse</a:t>
            </a:r>
            <a:endParaRPr lang="fr-FR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  <p:sp>
        <p:nvSpPr>
          <p:cNvPr id="12" name="CustomShape 5"/>
          <p:cNvSpPr/>
          <p:nvPr/>
        </p:nvSpPr>
        <p:spPr>
          <a:xfrm>
            <a:off x="251520" y="958644"/>
            <a:ext cx="6912768" cy="57150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/>
          <a:lstStyle/>
          <a:p>
            <a:pPr algn="just">
              <a:buFontTx/>
              <a:buChar char="-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Exemple: Une fonction qui retourne le minimum et le maximum  de deux entiers a et b.</a:t>
            </a: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fr-FR" b="1" dirty="0" err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/>
            <a:r>
              <a:rPr lang="fr-FR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fr-FR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min_max</a:t>
            </a:r>
            <a:r>
              <a:rPr lang="fr-FR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FR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fr-FR" b="1" dirty="0">
                <a:latin typeface="Courier New" panose="02070309020205020404" pitchFamily="49" charset="0"/>
                <a:cs typeface="Courier New" panose="02070309020205020404" pitchFamily="49" charset="0"/>
              </a:rPr>
              <a:t> a, </a:t>
            </a:r>
            <a:r>
              <a:rPr lang="fr-FR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fr-FR" b="1" dirty="0">
                <a:latin typeface="Courier New" panose="02070309020205020404" pitchFamily="49" charset="0"/>
                <a:cs typeface="Courier New" panose="02070309020205020404" pitchFamily="49" charset="0"/>
              </a:rPr>
              <a:t> b, </a:t>
            </a:r>
            <a:r>
              <a:rPr lang="fr-FR" sz="2000" b="1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fr-FR" sz="20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fr-FR" sz="2000" b="1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pmin</a:t>
            </a:r>
            <a:r>
              <a:rPr lang="fr-FR" sz="20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fr-FR" sz="2000" b="1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fr-FR" sz="20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 </a:t>
            </a:r>
            <a:r>
              <a:rPr lang="fr-FR" sz="2000" b="1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pmax</a:t>
            </a:r>
            <a:r>
              <a:rPr lang="fr-FR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fr-FR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/>
            <a:r>
              <a:rPr lang="fr-FR" b="1" dirty="0">
                <a:latin typeface="Courier New" panose="02070309020205020404" pitchFamily="49" charset="0"/>
                <a:cs typeface="Courier New" panose="02070309020205020404" pitchFamily="49" charset="0"/>
              </a:rPr>
              <a:t>{   </a:t>
            </a:r>
            <a:endParaRPr lang="fr-FR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/>
            <a:r>
              <a:rPr lang="fr-FR" b="1" dirty="0">
                <a:latin typeface="Courier New" panose="02070309020205020404" pitchFamily="49" charset="0"/>
                <a:cs typeface="Courier New" panose="02070309020205020404" pitchFamily="49" charset="0"/>
              </a:rPr>
              <a:t>if(a&lt;b) {</a:t>
            </a:r>
            <a:endParaRPr lang="fr-FR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/>
            <a:r>
              <a:rPr lang="fr-FR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*</a:t>
            </a:r>
            <a:r>
              <a:rPr lang="fr-FR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pmin</a:t>
            </a:r>
            <a:r>
              <a:rPr lang="fr-FR" b="1" dirty="0">
                <a:latin typeface="Courier New" panose="02070309020205020404" pitchFamily="49" charset="0"/>
                <a:cs typeface="Courier New" panose="02070309020205020404" pitchFamily="49" charset="0"/>
              </a:rPr>
              <a:t>=a;</a:t>
            </a:r>
            <a:endParaRPr lang="fr-FR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/>
            <a:r>
              <a:rPr lang="fr-FR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*</a:t>
            </a:r>
            <a:r>
              <a:rPr lang="fr-FR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pmax</a:t>
            </a:r>
            <a:r>
              <a:rPr lang="fr-FR" b="1" dirty="0">
                <a:latin typeface="Courier New" panose="02070309020205020404" pitchFamily="49" charset="0"/>
                <a:cs typeface="Courier New" panose="02070309020205020404" pitchFamily="49" charset="0"/>
              </a:rPr>
              <a:t>=b;</a:t>
            </a:r>
            <a:endParaRPr lang="fr-FR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/>
            <a:r>
              <a:rPr lang="fr-FR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}</a:t>
            </a:r>
            <a:endParaRPr lang="fr-FR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/>
            <a:r>
              <a:rPr lang="fr-FR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fr-FR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fr-FR" b="1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  <a:endParaRPr lang="fr-FR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/>
            <a:r>
              <a:rPr lang="fr-FR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*</a:t>
            </a:r>
            <a:r>
              <a:rPr lang="fr-FR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pmin</a:t>
            </a:r>
            <a:r>
              <a:rPr lang="fr-FR" b="1" dirty="0">
                <a:latin typeface="Courier New" panose="02070309020205020404" pitchFamily="49" charset="0"/>
                <a:cs typeface="Courier New" panose="02070309020205020404" pitchFamily="49" charset="0"/>
              </a:rPr>
              <a:t>=b;</a:t>
            </a:r>
            <a:endParaRPr lang="fr-FR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/>
            <a:r>
              <a:rPr lang="fr-FR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*</a:t>
            </a:r>
            <a:r>
              <a:rPr lang="fr-FR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pmax</a:t>
            </a:r>
            <a:r>
              <a:rPr lang="fr-FR" b="1" dirty="0">
                <a:latin typeface="Courier New" panose="02070309020205020404" pitchFamily="49" charset="0"/>
                <a:cs typeface="Courier New" panose="02070309020205020404" pitchFamily="49" charset="0"/>
              </a:rPr>
              <a:t>=a;</a:t>
            </a:r>
            <a:endParaRPr lang="fr-FR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/>
            <a:r>
              <a:rPr lang="fr-FR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}</a:t>
            </a:r>
            <a:endParaRPr lang="fr-FR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/>
            <a:r>
              <a:rPr lang="fr-FR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fr-FR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/>
            <a:endParaRPr lang="fr-FR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/>
            <a:r>
              <a:rPr lang="fr-FR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fr-FR" b="1" dirty="0">
                <a:latin typeface="Courier New" panose="02070309020205020404" pitchFamily="49" charset="0"/>
                <a:cs typeface="Courier New" panose="02070309020205020404" pitchFamily="49" charset="0"/>
              </a:rPr>
              <a:t> main()</a:t>
            </a:r>
            <a:endParaRPr lang="fr-FR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/>
            <a:r>
              <a:rPr lang="fr-FR" b="1" dirty="0">
                <a:latin typeface="Courier New" panose="02070309020205020404" pitchFamily="49" charset="0"/>
                <a:cs typeface="Courier New" panose="02070309020205020404" pitchFamily="49" charset="0"/>
              </a:rPr>
              <a:t>{  </a:t>
            </a:r>
            <a:endParaRPr lang="fr-FR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/>
            <a:r>
              <a:rPr lang="fr-FR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fr-FR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fr-FR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a,b</a:t>
            </a:r>
            <a:r>
              <a:rPr lang="fr-FR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fr-FR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min,max</a:t>
            </a:r>
            <a:r>
              <a:rPr lang="fr-FR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fr-FR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/>
            <a:r>
              <a:rPr lang="fr-FR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fr-FR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fr-FR" b="1" dirty="0">
                <a:latin typeface="Courier New" panose="02070309020205020404" pitchFamily="49" charset="0"/>
                <a:cs typeface="Courier New" panose="02070309020205020404" pitchFamily="49" charset="0"/>
              </a:rPr>
              <a:t>("Entrer deux entiers");</a:t>
            </a:r>
            <a:endParaRPr lang="fr-FR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/>
            <a:r>
              <a:rPr lang="fr-FR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fr-FR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scanf</a:t>
            </a:r>
            <a:r>
              <a:rPr lang="fr-FR" b="1" dirty="0">
                <a:latin typeface="Courier New" panose="02070309020205020404" pitchFamily="49" charset="0"/>
                <a:cs typeface="Courier New" panose="02070309020205020404" pitchFamily="49" charset="0"/>
              </a:rPr>
              <a:t>("%d  %d", &amp;a,&amp;b);</a:t>
            </a:r>
            <a:endParaRPr lang="fr-FR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/>
            <a:r>
              <a:rPr lang="fr-FR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fr-FR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min_max</a:t>
            </a:r>
            <a:r>
              <a:rPr lang="fr-FR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FR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a,b</a:t>
            </a:r>
            <a:r>
              <a:rPr lang="fr-FR" b="1" dirty="0">
                <a:latin typeface="Courier New" panose="02070309020205020404" pitchFamily="49" charset="0"/>
                <a:cs typeface="Courier New" panose="02070309020205020404" pitchFamily="49" charset="0"/>
              </a:rPr>
              <a:t>,&amp;min,&amp;max); </a:t>
            </a:r>
            <a:endParaRPr lang="fr-FR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/>
            <a:r>
              <a:rPr lang="fr-FR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printf("le min est %d le max est %d",</a:t>
            </a:r>
            <a:r>
              <a:rPr lang="fr-FR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min,max</a:t>
            </a:r>
            <a:r>
              <a:rPr lang="fr-FR" b="1" dirty="0"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  <a:endParaRPr lang="fr-FR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/>
            <a:r>
              <a:rPr lang="fr-FR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fr-FR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buFontTx/>
              <a:buChar char="-"/>
            </a:pP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Tx/>
              <a:buChar char="-"/>
            </a:pP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Tx/>
              <a:buChar char="-"/>
            </a:pP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Tx/>
              <a:buChar char="-"/>
            </a:pP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Tx/>
              <a:buChar char="-"/>
            </a:pP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Tx/>
              <a:buChar char="-"/>
            </a:pP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Tx/>
              <a:buChar char="-"/>
            </a:pP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Tx/>
              <a:buChar char="-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Pour retourner plusieurs résultats, la fonction n’a qu’à prendre l’adresse </a:t>
            </a: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 variables ou stocker les résultats </a:t>
            </a: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ZoneTexte 1"/>
          <p:cNvSpPr txBox="1"/>
          <p:nvPr/>
        </p:nvSpPr>
        <p:spPr>
          <a:xfrm>
            <a:off x="827584" y="404664"/>
            <a:ext cx="46688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Passage par adresse</a:t>
            </a:r>
            <a:endParaRPr lang="fr-FR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5516" y="1219890"/>
            <a:ext cx="8928484" cy="5305454"/>
          </a:xfrm>
        </p:spPr>
        <p:txBody>
          <a:bodyPr>
            <a:noAutofit/>
          </a:bodyPr>
          <a:lstStyle/>
          <a:p>
            <a:pPr marL="0" lvl="2" indent="0" algn="just">
              <a:lnSpc>
                <a:spcPct val="150000"/>
              </a:lnSpc>
              <a:spcBef>
                <a:spcPts val="0"/>
              </a:spcBef>
              <a:buClr>
                <a:srgbClr val="C00000"/>
              </a:buClr>
              <a:defRPr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appelle passage par adresse quand le paramètre </a:t>
            </a:r>
            <a:r>
              <a:rPr lang="fr-FR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effectif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qui est transmis à la fonction lors de l'appel est </a:t>
            </a:r>
            <a:r>
              <a:rPr lang="fr-FR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l'adresse de la variable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fr-F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2" indent="0" algn="just">
              <a:lnSpc>
                <a:spcPct val="150000"/>
              </a:lnSpc>
              <a:spcBef>
                <a:spcPts val="0"/>
              </a:spcBef>
              <a:buClr>
                <a:srgbClr val="C00000"/>
              </a:buClr>
              <a:defRPr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fonction ne travaille plus sur une copie de l'objet mais sur l'objet lui même, puisque elle en connait l'adresse.</a:t>
            </a:r>
            <a:endParaRPr lang="fr-F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2" indent="0" algn="just">
              <a:lnSpc>
                <a:spcPct val="150000"/>
              </a:lnSpc>
              <a:spcBef>
                <a:spcPts val="0"/>
              </a:spcBef>
              <a:buClr>
                <a:srgbClr val="C00000"/>
              </a:buClr>
              <a:buNone/>
              <a:defRPr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➔ Le paramètre effectif est alors l'adresse de la </a:t>
            </a:r>
            <a:r>
              <a:rPr lang="fr-FR" sz="2200">
                <a:latin typeface="Times New Roman" panose="02020603050405020304" pitchFamily="18" charset="0"/>
                <a:cs typeface="Times New Roman" panose="02020603050405020304" pitchFamily="18" charset="0"/>
              </a:rPr>
              <a:t>variable.</a:t>
            </a:r>
            <a:endParaRPr lang="fr-F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2" indent="0" algn="just">
              <a:lnSpc>
                <a:spcPct val="150000"/>
              </a:lnSpc>
              <a:spcBef>
                <a:spcPts val="0"/>
              </a:spcBef>
              <a:buClr>
                <a:srgbClr val="C00000"/>
              </a:buClr>
              <a:defRPr/>
            </a:pPr>
            <a:r>
              <a:rPr lang="fr-FR" sz="2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Principe :</a:t>
            </a:r>
            <a:endParaRPr lang="fr-FR" sz="22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2" indent="0" algn="just">
              <a:lnSpc>
                <a:spcPct val="150000"/>
              </a:lnSpc>
              <a:spcBef>
                <a:spcPts val="0"/>
              </a:spcBef>
              <a:buClr>
                <a:srgbClr val="C00000"/>
              </a:buClr>
              <a:defRPr/>
            </a:pPr>
            <a:r>
              <a:rPr lang="fr-FR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fonction appelée 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range </a:t>
            </a:r>
            <a:r>
              <a:rPr lang="fr-FR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l'adresse transmise 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dans un paramètre approprié</a:t>
            </a:r>
            <a:endParaRPr lang="fr-F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2" indent="0" algn="just">
              <a:lnSpc>
                <a:spcPct val="150000"/>
              </a:lnSpc>
              <a:spcBef>
                <a:spcPts val="0"/>
              </a:spcBef>
              <a:buClr>
                <a:srgbClr val="C00000"/>
              </a:buClr>
              <a:buNone/>
              <a:defRPr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(de type adresse) qui est une variable locale à la fonction appelée.</a:t>
            </a:r>
            <a:endParaRPr lang="fr-F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2" indent="0" algn="just">
              <a:lnSpc>
                <a:spcPct val="150000"/>
              </a:lnSpc>
              <a:spcBef>
                <a:spcPts val="0"/>
              </a:spcBef>
              <a:buClr>
                <a:srgbClr val="C00000"/>
              </a:buClr>
              <a:defRPr/>
            </a:pPr>
            <a:r>
              <a:rPr lang="fr-FR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fonction appelée 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maintenant accès, via ce paramètre à la variable de la fonction </a:t>
            </a:r>
            <a:r>
              <a:rPr lang="fr-FR" sz="2200">
                <a:latin typeface="Times New Roman" panose="02020603050405020304" pitchFamily="18" charset="0"/>
                <a:cs typeface="Times New Roman" panose="02020603050405020304" pitchFamily="18" charset="0"/>
              </a:rPr>
              <a:t>appelante.</a:t>
            </a:r>
            <a:endParaRPr lang="fr-F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  <p:sp>
        <p:nvSpPr>
          <p:cNvPr id="8" name="Rectangle 7"/>
          <p:cNvSpPr/>
          <p:nvPr/>
        </p:nvSpPr>
        <p:spPr>
          <a:xfrm>
            <a:off x="1035273" y="696374"/>
            <a:ext cx="7773521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Passage par adresse</a:t>
            </a:r>
            <a:r>
              <a:rPr lang="fr-FR" sz="28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Principe</a:t>
            </a:r>
            <a:endParaRPr lang="fr-FR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  <p:sp>
        <p:nvSpPr>
          <p:cNvPr id="7" name="Titre 6"/>
          <p:cNvSpPr>
            <a:spLocks noGrp="1"/>
          </p:cNvSpPr>
          <p:nvPr>
            <p:ph type="title"/>
          </p:nvPr>
        </p:nvSpPr>
        <p:spPr>
          <a:xfrm>
            <a:off x="628650" y="787842"/>
            <a:ext cx="7886700" cy="480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lang="fr-F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43508" y="2706122"/>
            <a:ext cx="8856984" cy="1445260"/>
          </a:xfrm>
          <a:prstGeom prst="rect">
            <a:avLst/>
          </a:prstGeom>
          <a:blipFill>
            <a:blip r:embed="rId1" cstate="print"/>
            <a:tile tx="0" ty="0" sx="100000" sy="100000" flip="none" algn="tl"/>
          </a:blipFill>
          <a:ln w="1905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Toute modification sur un paramètre </a:t>
            </a:r>
            <a:r>
              <a:rPr lang="fr-FR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transmis par adresse </a:t>
            </a:r>
            <a:r>
              <a:rPr lang="fr-FR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entraine la </a:t>
            </a:r>
            <a:r>
              <a:rPr lang="fr-FR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modification directe </a:t>
            </a:r>
            <a:r>
              <a:rPr lang="fr-FR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 la variable correspondante.</a:t>
            </a:r>
            <a:endParaRPr lang="fr-FR" sz="2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Pour le passage par adresse on utilise </a:t>
            </a:r>
            <a:r>
              <a:rPr lang="fr-FR" sz="2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pointeurs</a:t>
            </a:r>
            <a:r>
              <a:rPr lang="fr-FR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fr-FR" sz="2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035273" y="696374"/>
            <a:ext cx="7773521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Passage par adresse</a:t>
            </a:r>
            <a:endParaRPr lang="fr-FR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4503</Words>
  <Application>WPS Presentation</Application>
  <PresentationFormat>Affichage à l'écran (4:3)</PresentationFormat>
  <Paragraphs>376</Paragraphs>
  <Slides>17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31" baseType="lpstr">
      <vt:lpstr>Arial</vt:lpstr>
      <vt:lpstr>SimSun</vt:lpstr>
      <vt:lpstr>Wingdings</vt:lpstr>
      <vt:lpstr>Arial</vt:lpstr>
      <vt:lpstr>Times New Roman</vt:lpstr>
      <vt:lpstr>Times New Roman</vt:lpstr>
      <vt:lpstr>Calibri</vt:lpstr>
      <vt:lpstr>Microsoft YaHei</vt:lpstr>
      <vt:lpstr>Arial Unicode MS</vt:lpstr>
      <vt:lpstr>Calibri Light</vt:lpstr>
      <vt:lpstr>Tahoma</vt:lpstr>
      <vt:lpstr>Courier New</vt:lpstr>
      <vt:lpstr>Thème Office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  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esprit</dc:creator>
  <cp:lastModifiedBy>FATEN</cp:lastModifiedBy>
  <cp:revision>670</cp:revision>
  <dcterms:created xsi:type="dcterms:W3CDTF">2017-09-09T12:22:00Z</dcterms:created>
  <dcterms:modified xsi:type="dcterms:W3CDTF">2025-06-30T11:57:15Z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1036-12.2.0.21546</vt:lpwstr>
  </property>
  <property fmtid="{D5CDD505-2E9C-101B-9397-08002B2CF9AE}" pid="3" name="ICV">
    <vt:lpwstr>3EB4402AB05D42318DEDCEBD4A9B64F5</vt:lpwstr>
  </property>
</Properties>
</file>