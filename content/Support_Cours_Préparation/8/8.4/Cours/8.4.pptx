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8"/>
  </p:notesMasterIdLst>
  <p:sldIdLst>
    <p:sldId id="366" r:id="rId4"/>
    <p:sldId id="365" r:id="rId5"/>
    <p:sldId id="367" r:id="rId6"/>
    <p:sldId id="360" r:id="rId7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C9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86380" autoAdjust="0"/>
  </p:normalViewPr>
  <p:slideViewPr>
    <p:cSldViewPr showGuides="1">
      <p:cViewPr varScale="1">
        <p:scale>
          <a:sx n="67" d="100"/>
          <a:sy n="67" d="100"/>
        </p:scale>
        <p:origin x="2002" y="67"/>
      </p:cViewPr>
      <p:guideLst>
        <p:guide orient="horz" pos="2159"/>
        <p:guide pos="283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2"/>
        <p:guide pos="22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428596" y="2636912"/>
            <a:ext cx="828680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Paramètres effectifs </a:t>
            </a:r>
            <a:endParaRPr lang="fr-FR" sz="4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ctr"/>
            <a:r>
              <a:rPr lang="fr-FR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&amp; paramètres formels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1520" y="1556793"/>
            <a:ext cx="8568952" cy="489654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1-Les paramètres formels: </a:t>
            </a:r>
            <a:endParaRPr lang="fr-F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sont les paramètres qui figurent dans </a:t>
            </a:r>
            <a:r>
              <a:rPr lang="fr-FR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définition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fonction.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simplement des variables locales qui sont initialisées par les valeurs obtenues lors de l'appel.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utilisés lors de la définition de la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fonction.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2-Les paramètres effectifs: </a:t>
            </a:r>
            <a:endParaRPr lang="fr-FR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sont les paramètres qui figures dans </a:t>
            </a:r>
            <a:r>
              <a:rPr lang="fr-FR" sz="2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l'appel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fonction et qui sont manipulés par celle-ci. 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type des paramètres effectifs doit être le même que celui des paramètres formels correspondants.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Bef>
                <a:spcPts val="1200"/>
              </a:spcBef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L'appel d’une fonction est réalisé en invoquant le nom de la fonction suivi de la liste des paramètres effectifs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046703" y="67033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 effectifs et paramètres formels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043608" y="1268760"/>
            <a:ext cx="7255718" cy="530626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46703" y="67033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 effectifs et paramètres formels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557530" indent="-21463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8572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2001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543050" indent="-171450" eaLnBrk="0" hangingPunct="0"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15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57686BE-FB91-4B23-9D1C-44377DB8DAD0}" type="slidenum">
              <a:rPr lang="en-GB" sz="1050"/>
            </a:fld>
            <a:endParaRPr lang="en-GB" sz="1050"/>
          </a:p>
        </p:txBody>
      </p:sp>
      <p:sp>
        <p:nvSpPr>
          <p:cNvPr id="4" name="Rectangle 4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2686051" y="1325427"/>
            <a:ext cx="6172187" cy="5847989"/>
          </a:xfrm>
          <a:prstGeom prst="rect">
            <a:avLst/>
          </a:prstGeom>
          <a:noFill/>
        </p:spPr>
        <p:txBody>
          <a:bodyPr/>
          <a:lstStyle/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#</a:t>
            </a:r>
            <a:r>
              <a:rPr lang="fr-FR" kern="0" dirty="0" err="1">
                <a:latin typeface="Courier New" panose="02070309020205020404" pitchFamily="49" charset="0"/>
              </a:rPr>
              <a:t>include</a:t>
            </a:r>
            <a:r>
              <a:rPr lang="fr-FR" kern="0" dirty="0">
                <a:latin typeface="Courier New" panose="02070309020205020404" pitchFamily="49" charset="0"/>
              </a:rPr>
              <a:t> &lt;</a:t>
            </a:r>
            <a:r>
              <a:rPr lang="fr-FR" kern="0" dirty="0" err="1">
                <a:latin typeface="Courier New" panose="02070309020205020404" pitchFamily="49" charset="0"/>
              </a:rPr>
              <a:t>stdio</a:t>
            </a:r>
            <a:r>
              <a:rPr lang="fr-FR" kern="0" dirty="0">
                <a:latin typeface="Courier New" panose="02070309020205020404" pitchFamily="49" charset="0"/>
              </a:rPr>
              <a:t>. h&gt;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b="1" kern="0" dirty="0" err="1">
                <a:latin typeface="Courier New" panose="02070309020205020404" pitchFamily="49" charset="0"/>
              </a:rPr>
              <a:t>int</a:t>
            </a:r>
            <a:r>
              <a:rPr lang="fr-FR" b="1" kern="0" dirty="0">
                <a:latin typeface="Courier New" panose="02070309020205020404" pitchFamily="49" charset="0"/>
              </a:rPr>
              <a:t> max( </a:t>
            </a:r>
            <a:r>
              <a:rPr lang="fr-FR" b="1" kern="0" dirty="0" err="1">
                <a:latin typeface="Courier New" panose="02070309020205020404" pitchFamily="49" charset="0"/>
              </a:rPr>
              <a:t>int</a:t>
            </a:r>
            <a:r>
              <a:rPr lang="fr-FR" b="1" kern="0" dirty="0">
                <a:latin typeface="Courier New" panose="02070309020205020404" pitchFamily="49" charset="0"/>
              </a:rPr>
              <a:t> v1, </a:t>
            </a:r>
            <a:r>
              <a:rPr lang="fr-FR" b="1" kern="0" dirty="0" err="1">
                <a:latin typeface="Courier New" panose="02070309020205020404" pitchFamily="49" charset="0"/>
              </a:rPr>
              <a:t>int</a:t>
            </a:r>
            <a:r>
              <a:rPr lang="fr-FR" b="1" kern="0" dirty="0">
                <a:latin typeface="Courier New" panose="02070309020205020404" pitchFamily="49" charset="0"/>
              </a:rPr>
              <a:t> v2);</a:t>
            </a:r>
            <a:endParaRPr lang="fr-FR" b="1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 err="1">
                <a:latin typeface="Courier New" panose="02070309020205020404" pitchFamily="49" charset="0"/>
              </a:rPr>
              <a:t>void</a:t>
            </a:r>
            <a:r>
              <a:rPr lang="fr-FR" kern="0" dirty="0">
                <a:latin typeface="Courier New" panose="02070309020205020404" pitchFamily="49" charset="0"/>
              </a:rPr>
              <a:t> main()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{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</a:t>
            </a:r>
            <a:r>
              <a:rPr lang="fr-FR" kern="0" dirty="0" err="1">
                <a:latin typeface="Courier New" panose="02070309020205020404" pitchFamily="49" charset="0"/>
              </a:rPr>
              <a:t>int</a:t>
            </a:r>
            <a:r>
              <a:rPr lang="fr-FR" kern="0" dirty="0">
                <a:latin typeface="Courier New" panose="02070309020205020404" pitchFamily="49" charset="0"/>
              </a:rPr>
              <a:t> a, b, </a:t>
            </a:r>
            <a:r>
              <a:rPr lang="fr-FR" kern="0" dirty="0" err="1">
                <a:latin typeface="Courier New" panose="02070309020205020404" pitchFamily="49" charset="0"/>
              </a:rPr>
              <a:t>valmax</a:t>
            </a:r>
            <a:r>
              <a:rPr lang="fr-FR" kern="0" dirty="0">
                <a:latin typeface="Courier New" panose="02070309020205020404" pitchFamily="49" charset="0"/>
              </a:rPr>
              <a:t>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printf(“ Tapez deux entiers: “);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</a:t>
            </a:r>
            <a:r>
              <a:rPr lang="fr-FR" kern="0" dirty="0" err="1">
                <a:latin typeface="Courier New" panose="02070309020205020404" pitchFamily="49" charset="0"/>
              </a:rPr>
              <a:t>scanf</a:t>
            </a:r>
            <a:r>
              <a:rPr lang="fr-FR" kern="0" dirty="0">
                <a:latin typeface="Courier New" panose="02070309020205020404" pitchFamily="49" charset="0"/>
              </a:rPr>
              <a:t>(“%d %d”, &amp;a, &amp;b);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</a:t>
            </a:r>
            <a:r>
              <a:rPr lang="fr-FR" kern="0" dirty="0" err="1">
                <a:latin typeface="Courier New" panose="02070309020205020404" pitchFamily="49" charset="0"/>
              </a:rPr>
              <a:t>valmax</a:t>
            </a:r>
            <a:r>
              <a:rPr lang="fr-FR" kern="0" dirty="0">
                <a:latin typeface="Courier New" panose="02070309020205020404" pitchFamily="49" charset="0"/>
              </a:rPr>
              <a:t> = </a:t>
            </a:r>
            <a:r>
              <a:rPr lang="fr-FR" b="1" kern="0" dirty="0">
                <a:latin typeface="Courier New" panose="02070309020205020404" pitchFamily="49" charset="0"/>
              </a:rPr>
              <a:t>max</a:t>
            </a:r>
            <a:r>
              <a:rPr lang="fr-FR" kern="0" dirty="0">
                <a:latin typeface="Courier New" panose="02070309020205020404" pitchFamily="49" charset="0"/>
              </a:rPr>
              <a:t>(</a:t>
            </a:r>
            <a:r>
              <a:rPr lang="fr-FR" b="1" kern="0" dirty="0">
                <a:latin typeface="Courier New" panose="02070309020205020404" pitchFamily="49" charset="0"/>
              </a:rPr>
              <a:t> </a:t>
            </a:r>
            <a:r>
              <a:rPr lang="fr-FR" kern="0" dirty="0">
                <a:latin typeface="Courier New" panose="02070309020205020404" pitchFamily="49" charset="0"/>
              </a:rPr>
              <a:t>a, b);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printf(“Maximum des deux valeurs: %d\n”, </a:t>
            </a:r>
            <a:r>
              <a:rPr lang="fr-FR" kern="0" dirty="0" err="1">
                <a:latin typeface="Courier New" panose="02070309020205020404" pitchFamily="49" charset="0"/>
              </a:rPr>
              <a:t>valmax</a:t>
            </a:r>
            <a:r>
              <a:rPr lang="fr-FR" kern="0" dirty="0">
                <a:latin typeface="Courier New" panose="02070309020205020404" pitchFamily="49" charset="0"/>
              </a:rPr>
              <a:t>);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}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b="1" kern="0" dirty="0" err="1">
                <a:latin typeface="Courier New" panose="02070309020205020404" pitchFamily="49" charset="0"/>
              </a:rPr>
              <a:t>int</a:t>
            </a:r>
            <a:r>
              <a:rPr lang="fr-FR" b="1" kern="0" dirty="0">
                <a:latin typeface="Courier New" panose="02070309020205020404" pitchFamily="49" charset="0"/>
              </a:rPr>
              <a:t> max( </a:t>
            </a:r>
            <a:r>
              <a:rPr lang="fr-FR" b="1" kern="0" dirty="0" err="1">
                <a:latin typeface="Courier New" panose="02070309020205020404" pitchFamily="49" charset="0"/>
              </a:rPr>
              <a:t>int</a:t>
            </a:r>
            <a:r>
              <a:rPr lang="fr-FR" b="1" kern="0" dirty="0">
                <a:latin typeface="Courier New" panose="02070309020205020404" pitchFamily="49" charset="0"/>
              </a:rPr>
              <a:t> v1, </a:t>
            </a:r>
            <a:r>
              <a:rPr lang="fr-FR" b="1" kern="0" dirty="0" err="1">
                <a:latin typeface="Courier New" panose="02070309020205020404" pitchFamily="49" charset="0"/>
              </a:rPr>
              <a:t>int</a:t>
            </a:r>
            <a:r>
              <a:rPr lang="fr-FR" b="1" kern="0" dirty="0">
                <a:latin typeface="Courier New" panose="02070309020205020404" pitchFamily="49" charset="0"/>
              </a:rPr>
              <a:t> v2)</a:t>
            </a:r>
            <a:endParaRPr lang="fr-FR" b="1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b="1" kern="0" dirty="0">
                <a:latin typeface="Courier New" panose="02070309020205020404" pitchFamily="49" charset="0"/>
              </a:rPr>
              <a:t>{</a:t>
            </a:r>
            <a:endParaRPr lang="fr-FR" b="1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</a:t>
            </a:r>
            <a:r>
              <a:rPr lang="fr-FR" kern="0" dirty="0" err="1">
                <a:latin typeface="Courier New" panose="02070309020205020404" pitchFamily="49" charset="0"/>
              </a:rPr>
              <a:t>int</a:t>
            </a:r>
            <a:r>
              <a:rPr lang="fr-FR" kern="0" dirty="0">
                <a:latin typeface="Courier New" panose="02070309020205020404" pitchFamily="49" charset="0"/>
              </a:rPr>
              <a:t> maximum;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if (v1 &gt; v2) maximum = v1;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</a:t>
            </a:r>
            <a:r>
              <a:rPr lang="fr-FR" kern="0" dirty="0" err="1">
                <a:latin typeface="Courier New" panose="02070309020205020404" pitchFamily="49" charset="0"/>
              </a:rPr>
              <a:t>else</a:t>
            </a:r>
            <a:r>
              <a:rPr lang="fr-FR" kern="0" dirty="0">
                <a:latin typeface="Courier New" panose="02070309020205020404" pitchFamily="49" charset="0"/>
              </a:rPr>
              <a:t> maximum = v2;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kern="0" dirty="0">
                <a:latin typeface="Courier New" panose="02070309020205020404" pitchFamily="49" charset="0"/>
              </a:rPr>
              <a:t>	return maximum;</a:t>
            </a:r>
            <a:endParaRPr lang="fr-FR" kern="0" dirty="0">
              <a:latin typeface="Courier New" panose="02070309020205020404" pitchFamily="49" charset="0"/>
            </a:endParaRPr>
          </a:p>
          <a:p>
            <a:pPr marL="257175" indent="-257175" eaLnBrk="0" hangingPunct="0">
              <a:lnSpc>
                <a:spcPct val="90000"/>
              </a:lnSpc>
              <a:defRPr/>
            </a:pPr>
            <a:r>
              <a:rPr lang="fr-FR" b="1" kern="0" dirty="0">
                <a:latin typeface="Courier New" panose="02070309020205020404" pitchFamily="49" charset="0"/>
              </a:rPr>
              <a:t>}</a:t>
            </a:r>
            <a:endParaRPr lang="fr-FR" b="1" kern="0" dirty="0">
              <a:latin typeface="Courier New" panose="02070309020205020404" pitchFamily="49" charset="0"/>
            </a:endParaRP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403296" y="1764297"/>
            <a:ext cx="1389323" cy="514350"/>
          </a:xfrm>
          <a:prstGeom prst="wedgeRoundRectCallout">
            <a:avLst>
              <a:gd name="adj1" fmla="val 120770"/>
              <a:gd name="adj2" fmla="val 32164"/>
              <a:gd name="adj3" fmla="val 16667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buFont typeface="Wingdings" panose="05000000000000000000" pitchFamily="2" charset="2"/>
              <a:buNone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Déclaration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222" name="Group 6"/>
          <p:cNvGrpSpPr/>
          <p:nvPr/>
        </p:nvGrpSpPr>
        <p:grpSpPr bwMode="auto">
          <a:xfrm>
            <a:off x="285750" y="5045683"/>
            <a:ext cx="1771650" cy="1371600"/>
            <a:chOff x="48" y="2640"/>
            <a:chExt cx="1488" cy="1152"/>
          </a:xfrm>
        </p:grpSpPr>
        <p:sp>
          <p:nvSpPr>
            <p:cNvPr id="9235" name="AutoShape 7"/>
            <p:cNvSpPr/>
            <p:nvPr/>
          </p:nvSpPr>
          <p:spPr bwMode="auto">
            <a:xfrm>
              <a:off x="1440" y="2640"/>
              <a:ext cx="96" cy="1152"/>
            </a:xfrm>
            <a:prstGeom prst="leftBrace">
              <a:avLst>
                <a:gd name="adj1" fmla="val 100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endParaRPr lang="fr-FR" sz="1500"/>
            </a:p>
          </p:txBody>
        </p:sp>
        <p:sp>
          <p:nvSpPr>
            <p:cNvPr id="8" name="AutoShape 8"/>
            <p:cNvSpPr>
              <a:spLocks noChangeArrowheads="1"/>
            </p:cNvSpPr>
            <p:nvPr/>
          </p:nvSpPr>
          <p:spPr bwMode="auto">
            <a:xfrm>
              <a:off x="48" y="2976"/>
              <a:ext cx="1167" cy="427"/>
            </a:xfrm>
            <a:prstGeom prst="wedgeRoundRectCallout">
              <a:avLst>
                <a:gd name="adj1" fmla="val 71946"/>
                <a:gd name="adj2" fmla="val 10171"/>
                <a:gd name="adj3" fmla="val 16667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Définition</a:t>
              </a:r>
              <a:endParaRPr lang="fr-F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223" name="Group 9"/>
          <p:cNvGrpSpPr/>
          <p:nvPr/>
        </p:nvGrpSpPr>
        <p:grpSpPr bwMode="auto">
          <a:xfrm>
            <a:off x="285762" y="2492971"/>
            <a:ext cx="1771638" cy="2330940"/>
            <a:chOff x="96" y="1082"/>
            <a:chExt cx="1488" cy="1702"/>
          </a:xfrm>
        </p:grpSpPr>
        <p:sp>
          <p:nvSpPr>
            <p:cNvPr id="9233" name="AutoShape 10"/>
            <p:cNvSpPr/>
            <p:nvPr/>
          </p:nvSpPr>
          <p:spPr bwMode="auto">
            <a:xfrm>
              <a:off x="1440" y="1082"/>
              <a:ext cx="144" cy="1702"/>
            </a:xfrm>
            <a:prstGeom prst="leftBrace">
              <a:avLst>
                <a:gd name="adj1" fmla="val 125000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</a:pPr>
              <a:endParaRPr lang="fr-FR" sz="1500"/>
            </a:p>
          </p:txBody>
        </p:sp>
        <p:sp>
          <p:nvSpPr>
            <p:cNvPr id="11" name="AutoShape 11"/>
            <p:cNvSpPr>
              <a:spLocks noChangeArrowheads="1"/>
            </p:cNvSpPr>
            <p:nvPr/>
          </p:nvSpPr>
          <p:spPr bwMode="auto">
            <a:xfrm>
              <a:off x="96" y="1218"/>
              <a:ext cx="1167" cy="693"/>
            </a:xfrm>
            <a:prstGeom prst="wedgeRoundRectCallout">
              <a:avLst>
                <a:gd name="adj1" fmla="val 61611"/>
                <a:gd name="adj2" fmla="val 43170"/>
                <a:gd name="adj3" fmla="val 16667"/>
              </a:avLst>
            </a:prstGeom>
            <a:gradFill rotWithShape="0">
              <a:gsLst>
                <a:gs pos="0">
                  <a:schemeClr val="accent1"/>
                </a:gs>
                <a:gs pos="50000">
                  <a:schemeClr val="bg1"/>
                </a:gs>
                <a:gs pos="100000">
                  <a:schemeClr val="accent1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/>
            <a:lstStyle/>
            <a:p>
              <a:pPr algn="ctr">
                <a:buFont typeface="Wingdings" panose="05000000000000000000" pitchFamily="2" charset="2"/>
                <a:buNone/>
                <a:defRPr/>
              </a:pPr>
              <a:r>
                <a:rPr lang="fr-F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 principale</a:t>
              </a:r>
              <a:endParaRPr lang="fr-F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AutoShape 12"/>
          <p:cNvSpPr>
            <a:spLocks noChangeArrowheads="1"/>
          </p:cNvSpPr>
          <p:nvPr/>
        </p:nvSpPr>
        <p:spPr bwMode="auto">
          <a:xfrm>
            <a:off x="285762" y="4146810"/>
            <a:ext cx="1600199" cy="507937"/>
          </a:xfrm>
          <a:prstGeom prst="wedgeRoundRectCallout">
            <a:avLst>
              <a:gd name="adj1" fmla="val 197773"/>
              <a:gd name="adj2" fmla="val -85444"/>
              <a:gd name="adj3" fmla="val 16667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</a:ln>
          <a:effectLst/>
        </p:spPr>
        <p:txBody>
          <a:bodyPr/>
          <a:lstStyle/>
          <a:p>
            <a:pPr algn="ctr">
              <a:buFont typeface="Wingdings" panose="05000000000000000000" pitchFamily="2" charset="2"/>
              <a:buNone/>
              <a:defRPr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Appel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225" name="Group 13"/>
          <p:cNvGrpSpPr/>
          <p:nvPr/>
        </p:nvGrpSpPr>
        <p:grpSpPr bwMode="auto">
          <a:xfrm>
            <a:off x="4868229" y="1459573"/>
            <a:ext cx="3534966" cy="722710"/>
            <a:chOff x="2688" y="497"/>
            <a:chExt cx="2969" cy="607"/>
          </a:xfrm>
        </p:grpSpPr>
        <p:sp>
          <p:nvSpPr>
            <p:cNvPr id="9230" name="Line 14"/>
            <p:cNvSpPr>
              <a:spLocks noChangeShapeType="1"/>
            </p:cNvSpPr>
            <p:nvPr/>
          </p:nvSpPr>
          <p:spPr bwMode="auto">
            <a:xfrm flipH="1">
              <a:off x="2688" y="864"/>
              <a:ext cx="768" cy="2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 sz="1350" dirty="0"/>
            </a:p>
          </p:txBody>
        </p:sp>
        <p:sp>
          <p:nvSpPr>
            <p:cNvPr id="9231" name="Line 15"/>
            <p:cNvSpPr>
              <a:spLocks noChangeShapeType="1"/>
            </p:cNvSpPr>
            <p:nvPr/>
          </p:nvSpPr>
          <p:spPr bwMode="auto">
            <a:xfrm flipH="1">
              <a:off x="3312" y="864"/>
              <a:ext cx="144" cy="2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 sz="1350" dirty="0"/>
            </a:p>
          </p:txBody>
        </p:sp>
        <p:sp>
          <p:nvSpPr>
            <p:cNvPr id="9232" name="Rectangle 16"/>
            <p:cNvSpPr>
              <a:spLocks noChangeArrowheads="1"/>
            </p:cNvSpPr>
            <p:nvPr/>
          </p:nvSpPr>
          <p:spPr bwMode="auto">
            <a:xfrm>
              <a:off x="3545" y="497"/>
              <a:ext cx="2112" cy="387"/>
            </a:xfrm>
            <a:prstGeom prst="rect">
              <a:avLst/>
            </a:prstGeom>
            <a:noFill/>
            <a:ln w="254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fr-FR" sz="1800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Paramètres </a:t>
              </a:r>
              <a:r>
                <a:rPr lang="fr-FR" sz="1800" b="1" dirty="0">
                  <a:solidFill>
                    <a:srgbClr val="99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formels</a:t>
              </a:r>
              <a:endParaRPr lang="fr-FR" sz="1800" b="1" dirty="0">
                <a:solidFill>
                  <a:srgbClr val="99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226" name="Group 17"/>
          <p:cNvGrpSpPr/>
          <p:nvPr/>
        </p:nvGrpSpPr>
        <p:grpSpPr bwMode="auto">
          <a:xfrm>
            <a:off x="5075633" y="4004762"/>
            <a:ext cx="3668315" cy="1008461"/>
            <a:chOff x="2823" y="1689"/>
            <a:chExt cx="3081" cy="847"/>
          </a:xfrm>
        </p:grpSpPr>
        <p:sp>
          <p:nvSpPr>
            <p:cNvPr id="9227" name="Line 18"/>
            <p:cNvSpPr>
              <a:spLocks noChangeShapeType="1"/>
            </p:cNvSpPr>
            <p:nvPr/>
          </p:nvSpPr>
          <p:spPr bwMode="auto">
            <a:xfrm flipH="1" flipV="1">
              <a:off x="2823" y="1689"/>
              <a:ext cx="1209" cy="42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 sz="1350" dirty="0"/>
            </a:p>
          </p:txBody>
        </p:sp>
        <p:sp>
          <p:nvSpPr>
            <p:cNvPr id="9228" name="Line 19"/>
            <p:cNvSpPr>
              <a:spLocks noChangeShapeType="1"/>
            </p:cNvSpPr>
            <p:nvPr/>
          </p:nvSpPr>
          <p:spPr bwMode="auto">
            <a:xfrm flipH="1" flipV="1">
              <a:off x="3264" y="1689"/>
              <a:ext cx="768" cy="42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 sz="1350" dirty="0"/>
            </a:p>
          </p:txBody>
        </p:sp>
        <p:sp>
          <p:nvSpPr>
            <p:cNvPr id="9229" name="Rectangle 20"/>
            <p:cNvSpPr>
              <a:spLocks noChangeArrowheads="1"/>
            </p:cNvSpPr>
            <p:nvPr/>
          </p:nvSpPr>
          <p:spPr bwMode="auto">
            <a:xfrm>
              <a:off x="4032" y="2031"/>
              <a:ext cx="1872" cy="505"/>
            </a:xfrm>
            <a:prstGeom prst="rect">
              <a:avLst/>
            </a:prstGeom>
            <a:noFill/>
            <a:ln w="25400">
              <a:solidFill>
                <a:schemeClr val="bg2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110000"/>
                <a:buFont typeface="Wingdings" panose="05000000000000000000" pitchFamily="2" charset="2"/>
                <a:buChar char="w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fr-FR" sz="1800" dirty="0">
                  <a:solidFill>
                    <a:schemeClr val="tx2"/>
                  </a:solidFill>
                </a:rPr>
                <a:t>Paramètres </a:t>
              </a:r>
              <a:r>
                <a:rPr lang="fr-FR" sz="1800" b="1" dirty="0">
                  <a:solidFill>
                    <a:srgbClr val="990000"/>
                  </a:solidFill>
                </a:rPr>
                <a:t>effectifs</a:t>
              </a:r>
              <a:endParaRPr lang="fr-FR" sz="1800" b="1" dirty="0">
                <a:solidFill>
                  <a:srgbClr val="990000"/>
                </a:solidFill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1046703" y="670339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 effectifs et paramètres formels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1144</Words>
  <Application>WPS Presentation</Application>
  <PresentationFormat>Affichage à l'écran (4:3)</PresentationFormat>
  <Paragraphs>59</Paragraphs>
  <Slides>4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Calibri Light</vt:lpstr>
      <vt:lpstr>Tahoma</vt:lpstr>
      <vt:lpstr>Courier New</vt:lpstr>
      <vt:lpstr>Thème Office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670</cp:revision>
  <dcterms:created xsi:type="dcterms:W3CDTF">2017-09-09T12:22:00Z</dcterms:created>
  <dcterms:modified xsi:type="dcterms:W3CDTF">2025-06-30T11:56:29Z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3EB4402AB05D42318DEDCEBD4A9B64F5</vt:lpwstr>
  </property>
</Properties>
</file>