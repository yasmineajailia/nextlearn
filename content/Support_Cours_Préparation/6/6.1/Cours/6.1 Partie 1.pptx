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24" r:id="rId2"/>
    <p:sldId id="275" r:id="rId3"/>
    <p:sldId id="308" r:id="rId4"/>
    <p:sldId id="320" r:id="rId5"/>
    <p:sldId id="321" r:id="rId6"/>
    <p:sldId id="310" r:id="rId7"/>
    <p:sldId id="319" r:id="rId8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86380" autoAdjust="0"/>
  </p:normalViewPr>
  <p:slideViewPr>
    <p:cSldViewPr>
      <p:cViewPr varScale="1">
        <p:scale>
          <a:sx n="71" d="100"/>
          <a:sy n="71" d="100"/>
        </p:scale>
        <p:origin x="384" y="58"/>
      </p:cViewPr>
      <p:guideLst>
        <p:guide orient="horz" pos="2107"/>
        <p:guide pos="2880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14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05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8889" y="2654304"/>
            <a:ext cx="8286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5400" b="1" dirty="0"/>
              <a:t>   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Structures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1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814928" y="388665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520" y="4005064"/>
            <a:ext cx="8568952" cy="1368152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enregistrement, appelé </a:t>
            </a:r>
            <a:r>
              <a:rPr lang="fr-FR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langage C, est une variable complexe qui permet de désigner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un seul nom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ensemble de valeurs pouvant être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type différent.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2195737" y="2564904"/>
          <a:ext cx="2448272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2195737" y="3212976"/>
          <a:ext cx="453650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18.50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51520" y="1198156"/>
            <a:ext cx="8280920" cy="1080120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tableau permet de désigner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un seul nom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ensemble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valeurs de même type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repérées par des indices.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1664" y="2564904"/>
            <a:ext cx="9359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C00000"/>
              </a:buClr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568" y="3212976"/>
            <a:ext cx="14566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C00000"/>
              </a:buClr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TabMoyenne</a:t>
            </a:r>
          </a:p>
        </p:txBody>
      </p:sp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2296066" y="5731862"/>
          <a:ext cx="39604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Nour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22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12.25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119953" y="5731862"/>
            <a:ext cx="10464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C00000"/>
              </a:buClr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10895" y="1446515"/>
            <a:ext cx="5143520" cy="2338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6"/>
                </a:solidFill>
              </a:rPr>
              <a:t>Syntaxe</a:t>
            </a:r>
            <a:endParaRPr lang="fr-FR" b="1" dirty="0"/>
          </a:p>
          <a:p>
            <a:endParaRPr lang="fr-FR" b="1" dirty="0"/>
          </a:p>
          <a:p>
            <a:r>
              <a:rPr lang="fr-FR" b="1" dirty="0" err="1"/>
              <a:t>struct</a:t>
            </a:r>
            <a:r>
              <a:rPr lang="fr-FR" b="1" dirty="0"/>
              <a:t> &lt;</a:t>
            </a:r>
            <a:r>
              <a:rPr lang="fr-FR" b="1" dirty="0" err="1"/>
              <a:t>Nom_Structure</a:t>
            </a:r>
            <a:r>
              <a:rPr lang="fr-FR" b="1" dirty="0"/>
              <a:t>&gt; {</a:t>
            </a:r>
          </a:p>
          <a:p>
            <a:r>
              <a:rPr lang="fr-FR" b="1" dirty="0"/>
              <a:t>&lt;type_champ1&gt; &lt;</a:t>
            </a:r>
            <a:r>
              <a:rPr lang="fr-FR" b="1" dirty="0">
                <a:solidFill>
                  <a:srgbClr val="FF0000"/>
                </a:solidFill>
              </a:rPr>
              <a:t>Nom_Champ1</a:t>
            </a:r>
            <a:r>
              <a:rPr lang="fr-FR" b="1" dirty="0"/>
              <a:t>&gt;;</a:t>
            </a:r>
          </a:p>
          <a:p>
            <a:r>
              <a:rPr lang="fr-FR" b="1" dirty="0"/>
              <a:t>&lt;type_champ2&gt; &lt;</a:t>
            </a:r>
            <a:r>
              <a:rPr lang="fr-FR" b="1" dirty="0">
                <a:solidFill>
                  <a:srgbClr val="92D050"/>
                </a:solidFill>
              </a:rPr>
              <a:t>Nom_Champ2</a:t>
            </a:r>
            <a:r>
              <a:rPr lang="fr-FR" b="1" dirty="0"/>
              <a:t>&gt;;</a:t>
            </a:r>
          </a:p>
          <a:p>
            <a:r>
              <a:rPr lang="fr-FR" b="1" dirty="0"/>
              <a:t>&lt;type_champ3&gt; &lt;</a:t>
            </a:r>
            <a:r>
              <a:rPr lang="fr-FR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Nom_Champ3</a:t>
            </a:r>
            <a:r>
              <a:rPr lang="fr-FR" b="1" dirty="0"/>
              <a:t>&gt;;</a:t>
            </a:r>
          </a:p>
          <a:p>
            <a:r>
              <a:rPr lang="fr-FR" b="1" dirty="0"/>
              <a:t>...</a:t>
            </a:r>
          </a:p>
          <a:p>
            <a:r>
              <a:rPr lang="fr-FR" b="1" dirty="0"/>
              <a:t>};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5926" y="4014789"/>
            <a:ext cx="4572032" cy="258445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6"/>
                </a:solidFill>
              </a:rPr>
              <a:t>Exemple</a:t>
            </a:r>
            <a:endParaRPr lang="fr-FR" b="1" dirty="0"/>
          </a:p>
          <a:p>
            <a:endParaRPr lang="fr-FR" b="1" dirty="0"/>
          </a:p>
          <a:p>
            <a:r>
              <a:rPr lang="fr-FR" dirty="0" err="1"/>
              <a:t>struct</a:t>
            </a:r>
            <a:r>
              <a:rPr lang="fr-FR" dirty="0"/>
              <a:t> </a:t>
            </a:r>
            <a:r>
              <a:rPr lang="fr-FR" b="1" dirty="0" err="1">
                <a:solidFill>
                  <a:schemeClr val="tx1"/>
                </a:solidFill>
              </a:rPr>
              <a:t>etudiant</a:t>
            </a:r>
          </a:p>
          <a:p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/>
              <a:t>{</a:t>
            </a:r>
          </a:p>
          <a:p>
            <a:r>
              <a:rPr lang="fr-FR" dirty="0"/>
              <a:t>char nom[30];</a:t>
            </a:r>
          </a:p>
          <a:p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age</a:t>
            </a:r>
            <a:r>
              <a:rPr lang="fr-FR" dirty="0"/>
              <a:t>;</a:t>
            </a:r>
          </a:p>
          <a:p>
            <a:r>
              <a:rPr lang="fr-FR" dirty="0" err="1"/>
              <a:t>float</a:t>
            </a:r>
            <a:r>
              <a:rPr lang="fr-FR" dirty="0"/>
              <a:t> </a:t>
            </a:r>
            <a:r>
              <a:rPr lang="fr-FR" dirty="0" err="1"/>
              <a:t>moyenneScolaire</a:t>
            </a:r>
            <a:r>
              <a:rPr lang="fr-FR" dirty="0"/>
              <a:t>;</a:t>
            </a:r>
          </a:p>
          <a:p>
            <a:r>
              <a:rPr lang="fr-FR" dirty="0"/>
              <a:t>};</a:t>
            </a:r>
          </a:p>
          <a:p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6457966" y="1730994"/>
            <a:ext cx="2285984" cy="5715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Noms différents</a:t>
            </a:r>
          </a:p>
        </p:txBody>
      </p:sp>
      <p:sp>
        <p:nvSpPr>
          <p:cNvPr id="10" name="Ellipse 9"/>
          <p:cNvSpPr/>
          <p:nvPr/>
        </p:nvSpPr>
        <p:spPr>
          <a:xfrm>
            <a:off x="5431480" y="3178806"/>
            <a:ext cx="2214578" cy="5000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Tous les types 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4096380" y="2060879"/>
            <a:ext cx="3007576" cy="4668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1997075" y="3179445"/>
            <a:ext cx="3810635" cy="3022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3</a:t>
            </a:fld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61490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Déclaration d’une Structure (1/2)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350" y="1216025"/>
            <a:ext cx="8214360" cy="5731510"/>
          </a:xfrm>
        </p:spPr>
        <p:txBody>
          <a:bodyPr vert="horz" lIns="91440" tIns="45720" rIns="91440" bIns="45720" rtlCol="0" anchor="t">
            <a:normAutofit fontScale="67500" lnSpcReduction="10000"/>
          </a:bodyPr>
          <a:lstStyle/>
          <a:p>
            <a:pPr marL="0" indent="0" algn="just">
              <a:buNone/>
            </a:pPr>
            <a:endParaRPr lang="fr-F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Remarques :</a:t>
            </a:r>
          </a:p>
          <a:p>
            <a:pPr marL="0" indent="0" algn="just">
              <a:buNone/>
            </a:pPr>
            <a:r>
              <a:rPr lang="fr-FR" sz="4000" dirty="0">
                <a:latin typeface="Times New Roman" panose="02020603050405020304"/>
                <a:cs typeface="Times New Roman" panose="02020603050405020304"/>
              </a:rPr>
              <a:t>Deux champs d’une même structure ne peuvent pas avoir le même nom.</a:t>
            </a:r>
          </a:p>
          <a:p>
            <a:pPr algn="just">
              <a:lnSpc>
                <a:spcPct val="150000"/>
              </a:lnSpc>
            </a:pPr>
            <a:r>
              <a:rPr lang="fr-FR" sz="3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peuvent être de n'importe quel type hormis le type de la structure dans laquelle elles se trouvent.</a:t>
            </a:r>
          </a:p>
          <a:p>
            <a:pPr algn="just">
              <a:lnSpc>
                <a:spcPct val="150000"/>
              </a:lnSpc>
            </a:pPr>
            <a:r>
              <a:rPr lang="fr-FR" sz="3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déclaration d'une structure ne fait que donner l'allure de la structure, donc elle n’entraine pas la réservation d'espace mémoire pour une variable structurée (variable de type structure).</a:t>
            </a:r>
          </a:p>
          <a:p>
            <a:pPr algn="just">
              <a:lnSpc>
                <a:spcPct val="150000"/>
              </a:lnSpc>
            </a:pPr>
            <a:r>
              <a:rPr lang="fr-FR" sz="3430" dirty="0">
                <a:latin typeface="Times New Roman" panose="02020603050405020304"/>
                <a:cs typeface="Times New Roman" panose="02020603050405020304"/>
              </a:rPr>
              <a:t>Il faut donc définir une (ou plusieurs) variable(s) structurée(s) après avoir déclaré la structure.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1490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Déclaration d’une Structure (2/2)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9552" y="3643314"/>
            <a:ext cx="3816424" cy="258445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b="1" dirty="0"/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nom[30];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moyenneScolaire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E1, E2;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71327"/>
          </a:xfrm>
        </p:spPr>
        <p:txBody>
          <a:bodyPr/>
          <a:lstStyle/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variable structurée doit être définie comme suit : </a:t>
            </a:r>
          </a:p>
          <a:p>
            <a:pPr marL="0" indent="0"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Nom_Structure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Var_Structure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5</a:t>
            </a:fld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214853" y="678726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 d’une Variable (1/3)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528" y="3645024"/>
            <a:ext cx="3851952" cy="258445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b="1" dirty="0"/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nom[30];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moyenneScolaire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E1, E2;</a:t>
            </a:r>
          </a:p>
          <a:p>
            <a:endParaRPr lang="fr-FR" b="1" dirty="0"/>
          </a:p>
          <a:p>
            <a:endParaRPr lang="fr-FR" dirty="0"/>
          </a:p>
        </p:txBody>
      </p:sp>
      <p:sp>
        <p:nvSpPr>
          <p:cNvPr id="9" name="Double flèche horizontale 8"/>
          <p:cNvSpPr/>
          <p:nvPr/>
        </p:nvSpPr>
        <p:spPr>
          <a:xfrm>
            <a:off x="4427984" y="4797152"/>
            <a:ext cx="576064" cy="2880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2088" y="2973708"/>
            <a:ext cx="4572032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Exemple: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Nom[30];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MoyenneScolaire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652118" y="5003498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Déclaration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857542" y="2165032"/>
            <a:ext cx="5429288" cy="3987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chemeClr val="tx2"/>
                </a:solidFill>
              </a:rPr>
              <a:t>typedef</a:t>
            </a:r>
            <a:r>
              <a:rPr lang="fr-FR" b="1" dirty="0"/>
              <a:t> </a:t>
            </a:r>
            <a:r>
              <a:rPr lang="fr-FR" b="1" dirty="0" err="1"/>
              <a:t>struct</a:t>
            </a:r>
            <a:r>
              <a:rPr lang="fr-FR" b="1" dirty="0"/>
              <a:t>  &lt;</a:t>
            </a:r>
            <a:r>
              <a:rPr lang="fr-FR" b="1" dirty="0" err="1"/>
              <a:t>Nom_Structure</a:t>
            </a:r>
            <a:r>
              <a:rPr lang="fr-FR" b="1" dirty="0"/>
              <a:t>&gt; &lt;</a:t>
            </a:r>
            <a:r>
              <a:rPr lang="fr-FR" b="1" dirty="0" err="1"/>
              <a:t>nom_Definition</a:t>
            </a:r>
            <a:r>
              <a:rPr lang="fr-FR" b="1" dirty="0"/>
              <a:t>&gt;;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403258" y="3627769"/>
            <a:ext cx="428628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 err="1"/>
              <a:t>typedef</a:t>
            </a:r>
            <a:r>
              <a:rPr lang="fr-FR" b="1" dirty="0"/>
              <a:t>  </a:t>
            </a:r>
            <a:r>
              <a:rPr lang="fr-FR" b="1" dirty="0" err="1"/>
              <a:t>struct</a:t>
            </a:r>
            <a:r>
              <a:rPr lang="fr-FR" b="1" dirty="0"/>
              <a:t> </a:t>
            </a:r>
            <a:r>
              <a:rPr lang="fr-FR" b="1" dirty="0" err="1"/>
              <a:t>etudiant</a:t>
            </a:r>
            <a:r>
              <a:rPr lang="fr-FR" b="1" dirty="0"/>
              <a:t> </a:t>
            </a:r>
            <a:r>
              <a:rPr lang="fr-FR" b="1" dirty="0">
                <a:solidFill>
                  <a:srgbClr val="FF0000"/>
                </a:solidFill>
              </a:rPr>
              <a:t>E</a:t>
            </a:r>
            <a:r>
              <a:rPr lang="fr-FR" b="1" dirty="0"/>
              <a:t>tudiant;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794994" y="5602941"/>
            <a:ext cx="4429156" cy="6451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</a:rPr>
              <a:t>  E</a:t>
            </a:r>
            <a:r>
              <a:rPr lang="fr-FR" b="1" dirty="0"/>
              <a:t>tudiant</a:t>
            </a:r>
            <a:r>
              <a:rPr lang="fr-FR" dirty="0"/>
              <a:t> E1;</a:t>
            </a: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652145" y="637540"/>
            <a:ext cx="7839075" cy="6311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 d’une Variable : Utilisation de </a:t>
            </a:r>
            <a:r>
              <a:rPr lang="fr-FR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(2/3)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94994" y="5531503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 &lt;</a:t>
            </a:r>
            <a:r>
              <a:rPr lang="fr-FR" b="1" dirty="0" err="1"/>
              <a:t>Nom_Définition</a:t>
            </a:r>
            <a:r>
              <a:rPr lang="fr-FR" b="1" dirty="0"/>
              <a:t>&gt; &lt;</a:t>
            </a:r>
            <a:r>
              <a:rPr lang="fr-FR" b="1" dirty="0" err="1"/>
              <a:t>Var_Structure</a:t>
            </a:r>
            <a:r>
              <a:rPr lang="fr-FR" b="1" dirty="0"/>
              <a:t>&gt;;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6</a:t>
            </a:fld>
            <a:endParaRPr lang="fr-FR"/>
          </a:p>
        </p:txBody>
      </p:sp>
      <p:sp>
        <p:nvSpPr>
          <p:cNvPr id="2" name="ZoneTexte 18"/>
          <p:cNvSpPr txBox="1"/>
          <p:nvPr/>
        </p:nvSpPr>
        <p:spPr>
          <a:xfrm>
            <a:off x="652118" y="1516078"/>
            <a:ext cx="19288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Syntaxe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57225" y="1678925"/>
            <a:ext cx="5143520" cy="1876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typdef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&lt;type_champ1&gt; &lt;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Nom_Champ1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&lt;type_champ2&gt; &lt;</a:t>
            </a:r>
            <a:r>
              <a:rPr lang="fr-FR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Nom_Champ2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&lt;type_champ3&gt; &lt;</a:t>
            </a:r>
            <a:r>
              <a:rPr lang="fr-FR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Nom_Champ3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fr-FR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Nom_Structure</a:t>
            </a:r>
            <a:r>
              <a:rPr lang="fr-FR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40" y="4425953"/>
            <a:ext cx="4572032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typdef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Nom[30];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MoyenneScolaire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}Etudiant;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836133" y="3965273"/>
            <a:ext cx="19288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536414" y="4616151"/>
            <a:ext cx="4429156" cy="6451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</a:rPr>
              <a:t>  E</a:t>
            </a:r>
            <a:r>
              <a:rPr lang="fr-FR" b="1" dirty="0"/>
              <a:t>tudiant</a:t>
            </a:r>
            <a:r>
              <a:rPr lang="fr-FR" dirty="0"/>
              <a:t> E1;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536414" y="4616468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 &lt;</a:t>
            </a:r>
            <a:r>
              <a:rPr lang="fr-FR" b="1" dirty="0" err="1"/>
              <a:t>Nom_Structure</a:t>
            </a:r>
            <a:r>
              <a:rPr lang="fr-FR" b="1" dirty="0"/>
              <a:t>&gt; &lt;</a:t>
            </a:r>
            <a:r>
              <a:rPr lang="fr-FR" b="1" dirty="0" err="1"/>
              <a:t>Var_Structure</a:t>
            </a:r>
            <a:r>
              <a:rPr lang="fr-FR" b="1" dirty="0"/>
              <a:t>&gt;;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7</a:t>
            </a:fld>
            <a:endParaRPr lang="fr-FR"/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652145" y="637540"/>
            <a:ext cx="7839075" cy="6311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 d’une Variable : Utilisation de </a:t>
            </a:r>
            <a:r>
              <a:rPr lang="fr-FR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(3/3)</a:t>
            </a:r>
          </a:p>
        </p:txBody>
      </p:sp>
      <p:sp>
        <p:nvSpPr>
          <p:cNvPr id="4" name="ZoneTexte 18"/>
          <p:cNvSpPr txBox="1"/>
          <p:nvPr/>
        </p:nvSpPr>
        <p:spPr>
          <a:xfrm>
            <a:off x="857223" y="3965273"/>
            <a:ext cx="19288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</a:p>
        </p:txBody>
      </p:sp>
      <p:sp>
        <p:nvSpPr>
          <p:cNvPr id="5" name="ZoneTexte 18"/>
          <p:cNvSpPr txBox="1"/>
          <p:nvPr/>
        </p:nvSpPr>
        <p:spPr>
          <a:xfrm>
            <a:off x="857223" y="1268428"/>
            <a:ext cx="19288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470</Words>
  <Application>Microsoft Office PowerPoint</Application>
  <PresentationFormat>On-screen Show (4:3)</PresentationFormat>
  <Paragraphs>109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esprit;Hichem LOUSSIFI</dc:creator>
  <cp:lastModifiedBy>naouel boughattas</cp:lastModifiedBy>
  <cp:revision>416</cp:revision>
  <dcterms:created xsi:type="dcterms:W3CDTF">2017-09-09T12:22:00Z</dcterms:created>
  <dcterms:modified xsi:type="dcterms:W3CDTF">2025-06-28T22:36:32Z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1036-11.2.0.11380</vt:lpwstr>
  </property>
  <property fmtid="{D5CDD505-2E9C-101B-9397-08002B2CF9AE}" pid="3" name="ICV">
    <vt:lpwstr>75D52BC343904ED0862E3136FE6D2E46</vt:lpwstr>
  </property>
</Properties>
</file>