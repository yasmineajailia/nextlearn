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15" r:id="rId2"/>
    <p:sldId id="316" r:id="rId3"/>
    <p:sldId id="317" r:id="rId4"/>
    <p:sldId id="318" r:id="rId5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67" d="100"/>
          <a:sy n="67" d="100"/>
        </p:scale>
        <p:origin x="1325" y="38"/>
      </p:cViewPr>
      <p:guideLst>
        <p:guide orient="horz" pos="2107"/>
        <p:guide pos="2880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14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1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0" y="2643183"/>
            <a:ext cx="9144000" cy="15716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fr-FR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 de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435280" cy="5237204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2400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-203" y="605577"/>
            <a:ext cx="6624736" cy="6309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/>
          <a:p>
            <a:pPr lvl="0" algn="ctr"/>
            <a:r>
              <a:rPr lang="fr-FR" sz="2800" b="1" noProof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et Déclaration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251520" y="999808"/>
            <a:ext cx="8640960" cy="5668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Clr>
                <a:srgbClr val="C00000"/>
              </a:buClr>
              <a:buNone/>
            </a:pPr>
            <a:endParaRPr lang="fr-FR" sz="2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tableau de structures est un tableau dont les éléments sont de type structure.</a:t>
            </a:r>
          </a:p>
          <a:p>
            <a:pPr marL="57150" indent="0">
              <a:buClr>
                <a:srgbClr val="C00000"/>
              </a:buClr>
              <a:buNone/>
            </a:pPr>
            <a:endParaRPr lang="fr-FR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  <a:endParaRPr lang="fr-FR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Clr>
                <a:srgbClr val="C00000"/>
              </a:buClr>
              <a:buNone/>
            </a:pPr>
            <a:endParaRPr lang="fr-FR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sz="4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Nom_Structure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33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&lt;type_champ1&gt; &lt;</a:t>
            </a:r>
            <a:r>
              <a:rPr lang="fr-FR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Nom_Champ1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&lt;type_champ2&gt; &lt;</a:t>
            </a:r>
            <a:r>
              <a:rPr lang="fr-FR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Nom_Champ2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&lt;type_champ3&gt; &lt;</a:t>
            </a:r>
            <a:r>
              <a:rPr lang="fr-FR" sz="33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Nom_Champ3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57150" indent="0">
              <a:buClr>
                <a:srgbClr val="C00000"/>
              </a:buClr>
              <a:buNone/>
            </a:pPr>
            <a:r>
              <a:rPr lang="fr-FR" sz="3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</a:t>
            </a:r>
            <a:r>
              <a:rPr lang="fr-FR" sz="4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Nom_Structure</a:t>
            </a:r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tab [taille]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fr-FR" sz="33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tab est le nom du tableau</a:t>
            </a:r>
          </a:p>
          <a:p>
            <a:pPr marL="457200" lvl="1" indent="0">
              <a:buClr>
                <a:srgbClr val="C00000"/>
              </a:buClr>
              <a:buNone/>
            </a:pPr>
            <a:endParaRPr lang="fr-FR" sz="33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sz="3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379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33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Etudiant </a:t>
            </a:r>
          </a:p>
          <a:p>
            <a:pPr marL="400050" lvl="1" indent="0">
              <a:buNone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57250" lvl="2" indent="0">
              <a:buNone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nom [30];</a:t>
            </a:r>
          </a:p>
          <a:p>
            <a:pPr marL="857250" lvl="2" indent="0">
              <a:buNone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fr-FR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[30];</a:t>
            </a:r>
          </a:p>
          <a:p>
            <a:pPr marL="857250" lvl="2" indent="0">
              <a:buNone/>
            </a:pPr>
            <a:r>
              <a:rPr lang="fr-FR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notes [4];</a:t>
            </a:r>
          </a:p>
          <a:p>
            <a:pPr marL="400050" lvl="1" indent="0">
              <a:buNone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400050" lvl="1" indent="0">
              <a:buNone/>
            </a:pPr>
            <a:r>
              <a:rPr lang="fr-FR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Etudiant Classe[10];</a:t>
            </a:r>
          </a:p>
          <a:p>
            <a:pPr marL="457200" lvl="1" indent="0">
              <a:buClr>
                <a:srgbClr val="C00000"/>
              </a:buClr>
              <a:buNone/>
            </a:pPr>
            <a:endParaRPr lang="fr-FR" sz="3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-557098" y="648672"/>
            <a:ext cx="6624736" cy="6309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/>
          <a:p>
            <a:pPr lvl="0" algn="ctr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 à un champ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251520" y="1137250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Clr>
                <a:srgbClr val="C00000"/>
              </a:buClr>
              <a:buNone/>
            </a:pP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fr-FR" b="1" dirty="0">
              <a:solidFill>
                <a:schemeClr val="accent6"/>
              </a:solidFill>
            </a:endParaRPr>
          </a:p>
          <a:p>
            <a:pPr marL="57150" indent="0">
              <a:buClr>
                <a:srgbClr val="C00000"/>
              </a:buClr>
              <a:buNone/>
            </a:pP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Classe[i]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.note[1]= 15: </a:t>
            </a:r>
            <a:r>
              <a:rPr lang="fr-F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désigne l’affectation de la valeur 15 au champ note[1] de l’élément de rang i du tableau Classe.</a:t>
            </a:r>
          </a:p>
          <a:p>
            <a:pPr marL="57150" indent="0">
              <a:buClr>
                <a:srgbClr val="C00000"/>
              </a:buClr>
              <a:buNone/>
            </a:pP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7150" indent="0">
              <a:buClr>
                <a:srgbClr val="C00000"/>
              </a:buClr>
              <a:buNone/>
            </a:pPr>
            <a:r>
              <a:rPr lang="fr-F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Classe.note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[i]    =&gt;  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N’a pas de sens!</a:t>
            </a:r>
            <a:endParaRPr lang="fr-FR" dirty="0">
              <a:solidFill>
                <a:srgbClr val="FF0000"/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7150" indent="0">
              <a:buClr>
                <a:srgbClr val="C00000"/>
              </a:buClr>
              <a:buNone/>
            </a:pPr>
            <a:endParaRPr lang="fr-FR" sz="2000" dirty="0">
              <a:solidFill>
                <a:schemeClr val="bg1">
                  <a:lumMod val="50000"/>
                </a:schemeClr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3059539" y="4795887"/>
            <a:ext cx="934821" cy="8640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3216647" y="4795887"/>
            <a:ext cx="620601" cy="8640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2"/>
          <p:cNvSpPr>
            <a:spLocks noGrp="1"/>
          </p:cNvSpPr>
          <p:nvPr>
            <p:ph idx="1"/>
          </p:nvPr>
        </p:nvSpPr>
        <p:spPr>
          <a:xfrm>
            <a:off x="-179161" y="1143361"/>
            <a:ext cx="4067944" cy="5237204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C00000"/>
              </a:buCl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400050" lvl="1" indent="0">
              <a:buNone/>
            </a:pP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57250" lvl="2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 [30];</a:t>
            </a:r>
          </a:p>
          <a:p>
            <a:pPr marL="857250" lvl="2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[30];</a:t>
            </a:r>
          </a:p>
          <a:p>
            <a:pPr marL="857250" lvl="2" indent="0"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 [4];</a:t>
            </a:r>
          </a:p>
          <a:p>
            <a:pPr marL="400050" lvl="1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Etudiant;</a:t>
            </a:r>
          </a:p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 </a:t>
            </a:r>
          </a:p>
          <a:p>
            <a:pPr marL="857250" lvl="2" indent="0">
              <a:buClr>
                <a:srgbClr val="C00000"/>
              </a:buClr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Classe[5]; </a:t>
            </a:r>
          </a:p>
          <a:p>
            <a:pPr marL="857250" lvl="2" indent="0">
              <a:buClr>
                <a:srgbClr val="C00000"/>
              </a:buClr>
              <a:buNone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,j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57250" lvl="2" indent="0">
              <a:buClr>
                <a:srgbClr val="C00000"/>
              </a:buClr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-137160" y="512445"/>
            <a:ext cx="4025900" cy="631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lvl="0" algn="ctr"/>
            <a:r>
              <a:rPr lang="fr-FR" sz="2800" b="1" noProof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3103265" y="1143541"/>
            <a:ext cx="5904656" cy="60486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C00000"/>
              </a:buClr>
              <a:buNone/>
            </a:pPr>
            <a:r>
              <a:rPr lang="fr-FR" sz="2200" b="1" dirty="0"/>
              <a:t>/*remplissage  des 5 éléments du tableau Classe */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b="1" dirty="0"/>
              <a:t>for</a:t>
            </a:r>
            <a:r>
              <a:rPr lang="fr-FR" sz="2200" dirty="0"/>
              <a:t>(i = 0 ; i &lt;5 ; i++) 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{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dirty="0" err="1"/>
              <a:t>printf</a:t>
            </a:r>
            <a:r>
              <a:rPr lang="fr-FR" sz="2200" dirty="0"/>
              <a:t>(</a:t>
            </a:r>
            <a:r>
              <a:rPr lang="fr-FR" sz="2200" i="1" dirty="0"/>
              <a:t>" Nom:" );</a:t>
            </a:r>
            <a:r>
              <a:rPr lang="fr-FR" sz="2200" i="1" dirty="0" err="1"/>
              <a:t>scanf</a:t>
            </a:r>
            <a:r>
              <a:rPr lang="fr-FR" sz="2200" i="1" dirty="0"/>
              <a:t>("%</a:t>
            </a:r>
            <a:r>
              <a:rPr lang="fr-FR" sz="2200" i="1" dirty="0" err="1"/>
              <a:t>s",Classe</a:t>
            </a:r>
            <a:r>
              <a:rPr lang="fr-FR" sz="2200" i="1" dirty="0"/>
              <a:t>[i].nom);</a:t>
            </a:r>
            <a:endParaRPr lang="fr-FR" sz="2200" dirty="0"/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dirty="0" err="1"/>
              <a:t>printf</a:t>
            </a:r>
            <a:r>
              <a:rPr lang="fr-FR" sz="2200" dirty="0"/>
              <a:t>(</a:t>
            </a:r>
            <a:r>
              <a:rPr lang="fr-FR" sz="2200" i="1" dirty="0"/>
              <a:t>" </a:t>
            </a:r>
            <a:r>
              <a:rPr lang="fr-FR" sz="2200" i="1" dirty="0" err="1"/>
              <a:t>Prenom</a:t>
            </a:r>
            <a:r>
              <a:rPr lang="fr-FR" sz="2200" i="1" dirty="0"/>
              <a:t>:" );</a:t>
            </a:r>
            <a:r>
              <a:rPr lang="fr-FR" sz="2200" i="1" dirty="0" err="1"/>
              <a:t>scanf</a:t>
            </a:r>
            <a:r>
              <a:rPr lang="fr-FR" sz="2200" i="1" dirty="0"/>
              <a:t>("%</a:t>
            </a:r>
            <a:r>
              <a:rPr lang="fr-FR" sz="2200" i="1" dirty="0" err="1"/>
              <a:t>s",Classe</a:t>
            </a:r>
            <a:r>
              <a:rPr lang="fr-FR" sz="2200" i="1" dirty="0"/>
              <a:t>[i].</a:t>
            </a:r>
            <a:r>
              <a:rPr lang="fr-FR" sz="2200" i="1" dirty="0" err="1"/>
              <a:t>prenom</a:t>
            </a:r>
            <a:r>
              <a:rPr lang="fr-FR" sz="2200" i="1" dirty="0"/>
              <a:t>);</a:t>
            </a:r>
            <a:endParaRPr lang="fr-FR" sz="2200" dirty="0"/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for(j=0;j&lt;4;j++)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{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dirty="0" err="1"/>
              <a:t>printf</a:t>
            </a:r>
            <a:r>
              <a:rPr lang="fr-FR" sz="2200" dirty="0"/>
              <a:t>(</a:t>
            </a:r>
            <a:r>
              <a:rPr lang="fr-FR" sz="2200" i="1" dirty="0"/>
              <a:t>" Note %d:"  ,j );</a:t>
            </a:r>
            <a:r>
              <a:rPr lang="fr-FR" sz="2200" i="1" dirty="0" err="1"/>
              <a:t>scanf</a:t>
            </a:r>
            <a:r>
              <a:rPr lang="fr-FR" sz="2200" i="1" dirty="0"/>
              <a:t>("%</a:t>
            </a:r>
            <a:r>
              <a:rPr lang="fr-FR" sz="2200" i="1" dirty="0" err="1"/>
              <a:t>f",&amp;Classe</a:t>
            </a:r>
            <a:r>
              <a:rPr lang="fr-FR" sz="2200" i="1" dirty="0"/>
              <a:t>[i].notes[j]);</a:t>
            </a:r>
            <a:endParaRPr lang="fr-FR" sz="2200" dirty="0"/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}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} 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b="1" dirty="0"/>
              <a:t>/*Affichage des  éléments du tableau Classe*/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b="1" dirty="0"/>
              <a:t>for</a:t>
            </a:r>
            <a:r>
              <a:rPr lang="fr-FR" sz="2200" dirty="0"/>
              <a:t>(i = 0 ; i &lt;5; i++) 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{ 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 err="1"/>
              <a:t>Moy</a:t>
            </a:r>
            <a:r>
              <a:rPr lang="fr-FR" sz="2200" dirty="0"/>
              <a:t>=0;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dirty="0"/>
              <a:t>for(j=0;j&lt;4;j++)</a:t>
            </a:r>
          </a:p>
          <a:p>
            <a:pPr marL="857250" lvl="2" indent="0">
              <a:buClr>
                <a:srgbClr val="C00000"/>
              </a:buClr>
              <a:buNone/>
            </a:pPr>
            <a:r>
              <a:rPr lang="fr-FR" sz="2120" dirty="0" err="1"/>
              <a:t>Moy</a:t>
            </a:r>
            <a:r>
              <a:rPr lang="fr-FR" sz="2120" dirty="0"/>
              <a:t>+=Classe[i].notes[j];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dirty="0" err="1"/>
              <a:t>printf</a:t>
            </a:r>
            <a:r>
              <a:rPr lang="fr-FR" sz="2200" dirty="0"/>
              <a:t>(</a:t>
            </a:r>
            <a:r>
              <a:rPr lang="fr-FR" sz="2200" i="1" dirty="0"/>
              <a:t>" %s %s a une moyenne de %f" , Classe[i].nom, Classe[i].</a:t>
            </a:r>
            <a:r>
              <a:rPr lang="fr-FR" sz="2200" i="1" dirty="0" err="1"/>
              <a:t>prenom,Moy</a:t>
            </a:r>
            <a:r>
              <a:rPr lang="fr-FR" sz="2200" i="1" dirty="0"/>
              <a:t>/4</a:t>
            </a:r>
            <a:r>
              <a:rPr lang="fr-FR" sz="2200" dirty="0"/>
              <a:t>); 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} </a:t>
            </a:r>
          </a:p>
          <a:p>
            <a:pPr marL="457200" lvl="1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/>
              <a:t>}</a:t>
            </a:r>
            <a:endParaRPr lang="fr-FR" sz="22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374</Words>
  <Application>Microsoft Office PowerPoint</Application>
  <PresentationFormat>On-screen Show (4:3)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esprit;Hichem LOUSSIFI</dc:creator>
  <cp:lastModifiedBy>naouel boughattas</cp:lastModifiedBy>
  <cp:revision>417</cp:revision>
  <dcterms:created xsi:type="dcterms:W3CDTF">2017-09-09T12:22:00Z</dcterms:created>
  <dcterms:modified xsi:type="dcterms:W3CDTF">2025-06-28T22:45:49Z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1036-11.2.0.11380</vt:lpwstr>
  </property>
  <property fmtid="{D5CDD505-2E9C-101B-9397-08002B2CF9AE}" pid="3" name="ICV">
    <vt:lpwstr>75D52BC343904ED0862E3136FE6D2E46</vt:lpwstr>
  </property>
</Properties>
</file>