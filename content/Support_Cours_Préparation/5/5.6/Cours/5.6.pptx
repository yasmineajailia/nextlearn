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91" r:id="rId4"/>
    <p:sldId id="299" r:id="rId6"/>
    <p:sldId id="300" r:id="rId7"/>
    <p:sldId id="417" r:id="rId8"/>
    <p:sldId id="301" r:id="rId9"/>
    <p:sldId id="416" r:id="rId10"/>
    <p:sldId id="302" r:id="rId11"/>
    <p:sldId id="309" r:id="rId12"/>
    <p:sldId id="341" r:id="rId13"/>
    <p:sldId id="342" r:id="rId14"/>
    <p:sldId id="343" r:id="rId15"/>
    <p:sldId id="344" r:id="rId16"/>
    <p:sldId id="345" r:id="rId17"/>
    <p:sldId id="347" r:id="rId18"/>
  </p:sldIdLst>
  <p:sldSz cx="9144000" cy="6858000" type="screen4x3"/>
  <p:notesSz cx="710247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860" autoAdjust="0"/>
    <p:restoredTop sz="88510" autoAdjust="0"/>
  </p:normalViewPr>
  <p:slideViewPr>
    <p:cSldViewPr>
      <p:cViewPr varScale="1">
        <p:scale>
          <a:sx n="60" d="100"/>
          <a:sy n="60" d="100"/>
        </p:scale>
        <p:origin x="-1710" y="-96"/>
      </p:cViewPr>
      <p:guideLst>
        <p:guide orient="horz" pos="2160"/>
        <p:guide pos="2889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4"/>
        <p:guide pos="22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457200" y="100010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8345" y="1337905"/>
            <a:ext cx="8643966" cy="5939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Il existe de nombreuses fonctions permettant de manipuler les chaînes de caractères.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Les fonctions de manipulation des chaînes se trouvent dans la bibliothèque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Exemples de fonctions de la bibliothèque 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fr-F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endParaRPr lang="fr-FR" sz="24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strncpy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endParaRPr lang="fr-FR" sz="24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strncat</a:t>
            </a:r>
            <a:endParaRPr lang="fr-FR" sz="2400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endParaRPr lang="fr-FR" sz="24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fr-FR" sz="2000" b="1" dirty="0"/>
          </a:p>
        </p:txBody>
      </p:sp>
      <p:sp>
        <p:nvSpPr>
          <p:cNvPr id="10" name="Titre 6"/>
          <p:cNvSpPr>
            <a:spLocks noGrp="1"/>
          </p:cNvSpPr>
          <p:nvPr>
            <p:ph type="title"/>
          </p:nvPr>
        </p:nvSpPr>
        <p:spPr>
          <a:xfrm>
            <a:off x="571472" y="75636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457200" y="100010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0034" y="1571612"/>
            <a:ext cx="8643966" cy="3569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endParaRPr lang="fr-FR" b="1" dirty="0"/>
          </a:p>
          <a:p>
            <a:pPr>
              <a:buNone/>
            </a:pPr>
            <a:endParaRPr lang="fr-FR" sz="2000" dirty="0">
              <a:solidFill>
                <a:srgbClr val="C00000"/>
              </a:solidFill>
              <a:latin typeface="Baskerville Old Face" panose="02020602080505020303" pitchFamily="18" charset="0"/>
            </a:endParaRPr>
          </a:p>
          <a:p>
            <a:pPr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une fonction de la bibliothèque &lt;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qui retourne la taille d’une chaîne </a:t>
            </a:r>
            <a:r>
              <a:rPr lang="fr-F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compter le caractère ‘\0’.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lg;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Lg=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400" dirty="0">
                <a:latin typeface="Baskerville Old Face" panose="02020602080505020303" pitchFamily="18" charset="0"/>
              </a:rPr>
              <a:t>"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TOTO</a:t>
            </a:r>
            <a:r>
              <a:rPr lang="fr-FR" sz="2400" dirty="0">
                <a:latin typeface="Baskerville Old Face" panose="02020602080505020303" pitchFamily="18" charset="0"/>
              </a:rPr>
              <a:t>"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         /*lg=4*/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2000" b="1" dirty="0"/>
          </a:p>
        </p:txBody>
      </p:sp>
      <p:sp>
        <p:nvSpPr>
          <p:cNvPr id="10" name="Titre 6"/>
          <p:cNvSpPr>
            <a:spLocks noGrp="1"/>
          </p:cNvSpPr>
          <p:nvPr>
            <p:ph type="title"/>
          </p:nvPr>
        </p:nvSpPr>
        <p:spPr>
          <a:xfrm>
            <a:off x="571472" y="75636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457200" y="100010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396240" y="1916430"/>
            <a:ext cx="9871710" cy="5074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permet de recopier une chaîne de caractères dans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variable de type chaîne de caractères.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chaine1, chaine2);   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copie chaine2 dans chaine1 */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chaine1[5]= "";             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//chaine vide</a:t>
            </a: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(chaine1, "Toto");    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/*chaine1 contient la chaine Toto*/</a:t>
            </a:r>
            <a:endParaRPr lang="fr-B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q"/>
              <a:defRPr/>
            </a:pPr>
            <a:endParaRPr lang="fr-BE" sz="2500" dirty="0"/>
          </a:p>
          <a:p>
            <a:pPr marL="1314450" lvl="2" indent="-457200" algn="just"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q"/>
              <a:defRPr/>
            </a:pPr>
            <a:endParaRPr lang="fr-BE" sz="2400" dirty="0"/>
          </a:p>
        </p:txBody>
      </p:sp>
      <p:sp>
        <p:nvSpPr>
          <p:cNvPr id="10" name="Titre 6"/>
          <p:cNvSpPr>
            <a:spLocks noGrp="1"/>
          </p:cNvSpPr>
          <p:nvPr>
            <p:ph type="title"/>
          </p:nvPr>
        </p:nvSpPr>
        <p:spPr>
          <a:xfrm>
            <a:off x="571472" y="75636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457200" y="100010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396240" y="1916430"/>
            <a:ext cx="9871710" cy="5535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strncpy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permet de recopier « n » caractères de chaine2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chaine1.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strncpy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chaine1, chaine2, n);   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copie n caractères de </a:t>
            </a: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chaine2 dans chaine1 */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chaine1[15]= "";             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//chaine vide</a:t>
            </a: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(chaine1, "Programmation", 4);   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  chaine1 contient la chaine : 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 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    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endParaRPr lang="fr-B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q"/>
              <a:defRPr/>
            </a:pPr>
            <a:endParaRPr lang="fr-BE" sz="2500" dirty="0"/>
          </a:p>
          <a:p>
            <a:pPr marL="1314450" lvl="2" indent="-457200" algn="just"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q"/>
              <a:defRPr/>
            </a:pPr>
            <a:endParaRPr lang="fr-BE" sz="2400" dirty="0"/>
          </a:p>
        </p:txBody>
      </p:sp>
      <p:sp>
        <p:nvSpPr>
          <p:cNvPr id="10" name="Titre 6"/>
          <p:cNvSpPr>
            <a:spLocks noGrp="1"/>
          </p:cNvSpPr>
          <p:nvPr>
            <p:ph type="title"/>
          </p:nvPr>
        </p:nvSpPr>
        <p:spPr>
          <a:xfrm>
            <a:off x="571472" y="75636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91008" y="1928802"/>
            <a:ext cx="9715536" cy="4351338"/>
          </a:xfrm>
        </p:spPr>
        <p:txBody>
          <a:bodyPr>
            <a:noAutofit/>
          </a:bodyPr>
          <a:lstStyle/>
          <a:p>
            <a:pPr marL="1314450" lvl="2" indent="-457200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permet de concaténer deux chaînes de caractères.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(chaine1,chaine2);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ajoute chaine2 à la fin de chaine1 */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endParaRPr lang="fr-FR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(chaine1, "Bon");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(chaine2, "jour")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57200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(chaine1, chaine2); 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(chaine1 contient  Bonjour)*/</a:t>
            </a:r>
            <a:endParaRPr lang="fr-BE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spcBef>
                <a:spcPct val="20000"/>
              </a:spcBef>
              <a:buClr>
                <a:srgbClr val="C00000"/>
              </a:buClr>
              <a:defRPr/>
            </a:pP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8" name="Titre 6"/>
          <p:cNvSpPr>
            <a:spLocks noGrp="1"/>
          </p:cNvSpPr>
          <p:nvPr>
            <p:ph type="title"/>
          </p:nvPr>
        </p:nvSpPr>
        <p:spPr>
          <a:xfrm>
            <a:off x="571472" y="75636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-385445" y="1705610"/>
            <a:ext cx="10114915" cy="4351655"/>
          </a:xfrm>
        </p:spPr>
        <p:txBody>
          <a:bodyPr>
            <a:noAutofit/>
          </a:bodyPr>
          <a:lstStyle/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strncat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elle permet de concaténer seulement les « n » premiers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caractères de la chaine de caractères «chaine2» à la fin de la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chaine de caractères «chaine1».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Exemple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alt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strcpy (chaine1,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</a:t>
            </a:r>
            <a:r>
              <a:rPr lang="fr-FR" alt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 de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</a:t>
            </a:r>
            <a:r>
              <a:rPr lang="fr-FR" alt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  <a:endParaRPr lang="fr-FR" alt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alt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altLang="fr-BE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strcpy (chaine2,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"Programmation"</a:t>
            </a:r>
            <a:r>
              <a:rPr lang="fr-FR" altLang="fr-BE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;</a:t>
            </a:r>
            <a:endParaRPr lang="fr-FR" altLang="fr-BE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altLang="fr-B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strncat ( chaine1, chaine2, 4);   </a:t>
            </a:r>
            <a:r>
              <a:rPr lang="fr-FR" altLang="fr-B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(chaine1 contient </a:t>
            </a:r>
            <a:endParaRPr lang="fr-FR" altLang="fr-B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altLang="fr-B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la chaine :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</a:t>
            </a:r>
            <a:r>
              <a:rPr lang="fr-FR" altLang="fr-BE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Cours de Prog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") */</a:t>
            </a:r>
            <a:endParaRPr lang="fr-FR" altLang="fr-B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628650" y="78883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0" y="1601612"/>
            <a:ext cx="9756576" cy="4755075"/>
          </a:xfrm>
        </p:spPr>
        <p:txBody>
          <a:bodyPr>
            <a:noAutofit/>
          </a:bodyPr>
          <a:lstStyle/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permet de comparer deux chaînes de caractères selon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l’ordre  lexicographique.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0" lvl="2" indent="-136525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- strcmp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(chaine1,chaine2);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0" lvl="2" indent="-136525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chaine1 et chaine2 et rend la valeur 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0" lvl="2" indent="-136525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•  0 : si elles sont identiques.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•  une valeur négative : si chaine1 précède chaine2.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•  une valeur positive : si chaine1 suit chaine2.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571472" y="75636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612710" y="1601640"/>
            <a:ext cx="9756576" cy="4755075"/>
          </a:xfrm>
        </p:spPr>
        <p:txBody>
          <a:bodyPr>
            <a:noAutofit/>
          </a:bodyPr>
          <a:lstStyle/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(chaine1, "Bon");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(chaine2, "Ben");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(!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(chaine1, chaine2))   </a:t>
            </a:r>
            <a:r>
              <a:rPr lang="fr-FR" sz="2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if ( strcmp (chaine1, chaine 2) == 0)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printf ("Les 2 chaînes sont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egales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printf ("Les 2 chaînes sont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differentes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571472" y="75636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-542925" y="1691005"/>
            <a:ext cx="3886200" cy="4351338"/>
          </a:xfrm>
        </p:spPr>
        <p:txBody>
          <a:bodyPr>
            <a:noAutofit/>
          </a:bodyPr>
          <a:lstStyle/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628650" y="78883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1066165" y="2481580"/>
          <a:ext cx="64001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599565"/>
                <a:gridCol w="1599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         B   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o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Zone de texte 8"/>
          <p:cNvSpPr txBox="1"/>
          <p:nvPr/>
        </p:nvSpPr>
        <p:spPr>
          <a:xfrm>
            <a:off x="7722235" y="2481580"/>
            <a:ext cx="932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chaine1</a:t>
            </a:r>
            <a:endParaRPr lang="fr-FR" altLang="en-US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Espace réservé du contenu 9"/>
          <p:cNvGraphicFramePr/>
          <p:nvPr>
            <p:ph sz="half" idx="2"/>
          </p:nvPr>
        </p:nvGraphicFramePr>
        <p:xfrm>
          <a:off x="1066165" y="3497580"/>
          <a:ext cx="64008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         B   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e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Zone de texte 10"/>
          <p:cNvSpPr txBox="1"/>
          <p:nvPr/>
        </p:nvSpPr>
        <p:spPr>
          <a:xfrm>
            <a:off x="7722235" y="3497580"/>
            <a:ext cx="932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chaine2</a:t>
            </a:r>
            <a:endParaRPr lang="fr-FR" altLang="en-US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-542925" y="1691005"/>
            <a:ext cx="3886200" cy="4351338"/>
          </a:xfrm>
        </p:spPr>
        <p:txBody>
          <a:bodyPr>
            <a:noAutofit/>
          </a:bodyPr>
          <a:lstStyle/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628650" y="78883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1066165" y="2481580"/>
          <a:ext cx="64001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599565"/>
                <a:gridCol w="1599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         B   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o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Zone de texte 8"/>
          <p:cNvSpPr txBox="1"/>
          <p:nvPr/>
        </p:nvSpPr>
        <p:spPr>
          <a:xfrm>
            <a:off x="7722235" y="2481580"/>
            <a:ext cx="932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chaine1</a:t>
            </a:r>
            <a:endParaRPr lang="fr-FR" altLang="en-US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Espace réservé du contenu 9"/>
          <p:cNvGraphicFramePr/>
          <p:nvPr>
            <p:ph sz="half" idx="2"/>
          </p:nvPr>
        </p:nvGraphicFramePr>
        <p:xfrm>
          <a:off x="1066165" y="3497580"/>
          <a:ext cx="64008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         B   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e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Zone de texte 10"/>
          <p:cNvSpPr txBox="1"/>
          <p:nvPr/>
        </p:nvSpPr>
        <p:spPr>
          <a:xfrm>
            <a:off x="7722235" y="3497580"/>
            <a:ext cx="932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chaine2</a:t>
            </a:r>
            <a:endParaRPr lang="fr-FR" altLang="en-US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necteur droit avec flèche 1"/>
          <p:cNvCxnSpPr/>
          <p:nvPr/>
        </p:nvCxnSpPr>
        <p:spPr>
          <a:xfrm flipV="1">
            <a:off x="1513840" y="2997200"/>
            <a:ext cx="250190" cy="260350"/>
          </a:xfrm>
          <a:prstGeom prst="straightConnector1">
            <a:avLst/>
          </a:prstGeom>
          <a:ln w="3492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/>
          <p:cNvCxnSpPr/>
          <p:nvPr/>
        </p:nvCxnSpPr>
        <p:spPr>
          <a:xfrm flipV="1">
            <a:off x="1513840" y="3995420"/>
            <a:ext cx="250190" cy="260350"/>
          </a:xfrm>
          <a:prstGeom prst="straightConnector1">
            <a:avLst/>
          </a:prstGeom>
          <a:ln w="3492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-542925" y="1691005"/>
            <a:ext cx="3886200" cy="4351338"/>
          </a:xfrm>
        </p:spPr>
        <p:txBody>
          <a:bodyPr>
            <a:noAutofit/>
          </a:bodyPr>
          <a:lstStyle/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628650" y="78883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1066165" y="2481580"/>
          <a:ext cx="64001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599565"/>
                <a:gridCol w="1599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         B   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o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Zone de texte 8"/>
          <p:cNvSpPr txBox="1"/>
          <p:nvPr/>
        </p:nvSpPr>
        <p:spPr>
          <a:xfrm>
            <a:off x="7722235" y="2481580"/>
            <a:ext cx="932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chaine1</a:t>
            </a:r>
            <a:endParaRPr lang="fr-FR" altLang="en-US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Espace réservé du contenu 9"/>
          <p:cNvGraphicFramePr/>
          <p:nvPr>
            <p:ph sz="half" idx="2"/>
          </p:nvPr>
        </p:nvGraphicFramePr>
        <p:xfrm>
          <a:off x="1066165" y="3497580"/>
          <a:ext cx="64008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         B   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e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Zone de texte 10"/>
          <p:cNvSpPr txBox="1"/>
          <p:nvPr/>
        </p:nvSpPr>
        <p:spPr>
          <a:xfrm>
            <a:off x="7722235" y="3497580"/>
            <a:ext cx="932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chaine2</a:t>
            </a:r>
            <a:endParaRPr lang="fr-FR" altLang="en-US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necteur droit avec flèche 1"/>
          <p:cNvCxnSpPr/>
          <p:nvPr/>
        </p:nvCxnSpPr>
        <p:spPr>
          <a:xfrm flipV="1">
            <a:off x="1513840" y="2997200"/>
            <a:ext cx="250190" cy="260350"/>
          </a:xfrm>
          <a:prstGeom prst="straightConnector1">
            <a:avLst/>
          </a:prstGeom>
          <a:ln w="3492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/>
          <p:cNvCxnSpPr/>
          <p:nvPr/>
        </p:nvCxnSpPr>
        <p:spPr>
          <a:xfrm flipV="1">
            <a:off x="1513840" y="3995420"/>
            <a:ext cx="250190" cy="260350"/>
          </a:xfrm>
          <a:prstGeom prst="straightConnector1">
            <a:avLst/>
          </a:prstGeom>
          <a:ln w="3492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 de texte 5"/>
          <p:cNvSpPr txBox="1"/>
          <p:nvPr/>
        </p:nvSpPr>
        <p:spPr>
          <a:xfrm>
            <a:off x="1981200" y="4867910"/>
            <a:ext cx="51727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Le caractère 'B' de chaine1 == caractère 'B' de chaine</a:t>
            </a:r>
            <a:r>
              <a:rPr lang="fr-FR" altLang="en-US"/>
              <a:t>2</a:t>
            </a:r>
            <a:endParaRPr lang="fr-F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-542925" y="1691005"/>
            <a:ext cx="3886200" cy="4351338"/>
          </a:xfrm>
        </p:spPr>
        <p:txBody>
          <a:bodyPr>
            <a:noAutofit/>
          </a:bodyPr>
          <a:lstStyle/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628650" y="78883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1066165" y="2481580"/>
          <a:ext cx="64001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599565"/>
                <a:gridCol w="1599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         B   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o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Zone de texte 8"/>
          <p:cNvSpPr txBox="1"/>
          <p:nvPr/>
        </p:nvSpPr>
        <p:spPr>
          <a:xfrm>
            <a:off x="7722235" y="2481580"/>
            <a:ext cx="932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chaine1</a:t>
            </a:r>
            <a:endParaRPr lang="fr-FR" altLang="en-US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Espace réservé du contenu 9"/>
          <p:cNvGraphicFramePr/>
          <p:nvPr>
            <p:ph sz="half" idx="2"/>
          </p:nvPr>
        </p:nvGraphicFramePr>
        <p:xfrm>
          <a:off x="1066165" y="3497580"/>
          <a:ext cx="64008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         B   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e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Zone de texte 10"/>
          <p:cNvSpPr txBox="1"/>
          <p:nvPr/>
        </p:nvSpPr>
        <p:spPr>
          <a:xfrm>
            <a:off x="7722235" y="3497580"/>
            <a:ext cx="932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chaine2</a:t>
            </a:r>
            <a:endParaRPr lang="fr-FR" altLang="en-US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necteur droit avec flèche 1"/>
          <p:cNvCxnSpPr/>
          <p:nvPr/>
        </p:nvCxnSpPr>
        <p:spPr>
          <a:xfrm flipV="1">
            <a:off x="3228340" y="2877820"/>
            <a:ext cx="250190" cy="260350"/>
          </a:xfrm>
          <a:prstGeom prst="straightConnector1">
            <a:avLst/>
          </a:prstGeom>
          <a:ln w="3492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/>
          <p:cNvCxnSpPr/>
          <p:nvPr/>
        </p:nvCxnSpPr>
        <p:spPr>
          <a:xfrm flipV="1">
            <a:off x="3228340" y="3893820"/>
            <a:ext cx="250190" cy="260350"/>
          </a:xfrm>
          <a:prstGeom prst="straightConnector1">
            <a:avLst/>
          </a:prstGeom>
          <a:ln w="3492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-542925" y="1691005"/>
            <a:ext cx="3886200" cy="4351338"/>
          </a:xfrm>
        </p:spPr>
        <p:txBody>
          <a:bodyPr>
            <a:noAutofit/>
          </a:bodyPr>
          <a:lstStyle/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628650" y="78883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1066165" y="2481580"/>
          <a:ext cx="64001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599565"/>
                <a:gridCol w="1599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         B   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o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Zone de texte 8"/>
          <p:cNvSpPr txBox="1"/>
          <p:nvPr/>
        </p:nvSpPr>
        <p:spPr>
          <a:xfrm>
            <a:off x="7722235" y="2481580"/>
            <a:ext cx="932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chaine1</a:t>
            </a:r>
            <a:endParaRPr lang="fr-FR" altLang="en-US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Espace réservé du contenu 9"/>
          <p:cNvGraphicFramePr/>
          <p:nvPr>
            <p:ph sz="half" idx="2"/>
          </p:nvPr>
        </p:nvGraphicFramePr>
        <p:xfrm>
          <a:off x="1066165" y="3497580"/>
          <a:ext cx="64008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         B   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e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Zone de texte 10"/>
          <p:cNvSpPr txBox="1"/>
          <p:nvPr/>
        </p:nvSpPr>
        <p:spPr>
          <a:xfrm>
            <a:off x="7722235" y="3497580"/>
            <a:ext cx="932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chaine2</a:t>
            </a:r>
            <a:endParaRPr lang="fr-FR" altLang="en-US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necteur droit avec flèche 1"/>
          <p:cNvCxnSpPr/>
          <p:nvPr/>
        </p:nvCxnSpPr>
        <p:spPr>
          <a:xfrm flipV="1">
            <a:off x="3228340" y="2877820"/>
            <a:ext cx="250190" cy="260350"/>
          </a:xfrm>
          <a:prstGeom prst="straightConnector1">
            <a:avLst/>
          </a:prstGeom>
          <a:ln w="3492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/>
          <p:cNvCxnSpPr/>
          <p:nvPr/>
        </p:nvCxnSpPr>
        <p:spPr>
          <a:xfrm flipV="1">
            <a:off x="3228340" y="3893820"/>
            <a:ext cx="250190" cy="260350"/>
          </a:xfrm>
          <a:prstGeom prst="straightConnector1">
            <a:avLst/>
          </a:prstGeom>
          <a:ln w="3492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 de texte 5"/>
          <p:cNvSpPr txBox="1"/>
          <p:nvPr/>
        </p:nvSpPr>
        <p:spPr>
          <a:xfrm>
            <a:off x="628650" y="4867910"/>
            <a:ext cx="81997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Le caractère 'e' de chaine2 &lt; ( précède lexicographiquement ) le caractère 'o' de chaine</a:t>
            </a:r>
            <a:r>
              <a:rPr lang="fr-FR" altLang="en-US"/>
              <a:t>1</a:t>
            </a:r>
            <a:endParaRPr lang="fr-F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-542925" y="1691005"/>
            <a:ext cx="3886200" cy="4351338"/>
          </a:xfrm>
        </p:spPr>
        <p:txBody>
          <a:bodyPr>
            <a:noAutofit/>
          </a:bodyPr>
          <a:lstStyle/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fr-B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628650" y="788830"/>
            <a:ext cx="7886700" cy="478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de manipulation de chaînes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1066165" y="2481580"/>
          <a:ext cx="64001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599565"/>
                <a:gridCol w="1599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         B   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o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Zone de texte 8"/>
          <p:cNvSpPr txBox="1"/>
          <p:nvPr/>
        </p:nvSpPr>
        <p:spPr>
          <a:xfrm>
            <a:off x="7722235" y="2481580"/>
            <a:ext cx="932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chaine1</a:t>
            </a:r>
            <a:endParaRPr lang="fr-FR" altLang="en-US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Espace réservé du contenu 9"/>
          <p:cNvGraphicFramePr/>
          <p:nvPr>
            <p:ph sz="half" idx="2"/>
          </p:nvPr>
        </p:nvGraphicFramePr>
        <p:xfrm>
          <a:off x="1066165" y="3497580"/>
          <a:ext cx="64008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         B   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e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 sz="200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fr-FR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Zone de texte 10"/>
          <p:cNvSpPr txBox="1"/>
          <p:nvPr/>
        </p:nvSpPr>
        <p:spPr>
          <a:xfrm>
            <a:off x="7722235" y="3497580"/>
            <a:ext cx="932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chaine2</a:t>
            </a:r>
            <a:endParaRPr lang="fr-FR" altLang="en-US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necteur droit avec flèche 1"/>
          <p:cNvCxnSpPr/>
          <p:nvPr/>
        </p:nvCxnSpPr>
        <p:spPr>
          <a:xfrm flipV="1">
            <a:off x="3228340" y="2877820"/>
            <a:ext cx="250190" cy="260350"/>
          </a:xfrm>
          <a:prstGeom prst="straightConnector1">
            <a:avLst/>
          </a:prstGeom>
          <a:ln w="3492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/>
          <p:cNvCxnSpPr/>
          <p:nvPr/>
        </p:nvCxnSpPr>
        <p:spPr>
          <a:xfrm flipV="1">
            <a:off x="3228340" y="3893820"/>
            <a:ext cx="250190" cy="260350"/>
          </a:xfrm>
          <a:prstGeom prst="straightConnector1">
            <a:avLst/>
          </a:prstGeom>
          <a:ln w="3492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 de texte 5"/>
          <p:cNvSpPr txBox="1"/>
          <p:nvPr/>
        </p:nvSpPr>
        <p:spPr>
          <a:xfrm>
            <a:off x="628650" y="4867910"/>
            <a:ext cx="81997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Le caractère 'e' de chaine2 &lt; ( précède lexicographiquement ) le caractère 'o' de chaine</a:t>
            </a:r>
            <a:r>
              <a:rPr lang="fr-FR" altLang="en-US"/>
              <a:t>1</a:t>
            </a:r>
            <a:endParaRPr lang="fr-FR" altLang="en-US"/>
          </a:p>
        </p:txBody>
      </p:sp>
      <p:sp>
        <p:nvSpPr>
          <p:cNvPr id="12" name="Zone de texte 11"/>
          <p:cNvSpPr txBox="1"/>
          <p:nvPr/>
        </p:nvSpPr>
        <p:spPr>
          <a:xfrm>
            <a:off x="628650" y="5522595"/>
            <a:ext cx="744918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--&gt;  Le résultat de la comparaison avec la fonction :  strcmp ( chaine1, chaine2)</a:t>
            </a:r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1).  Affichage du message :«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Les 2 chaînes sont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differentes»</a:t>
            </a:r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2). une valeur &gt; 0</a:t>
            </a:r>
            <a:endParaRPr lang="fr-F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3694</Words>
  <Application>WPS Presentation</Application>
  <PresentationFormat>Affichage à l'écran (4:3)</PresentationFormat>
  <Paragraphs>324</Paragraphs>
  <Slides>14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Aparajita</vt:lpstr>
      <vt:lpstr>Microsoft YaHei</vt:lpstr>
      <vt:lpstr>Arial</vt:lpstr>
      <vt:lpstr>Times New Roman</vt:lpstr>
      <vt:lpstr>Calibri Light</vt:lpstr>
      <vt:lpstr>Calibri</vt:lpstr>
      <vt:lpstr>Nirmala UI</vt:lpstr>
      <vt:lpstr>Arial Unicode MS</vt:lpstr>
      <vt:lpstr>Arial Narrow</vt:lpstr>
      <vt:lpstr>Baskerville Old Face</vt:lpstr>
      <vt:lpstr>Thème Office</vt:lpstr>
      <vt:lpstr>Office Theme</vt:lpstr>
      <vt:lpstr>    Fonctions de manipulation de chaînes</vt:lpstr>
      <vt:lpstr>    Fonctions de manipulation de chaînes</vt:lpstr>
      <vt:lpstr>    Fonctions de manipulation de chaînes</vt:lpstr>
      <vt:lpstr>    Fonctions de manipulation de chaînes</vt:lpstr>
      <vt:lpstr>    Fonctions de manipulation de chaînes</vt:lpstr>
      <vt:lpstr>    Fonctions de manipulation de chaînes</vt:lpstr>
      <vt:lpstr>    Fonctions de manipulation de chaînes</vt:lpstr>
      <vt:lpstr>    Fonctions de manipulation de chaînes</vt:lpstr>
      <vt:lpstr>    Fonctions de manipulation de chaînes</vt:lpstr>
      <vt:lpstr>    Fonctions de manipulation de chaînes</vt:lpstr>
      <vt:lpstr>    Fonctions de manipulation de chaînes</vt:lpstr>
      <vt:lpstr>    Fonctions de manipulation de chaînes</vt:lpstr>
      <vt:lpstr>    Fonctions de manipulation de chaînes</vt:lpstr>
      <vt:lpstr>    Fonctions de manipulation de chaînes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FATEN</cp:lastModifiedBy>
  <cp:revision>485</cp:revision>
  <dcterms:created xsi:type="dcterms:W3CDTF">2017-09-09T12:22:00Z</dcterms:created>
  <dcterms:modified xsi:type="dcterms:W3CDTF">2025-06-30T11:28:13Z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1036-12.2.0.21546</vt:lpwstr>
  </property>
  <property fmtid="{D5CDD505-2E9C-101B-9397-08002B2CF9AE}" pid="3" name="ICV">
    <vt:lpwstr>A082E9FD0F614F2093D2DFC21698F996</vt:lpwstr>
  </property>
</Properties>
</file>