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328" r:id="rId2"/>
    <p:sldId id="330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53" r:id="rId23"/>
    <p:sldId id="354" r:id="rId24"/>
    <p:sldId id="355" r:id="rId25"/>
    <p:sldId id="356" r:id="rId26"/>
    <p:sldId id="357" r:id="rId27"/>
    <p:sldId id="358" r:id="rId28"/>
    <p:sldId id="359" r:id="rId29"/>
    <p:sldId id="360" r:id="rId30"/>
    <p:sldId id="361" r:id="rId31"/>
    <p:sldId id="362" r:id="rId32"/>
    <p:sldId id="363" r:id="rId33"/>
    <p:sldId id="364" r:id="rId34"/>
    <p:sldId id="365" r:id="rId35"/>
    <p:sldId id="366" r:id="rId36"/>
    <p:sldId id="367" r:id="rId37"/>
    <p:sldId id="368" r:id="rId38"/>
    <p:sldId id="369" r:id="rId39"/>
    <p:sldId id="370" r:id="rId40"/>
    <p:sldId id="371" r:id="rId41"/>
    <p:sldId id="372" r:id="rId42"/>
    <p:sldId id="37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CED96-068A-4274-8614-CE8858D45159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DBC96-224C-4F47-B1D0-6020CB55D1D9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fr-FR" altLang="en-US"/>
              <a:t>Tri croissant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99410" y="1784350"/>
            <a:ext cx="8962390" cy="2204085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 par insertion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4"/>
          <p:cNvSpPr txBox="1"/>
          <p:nvPr/>
        </p:nvSpPr>
        <p:spPr>
          <a:xfrm>
            <a:off x="708025" y="866140"/>
            <a:ext cx="1124521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Principe </a:t>
            </a:r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Soit T un tableau d'entiers. Le tri par insertion consiste à :</a:t>
            </a: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1). L'élément à la position 0 est dans sa bonne place.</a:t>
            </a: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2). On commence à partir du second élément ( qui se trouve à la position = 1)</a:t>
            </a: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3).  à l'étape i, on cherche la bonne position de l'élement T[i]  dans le sous tableau trié de 0 à i-1.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C de l'algorithme tri par insertion</a:t>
            </a:r>
          </a:p>
          <a:p>
            <a:endParaRPr lang="fr-FR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 de texte 4"/>
          <p:cNvSpPr txBox="1"/>
          <p:nvPr/>
        </p:nvSpPr>
        <p:spPr>
          <a:xfrm>
            <a:off x="723265" y="1164590"/>
            <a:ext cx="11245215" cy="5877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  <a:r>
              <a:rPr lang="fr-FR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mémoriser T[i] dans une variable tmp</a:t>
            </a:r>
            <a:endParaRPr lang="fr-FR" sz="24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fr-FR" sz="2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décaler vers la droite les éléments de T[0]..T[i-1] qui sont plus grands que tmp en </a:t>
            </a:r>
          </a:p>
          <a:p>
            <a:r>
              <a:rPr lang="fr-FR" sz="2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partant de T[i-1]</a:t>
            </a:r>
          </a:p>
          <a:p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4502785" y="259397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423926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455485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3" name="Zone de texte 22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6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1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4502785" y="259397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247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(( 1&gt;0 ) &amp;&amp; (</a:t>
            </a:r>
            <a:r>
              <a:rPr lang="fr-FR" altLang="en-US" sz="2000" b="1">
                <a:solidFill>
                  <a:srgbClr val="FF0000"/>
                </a:solidFill>
              </a:rPr>
              <a:t>2 &gt;  6 </a:t>
            </a:r>
            <a:r>
              <a:rPr lang="fr-FR" altLang="en-US" sz="2000" b="1"/>
              <a:t>) )  --&gt;    </a:t>
            </a:r>
            <a:r>
              <a:rPr lang="fr-FR" altLang="en-US" sz="2000" b="1">
                <a:solidFill>
                  <a:srgbClr val="C00000"/>
                </a:solidFill>
              </a:rPr>
              <a:t>FAUX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423926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6</a:t>
            </a:r>
          </a:p>
        </p:txBody>
      </p:sp>
      <p:sp>
        <p:nvSpPr>
          <p:cNvPr id="24" name="Flèche vers le bas 23"/>
          <p:cNvSpPr/>
          <p:nvPr/>
        </p:nvSpPr>
        <p:spPr>
          <a:xfrm rot="10800000" flipV="1">
            <a:off x="4706620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4927600" y="141097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numéro de diapositive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5495925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(( 2 &gt; 0 ) &amp;&amp; (6 &gt;  5 ) )  --&gt; 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328920" y="259397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5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2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5288915" y="155702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509895" y="1473835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5495925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(( 2 &gt; 0 ) &amp;&amp; (6 &gt;  5 ) )  --&gt; 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328920" y="259397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5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2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5288915" y="155702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509895" y="1473835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T[2] = T[1];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 j = 1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bg2"/>
                </a:solidFill>
              </a:rPr>
              <a:t>T[j] = 5 ;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2             6                6              0               3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5495925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(( 2 &gt; 0 ) &amp;&amp; (6 &gt;  5 ) )  --&gt; 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328920" y="259397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5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2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4462145" y="155702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720590" y="1505585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T[2] = T[1];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 j = 1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5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2             6                6              0               3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5495925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(( 1 &gt; 0 ) &amp;&amp; (</a:t>
            </a:r>
            <a:r>
              <a:rPr lang="fr-FR" altLang="en-US" sz="2000" b="1">
                <a:solidFill>
                  <a:srgbClr val="FF0000"/>
                </a:solidFill>
              </a:rPr>
              <a:t>2 &gt;  5</a:t>
            </a:r>
            <a:r>
              <a:rPr lang="fr-FR" altLang="en-US" sz="2000" b="1"/>
              <a:t> ) )  --&gt;    </a:t>
            </a:r>
            <a:r>
              <a:rPr lang="fr-FR" altLang="en-US" sz="2000" b="1">
                <a:solidFill>
                  <a:srgbClr val="C00000"/>
                </a:solidFill>
              </a:rPr>
              <a:t>FAUX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328920" y="259397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5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2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4462145" y="155702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720590" y="1505585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T[2] = T[1];</a:t>
            </a: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j = 1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5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2             6                6              0               3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5495925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(( 1 &gt; 0 ) &amp;&amp; (</a:t>
            </a:r>
            <a:r>
              <a:rPr lang="fr-FR" altLang="en-US" sz="2000" b="1">
                <a:solidFill>
                  <a:srgbClr val="FF0000"/>
                </a:solidFill>
              </a:rPr>
              <a:t>2 &gt;  5</a:t>
            </a:r>
            <a:r>
              <a:rPr lang="fr-FR" altLang="en-US" sz="2000" b="1"/>
              <a:t> ) )  --&gt;    </a:t>
            </a:r>
            <a:r>
              <a:rPr lang="fr-FR" altLang="en-US" sz="2000" b="1">
                <a:solidFill>
                  <a:srgbClr val="C00000"/>
                </a:solidFill>
              </a:rPr>
              <a:t>FAUX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328920" y="259397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5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2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4462145" y="155702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720590" y="1505585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5509895" y="4773930"/>
            <a:ext cx="49472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T[2] = T[1];</a:t>
            </a: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j = 1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  <a:r>
              <a:rPr lang="fr-FR" altLang="en-US" sz="2000" b="1">
                <a:solidFill>
                  <a:srgbClr val="7030A0"/>
                </a:solidFill>
              </a:rPr>
              <a:t>T[1] = 5 ;</a:t>
            </a:r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5495925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(( 1 &gt; 0 ) &amp;&amp; (</a:t>
            </a:r>
            <a:r>
              <a:rPr lang="fr-FR" altLang="en-US" sz="2000" b="1">
                <a:solidFill>
                  <a:srgbClr val="FF0000"/>
                </a:solidFill>
              </a:rPr>
              <a:t>2 &gt;  5</a:t>
            </a:r>
            <a:r>
              <a:rPr lang="fr-FR" altLang="en-US" sz="2000" b="1"/>
              <a:t> ) )  --&gt;    </a:t>
            </a:r>
            <a:r>
              <a:rPr lang="fr-FR" altLang="en-US" sz="2000" b="1">
                <a:solidFill>
                  <a:srgbClr val="C00000"/>
                </a:solidFill>
              </a:rPr>
              <a:t>FAUX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5328920" y="259397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5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2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4462145" y="1557020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720590" y="1505585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5" name="Zone de texte 4"/>
          <p:cNvSpPr txBox="1"/>
          <p:nvPr/>
        </p:nvSpPr>
        <p:spPr>
          <a:xfrm>
            <a:off x="5509895" y="4773930"/>
            <a:ext cx="49472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T[2] = T[1];</a:t>
            </a: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j = 1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  <a:r>
              <a:rPr lang="fr-FR" altLang="en-US" sz="2000" b="1">
                <a:solidFill>
                  <a:srgbClr val="7030A0"/>
                </a:solidFill>
              </a:rPr>
              <a:t>T[1] = 5 ;</a:t>
            </a:r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645731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671576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645731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671576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(( 3 &gt; 0 ) &amp;&amp; (</a:t>
            </a:r>
            <a:r>
              <a:rPr lang="fr-FR" altLang="en-US" sz="2000" b="1">
                <a:solidFill>
                  <a:schemeClr val="tx1"/>
                </a:solidFill>
              </a:rPr>
              <a:t>6 &gt;  0</a:t>
            </a:r>
            <a:r>
              <a:rPr lang="fr-FR" altLang="en-US" sz="2000" b="1"/>
              <a:t> ) )  --&gt;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75000"/>
                  </a:schemeClr>
                </a:solidFill>
              </a:rPr>
              <a:t> T[3] = T[2];</a:t>
            </a:r>
            <a:endParaRPr lang="fr-FR" altLang="en-US" sz="2000" b="1">
              <a:solidFill>
                <a:srgbClr val="92D050"/>
              </a:solidFill>
            </a:endParaRPr>
          </a:p>
          <a:p>
            <a:r>
              <a:rPr lang="fr-FR" altLang="en-US" sz="2000" b="1">
                <a:solidFill>
                  <a:srgbClr val="92D050"/>
                </a:solidFill>
              </a:rPr>
              <a:t>      </a:t>
            </a:r>
            <a:r>
              <a:rPr lang="fr-FR" altLang="en-US" sz="2000" b="1">
                <a:solidFill>
                  <a:schemeClr val="bg1">
                    <a:lumMod val="75000"/>
                  </a:schemeClr>
                </a:solidFill>
              </a:rPr>
              <a:t>j = 2 ;</a:t>
            </a:r>
            <a:endParaRPr lang="fr-FR" altLang="en-US" sz="2000" b="1">
              <a:solidFill>
                <a:srgbClr val="92D050"/>
              </a:solidFill>
            </a:endParaRP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0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645731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671576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(( 3 &gt; 0 ) &amp;&amp; (</a:t>
            </a:r>
            <a:r>
              <a:rPr lang="fr-FR" altLang="en-US" sz="2000" b="1">
                <a:solidFill>
                  <a:schemeClr val="tx1"/>
                </a:solidFill>
              </a:rPr>
              <a:t>6 &gt;  0</a:t>
            </a:r>
            <a:r>
              <a:rPr lang="fr-FR" altLang="en-US" sz="2000" b="1"/>
              <a:t> ) )  --&gt;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T[3] = T[2];</a:t>
            </a:r>
          </a:p>
          <a:p>
            <a:r>
              <a:rPr lang="fr-FR" altLang="en-US" sz="2000" b="1">
                <a:solidFill>
                  <a:schemeClr val="bg1">
                    <a:lumMod val="75000"/>
                  </a:schemeClr>
                </a:solidFill>
              </a:rPr>
              <a:t>      j = 2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0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54654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7238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(( 3 &gt; 0 ) &amp;&amp; (</a:t>
            </a:r>
            <a:r>
              <a:rPr lang="fr-FR" altLang="en-US" sz="2000" b="1">
                <a:solidFill>
                  <a:schemeClr val="tx1"/>
                </a:solidFill>
              </a:rPr>
              <a:t>6 &gt;  0</a:t>
            </a:r>
            <a:r>
              <a:rPr lang="fr-FR" altLang="en-US" sz="2000" b="1"/>
              <a:t> ) )  --&gt;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T[3] = T[2];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 j = 2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0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54654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7238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(( 3 &gt; 0 ) &amp;&amp; (</a:t>
            </a:r>
            <a:r>
              <a:rPr lang="fr-FR" altLang="en-US" sz="2000" b="1">
                <a:solidFill>
                  <a:schemeClr val="tx1"/>
                </a:solidFill>
              </a:rPr>
              <a:t>6 &gt;  0</a:t>
            </a:r>
            <a:r>
              <a:rPr lang="fr-FR" altLang="en-US" sz="2000" b="1"/>
              <a:t> ) )  --&gt;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T[3] = T[2];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 j = 2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0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Flèche courbée vers la droite 22"/>
          <p:cNvSpPr/>
          <p:nvPr/>
        </p:nvSpPr>
        <p:spPr>
          <a:xfrm rot="10800000">
            <a:off x="4942205" y="4585970"/>
            <a:ext cx="539115" cy="1299845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54654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7238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(( 2 &gt; 0 ) &amp;&amp; (</a:t>
            </a:r>
            <a:r>
              <a:rPr lang="fr-FR" altLang="en-US" sz="2000" b="1">
                <a:solidFill>
                  <a:schemeClr val="tx1"/>
                </a:solidFill>
              </a:rPr>
              <a:t>5 &gt;  0</a:t>
            </a:r>
            <a:r>
              <a:rPr lang="fr-FR" altLang="en-US" sz="2000" b="1"/>
              <a:t> ) )  --&gt;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</a:t>
            </a:r>
            <a:r>
              <a:rPr lang="fr-FR" altLang="en-US" sz="2000" b="1">
                <a:solidFill>
                  <a:schemeClr val="bg1">
                    <a:lumMod val="75000"/>
                  </a:schemeClr>
                </a:solidFill>
              </a:rPr>
              <a:t>T[2] = T[1];</a:t>
            </a:r>
          </a:p>
          <a:p>
            <a:r>
              <a:rPr lang="fr-FR" altLang="en-US" sz="2000" b="1">
                <a:solidFill>
                  <a:schemeClr val="bg1">
                    <a:lumMod val="75000"/>
                  </a:schemeClr>
                </a:solidFill>
              </a:rPr>
              <a:t>      j = 1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0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54654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7238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(( 2 &gt; 0 ) &amp;&amp; (</a:t>
            </a:r>
            <a:r>
              <a:rPr lang="fr-FR" altLang="en-US" sz="2000" b="1">
                <a:solidFill>
                  <a:schemeClr val="tx1"/>
                </a:solidFill>
              </a:rPr>
              <a:t>5 &gt;  0</a:t>
            </a:r>
            <a:r>
              <a:rPr lang="fr-FR" altLang="en-US" sz="2000" b="1"/>
              <a:t> ) )  --&gt;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T[2] = T[1];</a:t>
            </a:r>
            <a:endParaRPr lang="fr-FR" altLang="en-US" sz="2000" b="1">
              <a:solidFill>
                <a:schemeClr val="bg1">
                  <a:lumMod val="75000"/>
                </a:schemeClr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75000"/>
                  </a:schemeClr>
                </a:solidFill>
              </a:rPr>
              <a:t>      j = 1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0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432625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58470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(( 2 &gt; 0 ) &amp;&amp; (</a:t>
            </a:r>
            <a:r>
              <a:rPr lang="fr-FR" altLang="en-US" sz="2000" b="1">
                <a:solidFill>
                  <a:schemeClr val="tx1"/>
                </a:solidFill>
              </a:rPr>
              <a:t>5 &gt;  0</a:t>
            </a:r>
            <a:r>
              <a:rPr lang="fr-FR" altLang="en-US" sz="2000" b="1"/>
              <a:t> ) )  --&gt;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T[2] = T[1];</a:t>
            </a:r>
            <a:endParaRPr lang="fr-FR" altLang="en-US" sz="2000" b="1">
              <a:solidFill>
                <a:schemeClr val="bg1">
                  <a:lumMod val="75000"/>
                </a:schemeClr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75000"/>
                  </a:schemeClr>
                </a:solidFill>
              </a:rPr>
              <a:t>     </a:t>
            </a:r>
            <a:r>
              <a:rPr lang="fr-FR" altLang="en-US" sz="2000" b="1">
                <a:solidFill>
                  <a:srgbClr val="92D050"/>
                </a:solidFill>
              </a:rPr>
              <a:t> j = 1 ;</a:t>
            </a:r>
            <a:endParaRPr lang="fr-FR" altLang="en-US" sz="2000" b="1">
              <a:solidFill>
                <a:schemeClr val="bg1">
                  <a:lumMod val="75000"/>
                </a:schemeClr>
              </a:solidFill>
            </a:endParaRP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0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432625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58470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(( 2 &gt; 0 ) &amp;&amp; (</a:t>
            </a:r>
            <a:r>
              <a:rPr lang="fr-FR" altLang="en-US" sz="2000" b="1">
                <a:solidFill>
                  <a:schemeClr val="tx1"/>
                </a:solidFill>
              </a:rPr>
              <a:t>5 &gt;  0</a:t>
            </a:r>
            <a:r>
              <a:rPr lang="fr-FR" altLang="en-US" sz="2000" b="1"/>
              <a:t> ) )  --&gt;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 T[2] = T[1];</a:t>
            </a:r>
            <a:endParaRPr lang="fr-FR" altLang="en-US" sz="2000" b="1">
              <a:solidFill>
                <a:schemeClr val="bg1">
                  <a:lumMod val="75000"/>
                </a:schemeClr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75000"/>
                  </a:schemeClr>
                </a:solidFill>
              </a:rPr>
              <a:t>     </a:t>
            </a:r>
            <a:r>
              <a:rPr lang="fr-FR" altLang="en-US" sz="2000" b="1">
                <a:solidFill>
                  <a:srgbClr val="92D050"/>
                </a:solidFill>
              </a:rPr>
              <a:t> j = 1 ;</a:t>
            </a:r>
            <a:endParaRPr lang="fr-FR" altLang="en-US" sz="2000" b="1">
              <a:solidFill>
                <a:schemeClr val="bg1">
                  <a:lumMod val="75000"/>
                </a:schemeClr>
              </a:solidFill>
            </a:endParaRP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0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Flèche courbée vers la droite 22"/>
          <p:cNvSpPr/>
          <p:nvPr/>
        </p:nvSpPr>
        <p:spPr>
          <a:xfrm rot="10800000">
            <a:off x="4942205" y="4585970"/>
            <a:ext cx="539115" cy="1299845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432625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58470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(( 1 &gt; 0 ) &amp;&amp; (</a:t>
            </a:r>
            <a:r>
              <a:rPr lang="fr-FR" altLang="en-US" sz="2000" b="1">
                <a:solidFill>
                  <a:schemeClr val="tx1"/>
                </a:solidFill>
              </a:rPr>
              <a:t>2 &gt;  0</a:t>
            </a:r>
            <a:r>
              <a:rPr lang="fr-FR" altLang="en-US" sz="2000" b="1"/>
              <a:t> ) )  </a:t>
            </a:r>
            <a:endParaRPr lang="fr-FR" altLang="en-US" sz="2000" b="1">
              <a:solidFill>
                <a:srgbClr val="92D050"/>
              </a:solidFill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T[1] = T[0];</a:t>
            </a: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j = 0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0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Flèche courbée vers la droite 22"/>
          <p:cNvSpPr/>
          <p:nvPr/>
        </p:nvSpPr>
        <p:spPr>
          <a:xfrm rot="10800000">
            <a:off x="4942205" y="4585970"/>
            <a:ext cx="539115" cy="1299845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432625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58470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(( 1 &gt; 0 ) &amp;&amp; (</a:t>
            </a:r>
            <a:r>
              <a:rPr lang="fr-FR" altLang="en-US" sz="2000" b="1">
                <a:solidFill>
                  <a:schemeClr val="tx1"/>
                </a:solidFill>
              </a:rPr>
              <a:t>2 &gt;  0</a:t>
            </a:r>
            <a:r>
              <a:rPr lang="fr-FR" altLang="en-US" sz="2000" b="1"/>
              <a:t> ) )  --&gt;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T[1] = T[0];</a:t>
            </a: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j = 0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0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432625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458470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(( 1 &gt; 0 ) &amp;&amp; (</a:t>
            </a:r>
            <a:r>
              <a:rPr lang="fr-FR" altLang="en-US" sz="2000" b="1">
                <a:solidFill>
                  <a:schemeClr val="tx1"/>
                </a:solidFill>
              </a:rPr>
              <a:t>2 &gt;  0</a:t>
            </a:r>
            <a:r>
              <a:rPr lang="fr-FR" altLang="en-US" sz="2000" b="1"/>
              <a:t> ) )  --&gt;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altLang="en-US" sz="2000" b="1">
                <a:solidFill>
                  <a:srgbClr val="92D050"/>
                </a:solidFill>
              </a:rPr>
              <a:t>T[1] = T[0];</a:t>
            </a:r>
            <a:endParaRPr lang="fr-FR" altLang="en-US" sz="2000" b="1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j = 0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0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339153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364998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(( 1 &gt; 0 ) &amp;&amp; (</a:t>
            </a:r>
            <a:r>
              <a:rPr lang="fr-FR" altLang="en-US" sz="2000" b="1">
                <a:solidFill>
                  <a:schemeClr val="tx1"/>
                </a:solidFill>
              </a:rPr>
              <a:t>2 &gt;  0</a:t>
            </a:r>
            <a:r>
              <a:rPr lang="fr-FR" altLang="en-US" sz="2000" b="1"/>
              <a:t> ) )  --&gt;  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altLang="en-US" sz="2000" b="1">
                <a:solidFill>
                  <a:srgbClr val="92D050"/>
                </a:solidFill>
              </a:rPr>
              <a:t>T[1] = T[0];</a:t>
            </a:r>
            <a:endParaRPr lang="fr-FR" altLang="en-US" sz="2000" b="1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</a:t>
            </a:r>
            <a:r>
              <a:rPr lang="fr-FR" altLang="en-US" sz="2000" b="1">
                <a:solidFill>
                  <a:srgbClr val="92D050"/>
                </a:solidFill>
              </a:rPr>
              <a:t>j = 0 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  <a:r>
              <a:rPr lang="fr-FR" altLang="en-US" sz="2000" b="1">
                <a:solidFill>
                  <a:schemeClr val="bg2"/>
                </a:solidFill>
                <a:sym typeface="+mn-ea"/>
              </a:rPr>
              <a:t>T[j] = 0 ;</a:t>
            </a:r>
            <a:endParaRPr lang="fr-FR" altLang="en-US" sz="2000" b="1">
              <a:solidFill>
                <a:schemeClr val="bg2"/>
              </a:solidFill>
            </a:endParaRP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339153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364998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</a:t>
            </a:r>
            <a:r>
              <a:rPr lang="fr-FR" altLang="en-US" sz="2000" b="1">
                <a:solidFill>
                  <a:srgbClr val="FF0000"/>
                </a:solidFill>
              </a:rPr>
              <a:t>( 0 &gt; 0 )</a:t>
            </a:r>
            <a:r>
              <a:rPr lang="fr-FR" altLang="en-US" sz="2000" b="1"/>
              <a:t> &amp;&amp; )   </a:t>
            </a:r>
            <a:r>
              <a:rPr lang="fr-FR" altLang="en-US" sz="2000" b="1">
                <a:solidFill>
                  <a:srgbClr val="C00000"/>
                </a:solidFill>
              </a:rPr>
              <a:t>--&gt; FAUX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tx1"/>
                </a:solidFill>
              </a:rPr>
              <a:t>T[0] = 0;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Flèche courbée vers la droite 22"/>
          <p:cNvSpPr/>
          <p:nvPr/>
        </p:nvSpPr>
        <p:spPr>
          <a:xfrm rot="10800000">
            <a:off x="4942205" y="4585970"/>
            <a:ext cx="539115" cy="1299845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339153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364998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</a:t>
            </a:r>
            <a:r>
              <a:rPr lang="fr-FR" altLang="en-US" sz="2000" b="1">
                <a:solidFill>
                  <a:srgbClr val="FF0000"/>
                </a:solidFill>
              </a:rPr>
              <a:t>( 0 &gt; 0 )</a:t>
            </a:r>
            <a:r>
              <a:rPr lang="fr-FR" altLang="en-US" sz="2000" b="1"/>
              <a:t> &amp;&amp; )   </a:t>
            </a:r>
            <a:r>
              <a:rPr lang="fr-FR" altLang="en-US" sz="2000" b="1">
                <a:solidFill>
                  <a:srgbClr val="C00000"/>
                </a:solidFill>
              </a:rPr>
              <a:t>--&gt; FAUX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rgbClr val="7030A0"/>
                </a:solidFill>
              </a:rPr>
              <a:t>T[0] = 0;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Flèche courbée vers la droite 22"/>
          <p:cNvSpPr/>
          <p:nvPr/>
        </p:nvSpPr>
        <p:spPr>
          <a:xfrm rot="10800000">
            <a:off x="4942205" y="4585970"/>
            <a:ext cx="539115" cy="1299845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6624320" y="272161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6370320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3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339153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364998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</a:t>
            </a:r>
            <a:r>
              <a:rPr lang="fr-FR" altLang="en-US" sz="2000" b="1">
                <a:solidFill>
                  <a:srgbClr val="FF0000"/>
                </a:solidFill>
              </a:rPr>
              <a:t>( 0 &gt; 0 )</a:t>
            </a:r>
            <a:r>
              <a:rPr lang="fr-FR" altLang="en-US" sz="2000" b="1"/>
              <a:t> &amp;&amp; )   </a:t>
            </a:r>
            <a:r>
              <a:rPr lang="fr-FR" altLang="en-US" sz="2000" b="1">
                <a:solidFill>
                  <a:srgbClr val="C00000"/>
                </a:solidFill>
              </a:rPr>
              <a:t>--&gt; FAUX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rgbClr val="7030A0"/>
                </a:solidFill>
              </a:rPr>
              <a:t>T[0] = 0;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Flèche courbée vers la droite 22"/>
          <p:cNvSpPr/>
          <p:nvPr/>
        </p:nvSpPr>
        <p:spPr>
          <a:xfrm rot="10800000">
            <a:off x="4942205" y="4585970"/>
            <a:ext cx="539115" cy="1299845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5              6               3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74212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76796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5              6               3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74212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76796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(( 4 &gt; 0 ) &amp;&amp; (6 &gt;  3 ) )  </a:t>
            </a:r>
            <a:endParaRPr lang="fr-FR" altLang="en-US" sz="2000" b="1">
              <a:solidFill>
                <a:srgbClr val="92D050"/>
              </a:solidFill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5              6               3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74212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76796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(( 4 &gt; 0 ) &amp;&amp; (6 &gt;  3 ) )  --&gt;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5              6               3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74212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76796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(( 4 &gt; 0 ) &amp;&amp; (6 &gt;  3 ) )  --&gt;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fr-FR" altLang="en-US" sz="2000" b="1">
                <a:solidFill>
                  <a:srgbClr val="92D050"/>
                </a:solidFill>
              </a:rPr>
              <a:t>T[4] = T[3];</a:t>
            </a: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 j = 3;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T[j] = 3;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5              6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74212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76796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(( 4 &gt; 0 ) &amp;&amp; (6 &gt;  3 ) )  --&gt;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fr-FR" altLang="en-US" sz="2000" b="1">
                <a:solidFill>
                  <a:srgbClr val="92D050"/>
                </a:solidFill>
              </a:rPr>
              <a:t>T[4] = T[3];</a:t>
            </a: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 j = 3;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T[j] = 3;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5              6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65449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68033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(( 4 &gt; 0 ) &amp;&amp; (6 &gt;  3 ) )  --&gt;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fr-FR" altLang="en-US" sz="2000" b="1">
                <a:solidFill>
                  <a:srgbClr val="92D050"/>
                </a:solidFill>
              </a:rPr>
              <a:t>T[4] = T[3];</a:t>
            </a: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</a:t>
            </a:r>
            <a:r>
              <a:rPr lang="fr-FR" altLang="en-US" sz="2000" b="1">
                <a:solidFill>
                  <a:srgbClr val="92D050"/>
                </a:solidFill>
              </a:rPr>
              <a:t> j = 3;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T[j] = 3;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5              6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65449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68033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(( 3 &gt; 0 ) &amp;&amp; (5 &gt;  3 ) )  </a:t>
            </a:r>
            <a:endParaRPr lang="fr-FR" altLang="en-US" sz="2000" b="1">
              <a:solidFill>
                <a:srgbClr val="92D050"/>
              </a:solidFill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T[j] = 3;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Flèche courbée vers la droite 22"/>
          <p:cNvSpPr/>
          <p:nvPr/>
        </p:nvSpPr>
        <p:spPr>
          <a:xfrm rot="10800000">
            <a:off x="4942205" y="4585970"/>
            <a:ext cx="539115" cy="1299845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5              6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65449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68033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(( 3 &gt; 0 ) &amp;&amp; (5 &gt;  3 ) )  --&gt;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T[j] = 3;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Flèche courbée vers la droite 22"/>
          <p:cNvSpPr/>
          <p:nvPr/>
        </p:nvSpPr>
        <p:spPr>
          <a:xfrm rot="10800000">
            <a:off x="4942205" y="4585970"/>
            <a:ext cx="539115" cy="1299845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6544945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6803390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(( 3 &gt; 0 ) &amp;&amp; (5 &gt;  3 ) )  --&gt;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fr-FR" altLang="en-US" sz="2000" b="1">
                <a:solidFill>
                  <a:srgbClr val="92D050"/>
                </a:solidFill>
              </a:rPr>
              <a:t>T[3] = T[2];</a:t>
            </a: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 j= 2;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T[j] = 3;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5449570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708015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(( 3 &gt; 0 ) &amp;&amp; (5 &gt;  3 ) )  --&gt;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fr-FR" altLang="en-US" sz="2000" b="1">
                <a:solidFill>
                  <a:srgbClr val="92D050"/>
                </a:solidFill>
              </a:rPr>
              <a:t>T[3] = T[2];</a:t>
            </a: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 </a:t>
            </a:r>
            <a:r>
              <a:rPr lang="fr-FR" altLang="en-US" sz="2000" b="1">
                <a:solidFill>
                  <a:srgbClr val="92D050"/>
                </a:solidFill>
              </a:rPr>
              <a:t>j= 2;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T[j] = 3;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5449570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708015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(( 3 &gt; 0 ) &amp;&amp; (5 &gt;  3 ) )  --&gt; </a:t>
            </a:r>
            <a:r>
              <a:rPr lang="fr-FR" altLang="en-US" sz="2000" b="1">
                <a:solidFill>
                  <a:srgbClr val="92D050"/>
                </a:solidFill>
              </a:rPr>
              <a:t>VRAI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fr-FR" altLang="en-US" sz="2000" b="1">
                <a:solidFill>
                  <a:srgbClr val="92D050"/>
                </a:solidFill>
              </a:rPr>
              <a:t>T[3] = T[2];</a:t>
            </a: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    </a:t>
            </a:r>
            <a:r>
              <a:rPr lang="fr-FR" altLang="en-US" sz="2000" b="1">
                <a:solidFill>
                  <a:srgbClr val="92D050"/>
                </a:solidFill>
              </a:rPr>
              <a:t>j= 2;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T[j] = 3;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altLang="en-US" sz="20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5449570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708015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(( 2 &gt; 0 ) &amp;&amp; (</a:t>
            </a:r>
            <a:r>
              <a:rPr lang="fr-FR" altLang="en-US" sz="2000" b="1">
                <a:solidFill>
                  <a:srgbClr val="FF0000"/>
                </a:solidFill>
              </a:rPr>
              <a:t>2 &gt;  3 </a:t>
            </a:r>
            <a:r>
              <a:rPr lang="fr-FR" altLang="en-US" sz="2000" b="1"/>
              <a:t>) )  --&gt; </a:t>
            </a:r>
            <a:r>
              <a:rPr lang="fr-FR" altLang="en-US" sz="2000" b="1">
                <a:solidFill>
                  <a:srgbClr val="C00000"/>
                </a:solidFill>
              </a:rPr>
              <a:t>FAUX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endParaRPr lang="fr-FR" altLang="en-US" sz="2000" b="1">
              <a:solidFill>
                <a:schemeClr val="tx1"/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T[j] = 3;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Flèche courbée vers la droite 22"/>
          <p:cNvSpPr/>
          <p:nvPr/>
        </p:nvSpPr>
        <p:spPr>
          <a:xfrm rot="10800000">
            <a:off x="4942205" y="4585970"/>
            <a:ext cx="539115" cy="1299845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3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4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5449570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708015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sp>
        <p:nvSpPr>
          <p:cNvPr id="25" name="Zone de texte 24"/>
          <p:cNvSpPr txBox="1"/>
          <p:nvPr/>
        </p:nvSpPr>
        <p:spPr>
          <a:xfrm>
            <a:off x="5288915" y="4289425"/>
            <a:ext cx="4947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while (( 2 &gt; 0 ) &amp;&amp; (</a:t>
            </a:r>
            <a:r>
              <a:rPr lang="fr-FR" altLang="en-US" sz="2000" b="1">
                <a:solidFill>
                  <a:srgbClr val="FF0000"/>
                </a:solidFill>
              </a:rPr>
              <a:t>2 &gt;  3 </a:t>
            </a:r>
            <a:r>
              <a:rPr lang="fr-FR" altLang="en-US" sz="2000" b="1"/>
              <a:t>) )  --&gt; </a:t>
            </a:r>
            <a:r>
              <a:rPr lang="fr-FR" altLang="en-US" sz="2000" b="1">
                <a:solidFill>
                  <a:srgbClr val="C00000"/>
                </a:solidFill>
              </a:rPr>
              <a:t>FAUX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3952240" y="4572000"/>
            <a:ext cx="1186180" cy="1397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 de texte 4"/>
          <p:cNvSpPr txBox="1"/>
          <p:nvPr/>
        </p:nvSpPr>
        <p:spPr>
          <a:xfrm>
            <a:off x="5509895" y="4773930"/>
            <a:ext cx="49472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 { </a:t>
            </a:r>
          </a:p>
          <a:p>
            <a:r>
              <a:rPr lang="fr-FR" altLang="en-US" sz="2000" b="1">
                <a:solidFill>
                  <a:srgbClr val="92D050"/>
                </a:solidFill>
              </a:rPr>
              <a:t>    </a:t>
            </a:r>
            <a:r>
              <a:rPr lang="fr-FR" altLang="en-US" sz="2000" b="1">
                <a:solidFill>
                  <a:schemeClr val="bg1">
                    <a:lumMod val="85000"/>
                  </a:schemeClr>
                </a:solidFill>
              </a:rPr>
              <a:t>  </a:t>
            </a:r>
            <a:r>
              <a:rPr lang="fr-FR" altLang="en-US" sz="2000" b="1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fr-FR" altLang="en-US" sz="2000" b="1">
                <a:solidFill>
                  <a:schemeClr val="bg1">
                    <a:lumMod val="95000"/>
                  </a:schemeClr>
                </a:solidFill>
                <a:sym typeface="+mn-ea"/>
              </a:rPr>
              <a:t>T[2] = T[1];</a:t>
            </a:r>
            <a:endParaRPr lang="fr-FR" altLang="en-US" sz="2000" b="1">
              <a:solidFill>
                <a:schemeClr val="bg1">
                  <a:lumMod val="95000"/>
                </a:schemeClr>
              </a:solidFill>
            </a:endParaRPr>
          </a:p>
          <a:p>
            <a:r>
              <a:rPr lang="fr-FR" altLang="en-US" sz="2000" b="1">
                <a:solidFill>
                  <a:schemeClr val="bg1">
                    <a:lumMod val="95000"/>
                  </a:schemeClr>
                </a:solidFill>
                <a:sym typeface="+mn-ea"/>
              </a:rPr>
              <a:t>       j= 1;</a:t>
            </a:r>
            <a:endParaRPr lang="fr-FR" altLang="en-US" sz="2000" b="1">
              <a:solidFill>
                <a:schemeClr val="bg1">
                  <a:lumMod val="95000"/>
                </a:schemeClr>
              </a:solidFill>
            </a:endParaRPr>
          </a:p>
          <a:p>
            <a:endParaRPr lang="fr-FR" altLang="en-US" sz="2000" b="1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altLang="en-US" sz="2000" b="1">
                <a:solidFill>
                  <a:srgbClr val="92D050"/>
                </a:solidFill>
              </a:rPr>
              <a:t> </a:t>
            </a:r>
            <a:r>
              <a:rPr lang="fr-FR" altLang="en-US" sz="2000" b="1">
                <a:solidFill>
                  <a:schemeClr val="tx1"/>
                </a:solidFill>
              </a:rPr>
              <a:t>}</a:t>
            </a:r>
          </a:p>
          <a:p>
            <a:r>
              <a:rPr lang="fr-FR" altLang="en-US" sz="2000" b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T[2] = 3;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  <a:p>
            <a:r>
              <a:rPr lang="fr-FR" altLang="en-US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</a:t>
            </a:r>
            <a:r>
              <a:rPr lang="fr-FR" alt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3</a:t>
            </a:r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773112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7410450" y="257111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5" name="Zone de texte 14"/>
          <p:cNvSpPr txBox="1"/>
          <p:nvPr/>
        </p:nvSpPr>
        <p:spPr>
          <a:xfrm>
            <a:off x="473075" y="2981325"/>
            <a:ext cx="3495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(i=1;i&lt;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n;i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tmp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T[i];   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j = i;</a:t>
            </a:r>
          </a:p>
          <a:p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(j &gt; 0 &amp;&amp; (T[j-1] &gt;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tmp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T[j] = T[j-1];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j--;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T[j] = tmp;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3260" y="3519170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5763260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tmp</a:t>
            </a:r>
          </a:p>
        </p:txBody>
      </p:sp>
      <p:sp>
        <p:nvSpPr>
          <p:cNvPr id="20" name="Zone de texte 19"/>
          <p:cNvSpPr txBox="1"/>
          <p:nvPr/>
        </p:nvSpPr>
        <p:spPr>
          <a:xfrm>
            <a:off x="5986145" y="362966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3</a:t>
            </a:r>
          </a:p>
        </p:txBody>
      </p:sp>
      <p:sp>
        <p:nvSpPr>
          <p:cNvPr id="26" name="Zone de texte 25"/>
          <p:cNvSpPr txBox="1"/>
          <p:nvPr/>
        </p:nvSpPr>
        <p:spPr>
          <a:xfrm>
            <a:off x="8790305" y="312039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rgbClr val="00B050"/>
                </a:solidFill>
              </a:rPr>
              <a:t> i = 5</a:t>
            </a:r>
          </a:p>
        </p:txBody>
      </p:sp>
      <p:sp>
        <p:nvSpPr>
          <p:cNvPr id="21" name="Flèche vers le bas 20"/>
          <p:cNvSpPr/>
          <p:nvPr/>
        </p:nvSpPr>
        <p:spPr>
          <a:xfrm rot="10800000" flipV="1">
            <a:off x="5449570" y="1494155"/>
            <a:ext cx="167005" cy="41021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5708015" y="1442720"/>
            <a:ext cx="56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j</a:t>
            </a:r>
          </a:p>
        </p:txBody>
      </p:sp>
      <p:graphicFrame>
        <p:nvGraphicFramePr>
          <p:cNvPr id="31" name="Espace réservé du contenu 30"/>
          <p:cNvGraphicFramePr>
            <a:graphicFrameLocks noGrp="1"/>
          </p:cNvGraphicFramePr>
          <p:nvPr>
            <p:ph sz="half" idx="2"/>
          </p:nvPr>
        </p:nvGraphicFramePr>
        <p:xfrm>
          <a:off x="9665335" y="2981325"/>
          <a:ext cx="104648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657475" imgH="2352675" progId="Paint.Picture">
                  <p:embed/>
                </p:oleObj>
              </mc:Choice>
              <mc:Fallback>
                <p:oleObj r:id="rId3" imgW="2657475" imgH="2352675" progId="Paint.Picture">
                  <p:embed/>
                  <p:pic>
                    <p:nvPicPr>
                      <p:cNvPr id="0" name="Image 3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65335" y="2981325"/>
                        <a:ext cx="1046480" cy="679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Flèche droite 34"/>
          <p:cNvSpPr/>
          <p:nvPr/>
        </p:nvSpPr>
        <p:spPr>
          <a:xfrm>
            <a:off x="4194810" y="5526405"/>
            <a:ext cx="1010920" cy="1809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36" name="Zone de texte 35"/>
          <p:cNvSpPr txBox="1"/>
          <p:nvPr/>
        </p:nvSpPr>
        <p:spPr>
          <a:xfrm>
            <a:off x="5425440" y="5417820"/>
            <a:ext cx="41109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solidFill>
                  <a:srgbClr val="FFC000"/>
                </a:solidFill>
              </a:rPr>
              <a:t>Le tableau est trié par ordre croissant</a:t>
            </a:r>
            <a:endParaRPr lang="fr-FR" alt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5486</Words>
  <Application>Microsoft Office PowerPoint</Application>
  <PresentationFormat>Widescreen</PresentationFormat>
  <Paragraphs>1215</Paragraphs>
  <Slides>42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Times New Roman</vt:lpstr>
      <vt:lpstr>Office Theme</vt:lpstr>
      <vt:lpstr>Paintbrush Picture</vt:lpstr>
      <vt:lpstr>Tri par insertion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Différents types de tri</dc:title>
  <dc:creator/>
  <cp:lastModifiedBy>naouel boughattas</cp:lastModifiedBy>
  <cp:revision>309</cp:revision>
  <dcterms:created xsi:type="dcterms:W3CDTF">2020-10-10T17:56:00Z</dcterms:created>
  <dcterms:modified xsi:type="dcterms:W3CDTF">2025-06-28T21:54:28Z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1036-11.2.0.11254</vt:lpwstr>
  </property>
  <property fmtid="{D5CDD505-2E9C-101B-9397-08002B2CF9AE}" pid="3" name="ICV">
    <vt:lpwstr>88E062C852C54BACBD4C4EB8441D6858</vt:lpwstr>
  </property>
</Properties>
</file>