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8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7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944495" y="1845310"/>
            <a:ext cx="8962390" cy="2204085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par Sélection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4"/>
          <p:cNvSpPr txBox="1"/>
          <p:nvPr/>
        </p:nvSpPr>
        <p:spPr>
          <a:xfrm>
            <a:off x="723265" y="1379220"/>
            <a:ext cx="1124521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 tri par sélection est un algorithme de tri par comparaison. 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Soit T un tableau de n entiers.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1). Pour chaque entier i ( 1 &lt; = i &lt;= n-1 ), on parcourt les éléments T[i] pour retenir l'indice k du minimum (le plus petit).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2). On place au rang i le plus petit des éléments ( T[i], T[i+1] ..... T[n-1] ) en échangeant T[i] et T[k].</a:t>
            </a:r>
          </a:p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723265" y="725170"/>
            <a:ext cx="13589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Principe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 de l'algorithme tri par sélection</a:t>
            </a:r>
          </a:p>
          <a:p>
            <a:endParaRPr lang="fr-FR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4"/>
          <p:cNvSpPr txBox="1"/>
          <p:nvPr/>
        </p:nvSpPr>
        <p:spPr>
          <a:xfrm>
            <a:off x="723265" y="1379220"/>
            <a:ext cx="1124521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(i=0;i&lt;n-1;i++)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min=i ;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(j=i+1;j&lt;</a:t>
            </a:r>
            <a:r>
              <a:rPr lang="fr-F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n;j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             </a:t>
            </a:r>
            <a:r>
              <a:rPr lang="fr-FR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 Recherche du minimum en commençant à partir de l'indice i+1</a:t>
            </a:r>
            <a:endParaRPr lang="fr-FR" sz="20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{  </a:t>
            </a: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if (T[j]&lt;T[min])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r>
              <a:rPr lang="fr-FR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min=j;</a:t>
            </a:r>
          </a:p>
          <a:p>
            <a:r>
              <a:rPr lang="fr-FR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}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tampon=T[i];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T[i]=T[min];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T[min]=tampon;</a:t>
            </a:r>
            <a:endParaRPr lang="fr-FR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endParaRPr lang="fr-FR" b="1" dirty="0"/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3199765" y="15570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3199765" y="15570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4511040" y="160274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4537075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&lt; 2 ?</a:t>
            </a: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3199765" y="15570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5370830" y="159004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5551805" y="15563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&lt; 2 ?</a:t>
            </a: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3199765" y="155702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6470650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6560820" y="15722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0 &lt; 2 ?</a:t>
            </a: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560820" y="28714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6470650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6560820" y="15722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0 &lt; 2 ?</a:t>
            </a:r>
          </a:p>
        </p:txBody>
      </p:sp>
      <p:sp>
        <p:nvSpPr>
          <p:cNvPr id="19" name="Flèche vers le haut 18"/>
          <p:cNvSpPr/>
          <p:nvPr/>
        </p:nvSpPr>
        <p:spPr>
          <a:xfrm>
            <a:off x="642620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Espace réservé du numéro de diapositiv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560820" y="28714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7484745" y="160591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7665720" y="15392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&lt; 0?</a:t>
            </a:r>
          </a:p>
        </p:txBody>
      </p:sp>
      <p:sp>
        <p:nvSpPr>
          <p:cNvPr id="19" name="Flèche vers le haut 18"/>
          <p:cNvSpPr/>
          <p:nvPr/>
        </p:nvSpPr>
        <p:spPr>
          <a:xfrm>
            <a:off x="642620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Espace réservé du numéro de diapositiv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50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2             6                5              0               3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560820" y="28714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7484745" y="160591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7665720" y="15392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&lt; 0?</a:t>
            </a:r>
          </a:p>
        </p:txBody>
      </p:sp>
      <p:sp>
        <p:nvSpPr>
          <p:cNvPr id="19" name="Flèche vers le haut 18"/>
          <p:cNvSpPr/>
          <p:nvPr/>
        </p:nvSpPr>
        <p:spPr>
          <a:xfrm>
            <a:off x="642620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Arc plein 20"/>
          <p:cNvSpPr/>
          <p:nvPr/>
        </p:nvSpPr>
        <p:spPr>
          <a:xfrm>
            <a:off x="3424555" y="1693545"/>
            <a:ext cx="32734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2" name="Zone de texte 21"/>
          <p:cNvSpPr txBox="1"/>
          <p:nvPr/>
        </p:nvSpPr>
        <p:spPr>
          <a:xfrm>
            <a:off x="5470525" y="1237615"/>
            <a:ext cx="2774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20" name="Espace réservé du numéro de diapositiv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73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0             6                5              2             3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1ère itération    i = 0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319976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560820" y="287147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342519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7484745" y="160591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8" name="Zone de texte 17"/>
          <p:cNvSpPr txBox="1"/>
          <p:nvPr/>
        </p:nvSpPr>
        <p:spPr>
          <a:xfrm>
            <a:off x="7665720" y="15392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&lt; 0?</a:t>
            </a:r>
          </a:p>
        </p:txBody>
      </p:sp>
      <p:sp>
        <p:nvSpPr>
          <p:cNvPr id="19" name="Flèche vers le haut 18"/>
          <p:cNvSpPr/>
          <p:nvPr/>
        </p:nvSpPr>
        <p:spPr>
          <a:xfrm>
            <a:off x="642620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Arc plein 20"/>
          <p:cNvSpPr/>
          <p:nvPr/>
        </p:nvSpPr>
        <p:spPr>
          <a:xfrm>
            <a:off x="3424555" y="1693545"/>
            <a:ext cx="32734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2" name="Zone de texte 21"/>
          <p:cNvSpPr txBox="1"/>
          <p:nvPr/>
        </p:nvSpPr>
        <p:spPr>
          <a:xfrm>
            <a:off x="5470525" y="1237615"/>
            <a:ext cx="2774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20" name="Flèche droite 19"/>
          <p:cNvSpPr/>
          <p:nvPr/>
        </p:nvSpPr>
        <p:spPr>
          <a:xfrm>
            <a:off x="3756660" y="4768850"/>
            <a:ext cx="1010920" cy="180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3" name="Zone de texte 22"/>
          <p:cNvSpPr txBox="1"/>
          <p:nvPr/>
        </p:nvSpPr>
        <p:spPr>
          <a:xfrm>
            <a:off x="5027930" y="4675505"/>
            <a:ext cx="37871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solidFill>
                  <a:srgbClr val="FFC000"/>
                </a:solidFill>
              </a:rPr>
              <a:t>Le minimum est à la 1ère position</a:t>
            </a:r>
            <a:r>
              <a:rPr lang="fr-FR" altLang="en-US"/>
              <a:t> </a:t>
            </a:r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73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0             6                5              2             3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2ème itération    i = 1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419735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4045585" y="153543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4422775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5239385" y="160210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420360" y="153543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&lt; 6?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73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0             6                5              2             3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2ème itération    i = 1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23938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546481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4422775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5239385" y="160210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5420360" y="153543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 &lt; 6?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73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0             6                5              2             3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2ème itération    i = 1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239385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546481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4422775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6462395" y="160210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552565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&lt; 5?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73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0             6                5              2             3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2ème itération    i = 1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44017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64337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4241800" y="275336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6462395" y="160210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552565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2 &lt; 5?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73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0             6                5              2             3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2ème itération    i = 1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44017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64337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4241800" y="275336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459980" y="155702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640955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&lt; 2?</a:t>
            </a:r>
          </a:p>
        </p:txBody>
      </p:sp>
      <p:sp>
        <p:nvSpPr>
          <p:cNvPr id="21" name="Arc plein 20"/>
          <p:cNvSpPr/>
          <p:nvPr/>
        </p:nvSpPr>
        <p:spPr>
          <a:xfrm>
            <a:off x="4254500" y="1707515"/>
            <a:ext cx="25495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2" name="Zone de texte 21"/>
          <p:cNvSpPr txBox="1"/>
          <p:nvPr/>
        </p:nvSpPr>
        <p:spPr>
          <a:xfrm>
            <a:off x="6220460" y="1251585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0             2                5             6             3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2ème itération    i = 1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ym typeface="+mn-ea"/>
              </a:rPr>
              <a:t>{</a:t>
            </a:r>
            <a:endParaRPr lang="fr-FR" b="1" dirty="0"/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44017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64337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4241800" y="275336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459980" y="155702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548245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 &lt; 2?</a:t>
            </a:r>
          </a:p>
        </p:txBody>
      </p:sp>
      <p:sp>
        <p:nvSpPr>
          <p:cNvPr id="21" name="Arc plein 20"/>
          <p:cNvSpPr/>
          <p:nvPr/>
        </p:nvSpPr>
        <p:spPr>
          <a:xfrm>
            <a:off x="4254500" y="1707515"/>
            <a:ext cx="25495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2" name="Zone de texte 21"/>
          <p:cNvSpPr txBox="1"/>
          <p:nvPr/>
        </p:nvSpPr>
        <p:spPr>
          <a:xfrm>
            <a:off x="6220460" y="1251585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4241800" y="1692910"/>
            <a:ext cx="25495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0             2                5             6             3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3 ème itération    i = 2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19684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519684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5302250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0             2                5             6             3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3 ème itération    i = 2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19684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519684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5302250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6283325" y="1586865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6464300" y="153543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6 &lt; 5?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0             2                5             6             3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3 ème itération    i = 2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19684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519684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5302250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3&lt; 5?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0             2                5             6             3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3 ème itération    i = 2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19684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738378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5302250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3&lt; 5?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0             2                5             6             3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3 ème itération    i = 2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19684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738378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5302250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3&lt; 5?</a:t>
            </a:r>
          </a:p>
        </p:txBody>
      </p:sp>
      <p:sp>
        <p:nvSpPr>
          <p:cNvPr id="22" name="Zone de texte 21"/>
          <p:cNvSpPr txBox="1"/>
          <p:nvPr/>
        </p:nvSpPr>
        <p:spPr>
          <a:xfrm>
            <a:off x="7164705" y="1251585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5186045" y="1692910"/>
            <a:ext cx="25495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0             2                3             6             5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3 ème itération    i = 2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5196840" y="2552700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738378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5302250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3&lt; 5?</a:t>
            </a:r>
          </a:p>
        </p:txBody>
      </p:sp>
      <p:sp>
        <p:nvSpPr>
          <p:cNvPr id="22" name="Zone de texte 21"/>
          <p:cNvSpPr txBox="1"/>
          <p:nvPr/>
        </p:nvSpPr>
        <p:spPr>
          <a:xfrm>
            <a:off x="7164705" y="1251585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5186045" y="1707515"/>
            <a:ext cx="2549525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0             2                3             6             5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4 ème itération    i = 3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25348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253480" y="153543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635698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0             2                3             6             5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4 ème itération    i = 3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25348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6253480" y="153543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635698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5&lt; 6?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0             2                3             6             5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4 ème itération    i = 3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25348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738378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6356985" y="258254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5&lt; 6?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0             2                3             6             5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4 ème itération    i = 3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25348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738378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6356985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5&lt; 6?</a:t>
            </a:r>
          </a:p>
        </p:txBody>
      </p:sp>
      <p:sp>
        <p:nvSpPr>
          <p:cNvPr id="22" name="Zone de texte 21"/>
          <p:cNvSpPr txBox="1"/>
          <p:nvPr/>
        </p:nvSpPr>
        <p:spPr>
          <a:xfrm>
            <a:off x="6686550" y="1082040"/>
            <a:ext cx="1694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6498590" y="1707515"/>
            <a:ext cx="1236980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5 entiers :</a:t>
            </a:r>
          </a:p>
        </p:txBody>
      </p:sp>
      <p:sp>
        <p:nvSpPr>
          <p:cNvPr id="6" name="Zone de texte 5"/>
          <p:cNvSpPr txBox="1"/>
          <p:nvPr/>
        </p:nvSpPr>
        <p:spPr>
          <a:xfrm>
            <a:off x="955167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5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31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2042160" y="193421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20421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indices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0                  1                       2                    3                    4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887095" y="3152140"/>
            <a:ext cx="7776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b="1" dirty="0">
                <a:sym typeface="+mn-ea"/>
              </a:rPr>
              <a:t>for (i=0;i&lt;n-1;i++)                 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4 ème itération    i = 3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  <a:sym typeface="+mn-ea"/>
              </a:rPr>
              <a:t>{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  </a:t>
            </a:r>
            <a:r>
              <a:rPr lang="fr-FR" b="1" dirty="0">
                <a:sym typeface="+mn-ea"/>
              </a:rPr>
              <a:t>min=i ;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  <a:sym typeface="+mn-ea"/>
              </a:rPr>
              <a:t>  </a:t>
            </a:r>
            <a:r>
              <a:rPr lang="fr-FR" b="1" dirty="0">
                <a:sym typeface="+mn-ea"/>
              </a:rPr>
              <a:t> for (j=i+1;j&lt;</a:t>
            </a:r>
            <a:r>
              <a:rPr lang="fr-FR" b="1" dirty="0" err="1">
                <a:sym typeface="+mn-ea"/>
              </a:rPr>
              <a:t>n;j</a:t>
            </a:r>
            <a:r>
              <a:rPr lang="fr-FR" b="1" dirty="0">
                <a:sym typeface="+mn-ea"/>
              </a:rPr>
              <a:t>++)             </a:t>
            </a:r>
            <a:r>
              <a:rPr lang="fr-FR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b="1" dirty="0">
                <a:sym typeface="+mn-ea"/>
              </a:rPr>
              <a:t>       </a:t>
            </a:r>
          </a:p>
          <a:p>
            <a:r>
              <a:rPr lang="fr-FR" b="1" dirty="0">
                <a:sym typeface="+mn-ea"/>
              </a:rPr>
              <a:t> {  </a:t>
            </a:r>
            <a:endParaRPr lang="fr-FR" b="1" dirty="0">
              <a:solidFill>
                <a:schemeClr val="tx1"/>
              </a:solidFill>
              <a:sym typeface="+mn-ea"/>
            </a:endParaRPr>
          </a:p>
          <a:p>
            <a:r>
              <a:rPr lang="fr-FR" b="1" dirty="0">
                <a:sym typeface="+mn-ea"/>
              </a:rPr>
              <a:t>       if (T[j]&lt;T[min])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       </a:t>
            </a:r>
            <a:r>
              <a:rPr lang="fr-FR" b="1">
                <a:sym typeface="+mn-ea"/>
              </a:rPr>
              <a:t>min=j;</a:t>
            </a:r>
            <a:endParaRPr lang="fr-FR" b="1">
              <a:solidFill>
                <a:schemeClr val="tx1"/>
              </a:solidFill>
              <a:sym typeface="+mn-ea"/>
            </a:endParaRPr>
          </a:p>
          <a:p>
            <a:r>
              <a:rPr lang="fr-FR" b="1">
                <a:sym typeface="+mn-ea"/>
              </a:rPr>
              <a:t>   }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ym typeface="+mn-ea"/>
              </a:rPr>
              <a:t> </a:t>
            </a:r>
            <a:r>
              <a:rPr lang="fr-FR" b="1" dirty="0">
                <a:sym typeface="+mn-ea"/>
              </a:rPr>
              <a:t>tampon=T[i];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T[i]=T[min];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ym typeface="+mn-ea"/>
              </a:rPr>
              <a:t> T[min]=tampon;</a:t>
            </a:r>
            <a:endParaRPr lang="fr-FR" b="1" dirty="0">
              <a:solidFill>
                <a:schemeClr val="accent6"/>
              </a:solidFill>
            </a:endParaRPr>
          </a:p>
          <a:p>
            <a:r>
              <a:rPr lang="fr-FR" b="1" dirty="0">
                <a:sym typeface="+mn-ea"/>
              </a:rPr>
              <a:t>}</a:t>
            </a:r>
            <a:endParaRPr lang="fr-FR" altLang="en-US"/>
          </a:p>
        </p:txBody>
      </p:sp>
      <p:sp>
        <p:nvSpPr>
          <p:cNvPr id="5" name="Flèche vers le haut 4"/>
          <p:cNvSpPr/>
          <p:nvPr/>
        </p:nvSpPr>
        <p:spPr>
          <a:xfrm>
            <a:off x="6253480" y="2582545"/>
            <a:ext cx="225425" cy="4076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7383780" y="275336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min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6356985" y="2591435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i</a:t>
            </a:r>
          </a:p>
        </p:txBody>
      </p:sp>
      <p:sp>
        <p:nvSpPr>
          <p:cNvPr id="24" name="Flèche vers le bas 23"/>
          <p:cNvSpPr/>
          <p:nvPr/>
        </p:nvSpPr>
        <p:spPr>
          <a:xfrm>
            <a:off x="7554595" y="1572260"/>
            <a:ext cx="180975" cy="33210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7735570" y="150558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5&lt; 6?</a:t>
            </a:r>
          </a:p>
        </p:txBody>
      </p:sp>
      <p:sp>
        <p:nvSpPr>
          <p:cNvPr id="22" name="Zone de texte 21"/>
          <p:cNvSpPr txBox="1"/>
          <p:nvPr/>
        </p:nvSpPr>
        <p:spPr>
          <a:xfrm>
            <a:off x="6686550" y="1082040"/>
            <a:ext cx="1694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FFC000"/>
                </a:solidFill>
              </a:rPr>
              <a:t>Permutation</a:t>
            </a:r>
          </a:p>
        </p:txBody>
      </p:sp>
      <p:sp>
        <p:nvSpPr>
          <p:cNvPr id="17" name="Arc plein 16"/>
          <p:cNvSpPr/>
          <p:nvPr/>
        </p:nvSpPr>
        <p:spPr>
          <a:xfrm>
            <a:off x="6498590" y="1707515"/>
            <a:ext cx="1236980" cy="366395"/>
          </a:xfrm>
          <a:prstGeom prst="blockArc">
            <a:avLst>
              <a:gd name="adj1" fmla="val 10682609"/>
              <a:gd name="adj2" fmla="val 107371"/>
              <a:gd name="adj3" fmla="val 127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20" name="Flèche droite 19"/>
          <p:cNvSpPr/>
          <p:nvPr/>
        </p:nvSpPr>
        <p:spPr>
          <a:xfrm>
            <a:off x="3756660" y="4768850"/>
            <a:ext cx="1010920" cy="180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3" name="Zone de texte 22"/>
          <p:cNvSpPr txBox="1"/>
          <p:nvPr/>
        </p:nvSpPr>
        <p:spPr>
          <a:xfrm>
            <a:off x="5027930" y="4675505"/>
            <a:ext cx="4110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solidFill>
                  <a:srgbClr val="FFC000"/>
                </a:solidFill>
              </a:rPr>
              <a:t>Le tableau est trié par ordre croissant</a:t>
            </a:r>
            <a:endParaRPr lang="fr-FR" altLang="en-US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3355</Words>
  <Application>Microsoft Office PowerPoint</Application>
  <PresentationFormat>Widescreen</PresentationFormat>
  <Paragraphs>621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Tri par Sélection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Différents types de tri</dc:title>
  <dc:creator/>
  <cp:lastModifiedBy>naouel boughattas</cp:lastModifiedBy>
  <cp:revision>309</cp:revision>
  <dcterms:created xsi:type="dcterms:W3CDTF">2020-10-10T17:56:00Z</dcterms:created>
  <dcterms:modified xsi:type="dcterms:W3CDTF">2025-06-28T21:51:52Z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1036-11.2.0.11254</vt:lpwstr>
  </property>
  <property fmtid="{D5CDD505-2E9C-101B-9397-08002B2CF9AE}" pid="3" name="ICV">
    <vt:lpwstr>88E062C852C54BACBD4C4EB8441D6858</vt:lpwstr>
  </property>
</Properties>
</file>