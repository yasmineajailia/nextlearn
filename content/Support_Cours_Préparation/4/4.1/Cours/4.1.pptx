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310" r:id="rId3"/>
    <p:sldId id="259" r:id="rId4"/>
    <p:sldId id="261" r:id="rId5"/>
    <p:sldId id="275" r:id="rId6"/>
    <p:sldId id="278" r:id="rId7"/>
    <p:sldId id="285" r:id="rId8"/>
    <p:sldId id="286" r:id="rId9"/>
    <p:sldId id="287" r:id="rId10"/>
    <p:sldId id="358" r:id="rId11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71" d="100"/>
          <a:sy n="71" d="100"/>
        </p:scale>
        <p:origin x="1205" y="43"/>
      </p:cViewPr>
      <p:guideLst>
        <p:guide orient="horz" pos="2182"/>
        <p:guide pos="291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56"/>
        <p:guide pos="22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22/04/2025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9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22/04/2025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22/04/2025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22/04/2025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22/04/2025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22/04/2025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22/04/2025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22/04/2025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‹#›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22/04/2025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-857288" y="2500306"/>
            <a:ext cx="9644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fr-FR" sz="5400" b="1" dirty="0"/>
              <a:t>            </a:t>
            </a:r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tableaux unidimensionnels</a:t>
            </a: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8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1</a:t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29203" y="669704"/>
            <a:ext cx="6243113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introductif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2</a:t>
            </a:fld>
            <a:endParaRPr lang="fr-BE" sz="2400" b="1" dirty="0">
              <a:solidFill>
                <a:schemeClr val="tx1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>
          <a:xfrm>
            <a:off x="285720" y="1571612"/>
            <a:ext cx="8858280" cy="4605351"/>
          </a:xfrm>
        </p:spPr>
        <p:txBody>
          <a:bodyPr>
            <a:normAutofit/>
          </a:bodyPr>
          <a:lstStyle/>
          <a:p>
            <a:pPr marL="914400" lvl="1" indent="-914400">
              <a:buClr>
                <a:srgbClr val="C00000"/>
              </a:buClr>
              <a:buNone/>
            </a:pPr>
            <a:r>
              <a:rPr lang="fr-F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pPr marL="914400" lvl="1" indent="-914400">
              <a:buClr>
                <a:srgbClr val="C00000"/>
              </a:buClr>
              <a:buNone/>
            </a:pPr>
            <a:endParaRPr lang="fr-FR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Clr>
                <a:srgbClr val="C00000"/>
              </a:buClr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Nous désirons calculer les moyennes de 12 étudiants.</a:t>
            </a:r>
          </a:p>
          <a:p>
            <a:pPr marL="857250" lvl="1" indent="-457200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1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Déclaration de 12 variables</a:t>
            </a:r>
          </a:p>
          <a:p>
            <a:pPr marL="1314450" lvl="2" indent="-865505">
              <a:buClr>
                <a:srgbClr val="C00000"/>
              </a:buClr>
              <a:buNone/>
              <a:tabLst>
                <a:tab pos="448945" algn="l"/>
              </a:tabLst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=(N1+N2+N3+N4+N5+N6+N7+N8+N9+N10+N11+N12)/12</a:t>
            </a:r>
          </a:p>
          <a:p>
            <a:pPr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Inconvénients:</a:t>
            </a:r>
          </a:p>
          <a:p>
            <a:pPr>
              <a:buNone/>
            </a:pPr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nom pour chaque variable.</a:t>
            </a:r>
          </a:p>
          <a:p>
            <a:pPr>
              <a:buNone/>
            </a:pPr>
            <a:r>
              <a:rPr lang="fr-FR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Aucun lien entre les différentes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  <a:t>3</a:t>
            </a:fld>
            <a:endParaRPr lang="fr-BE" sz="2400" b="1" dirty="0">
              <a:solidFill>
                <a:schemeClr val="tx1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idx="1"/>
          </p:nvPr>
        </p:nvSpPr>
        <p:spPr>
          <a:xfrm>
            <a:off x="642591" y="1300148"/>
            <a:ext cx="8715404" cy="481966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Disposer d’un objet plus complexe, pour stocker ces moyennes, et y accéder à l’aide d’un indice.</a:t>
            </a:r>
          </a:p>
          <a:p>
            <a:pPr marL="914400" lvl="1" indent="-457200">
              <a:buClr>
                <a:srgbClr val="C00000"/>
              </a:buClr>
              <a:buNone/>
            </a:pPr>
            <a:endParaRPr lang="fr-F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1571604" y="3214686"/>
          <a:ext cx="6215106" cy="7143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5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438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15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12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13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1643042" y="400050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ZoneTexte 8"/>
          <p:cNvSpPr txBox="1"/>
          <p:nvPr/>
        </p:nvSpPr>
        <p:spPr>
          <a:xfrm>
            <a:off x="142240" y="3429000"/>
            <a:ext cx="1286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Moyennes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42910" y="4000504"/>
            <a:ext cx="100013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Indices</a:t>
            </a:r>
          </a:p>
        </p:txBody>
      </p:sp>
      <p:cxnSp>
        <p:nvCxnSpPr>
          <p:cNvPr id="12" name="Connecteur droit avec flèche 11"/>
          <p:cNvCxnSpPr/>
          <p:nvPr/>
        </p:nvCxnSpPr>
        <p:spPr>
          <a:xfrm rot="16200000" flipH="1">
            <a:off x="2714612" y="4572008"/>
            <a:ext cx="1785950" cy="500066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3785870" y="5643880"/>
            <a:ext cx="312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Moyenne de l’élève n°2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000108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843503" y="71288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596" y="1500174"/>
            <a:ext cx="8463884" cy="4809146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tableau est une structure de données permettant de stocker des données de même type. 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Chacune des valeurs est repérée par un indice indiquant la position de la donnée dans le tableau. </a:t>
            </a:r>
            <a:b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tableau est caractérisé par: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nom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dimension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type de ses éléments</a:t>
            </a:r>
          </a:p>
          <a:p>
            <a:pPr algn="just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endParaRPr lang="fr-FR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de temps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Rétrécissement du volume du programme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Possibilité de réutilisation de toutes les valeurs ultérieurement dans le programme.</a:t>
            </a: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5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5243" y="76241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Intérêts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6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0968" y="763684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Déclaration d’un tableau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625" y="1571625"/>
            <a:ext cx="8253730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Type_de_variable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 &lt;</a:t>
            </a:r>
            <a:r>
              <a:rPr lang="fr-FR" sz="24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Nom_du_tableau</a:t>
            </a:r>
            <a:r>
              <a:rPr lang="fr-FR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[&lt;Taille&gt;] ;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</a:t>
            </a: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TAB[10];</a:t>
            </a: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Notes[20];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&lt;Taille&gt; est nécessairement une valeur numérique. Elle ne peut être en aucun cas une combinaison de variables du programme.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élément du tableau est repéré par son indice. En langage C les tableaux commencent à partir de l'indice 0. L'indice maximum est donc N-1. ( avec N : la taille du tableau )</a:t>
            </a:r>
          </a:p>
          <a:p>
            <a:endParaRPr lang="fr-FR" sz="2400" dirty="0"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7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Tableau &amp; mémoire (1/2)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9918" y="1036609"/>
            <a:ext cx="4932873" cy="587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8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910" y="1305342"/>
            <a:ext cx="800105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un tableau de taille N, le compilateur C réserve N places en mémoire pour ranger les éléments du tableau.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langage C, le nom d’un tableau est le représentant de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l’adresse du premier élément du tableau.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adresses des autres composantes sont calculées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(automatiquement) relativement à cette adresse.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 espace occupé en mémoire: Taille d’une composante en octets x 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&amp; mémoire (2/2)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9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9890" y="1305560"/>
            <a:ext cx="8512175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déclaration suivante :  </a:t>
            </a: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335280" indent="-90805">
              <a:buClr>
                <a:srgbClr val="C00000"/>
              </a:buClr>
              <a:buFont typeface="Wingdings" panose="05000000000000000000" pitchFamily="2" charset="2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TAB[10];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permet au compilateur de réserver un espace   pour   le tableau TAB avec une taille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maximale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10 * taille d’un entier.</a:t>
            </a:r>
          </a:p>
          <a:p>
            <a:pPr marL="335280" indent="-90805">
              <a:buClr>
                <a:srgbClr val="C00000"/>
              </a:buClr>
              <a:buFont typeface="Wingdings" panose="05000000000000000000" pitchFamily="2" charset="2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7375" indent="-342900">
              <a:buClr>
                <a:srgbClr val="C00000"/>
              </a:buClr>
              <a:buFont typeface="Wingdings" panose="05000000000000000000" charset="0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taille réelle d’un tableau sera celle correspondante à l’élément référencé ayant le plus grand indice +1. La taille réelle doit être &lt;= à la taille maximale.</a:t>
            </a:r>
          </a:p>
          <a:p>
            <a:pPr marL="587375" indent="-342900">
              <a:buClr>
                <a:srgbClr val="C00000"/>
              </a:buClr>
              <a:buFont typeface="Wingdings" panose="05000000000000000000" charset="0"/>
              <a:buChar char="ü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4475" indent="0">
              <a:buClr>
                <a:srgbClr val="C00000"/>
              </a:buClr>
              <a:buFont typeface="Wingdings" panose="05000000000000000000" charset="0"/>
              <a:buNone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</a:t>
            </a:r>
          </a:p>
          <a:p>
            <a:pPr marL="244475" indent="0">
              <a:buClr>
                <a:srgbClr val="C00000"/>
              </a:buClr>
              <a:buFont typeface="Wingdings" panose="05000000000000000000" charset="0"/>
              <a:buNone/>
            </a:pP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4475" indent="0">
              <a:buClr>
                <a:srgbClr val="C00000"/>
              </a:buClr>
              <a:buFont typeface="Wingdings" panose="05000000000000000000" charset="0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03" y="512859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maximale VS Taille réelle</a:t>
            </a:r>
          </a:p>
        </p:txBody>
      </p:sp>
      <p:graphicFrame>
        <p:nvGraphicFramePr>
          <p:cNvPr id="2" name="Espace réservé du contenu 1"/>
          <p:cNvGraphicFramePr>
            <a:graphicFrameLocks noGrp="1"/>
          </p:cNvGraphicFramePr>
          <p:nvPr>
            <p:ph sz="half" idx="2"/>
          </p:nvPr>
        </p:nvGraphicFramePr>
        <p:xfrm>
          <a:off x="2539365" y="4940935"/>
          <a:ext cx="4398010" cy="1770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86000" imgH="1085850" progId="Paint.Picture">
                  <p:embed/>
                </p:oleObj>
              </mc:Choice>
              <mc:Fallback>
                <p:oleObj r:id="rId3" imgW="2286000" imgH="1085850" progId="Paint.Picture">
                  <p:embed/>
                  <p:pic>
                    <p:nvPicPr>
                      <p:cNvPr id="0" name="Image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9365" y="4940935"/>
                        <a:ext cx="4398010" cy="17703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468</Words>
  <Application>Microsoft Office PowerPoint</Application>
  <PresentationFormat>On-screen Show (4:3)</PresentationFormat>
  <Paragraphs>109</Paragraphs>
  <Slides>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Thème Office</vt:lpstr>
      <vt:lpstr>Office Theme</vt:lpstr>
      <vt:lpstr>Paintbrush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lastModifiedBy>naouel boughattas</cp:lastModifiedBy>
  <cp:revision>410</cp:revision>
  <dcterms:created xsi:type="dcterms:W3CDTF">2017-09-09T12:22:00Z</dcterms:created>
  <dcterms:modified xsi:type="dcterms:W3CDTF">2025-04-22T09:17:28Z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