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3"/>
    <p:sldId id="258" r:id="rId4"/>
    <p:sldId id="260" r:id="rId5"/>
    <p:sldId id="261" r:id="rId6"/>
    <p:sldId id="259" r:id="rId7"/>
    <p:sldId id="270" r:id="rId8"/>
    <p:sldId id="264" r:id="rId9"/>
    <p:sldId id="265" r:id="rId10"/>
    <p:sldId id="266" r:id="rId11"/>
    <p:sldId id="267" r:id="rId12"/>
    <p:sldId id="271" r:id="rId13"/>
    <p:sldId id="272" r:id="rId14"/>
    <p:sldId id="273" r:id="rId15"/>
    <p:sldId id="274" r:id="rId16"/>
    <p:sldId id="285" r:id="rId17"/>
    <p:sldId id="275" r:id="rId18"/>
    <p:sldId id="276" r:id="rId19"/>
    <p:sldId id="28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CED96-068A-4274-8614-CE8858D45159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DBC96-224C-4F47-B1D0-6020CB55D1D9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883093"/>
            <a:ext cx="9144000" cy="2387600"/>
          </a:xfrm>
        </p:spPr>
        <p:txBody>
          <a:bodyPr/>
          <a:p>
            <a:r>
              <a:rPr lang="fr-FR" altLang="en-US" b="1"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Zone de texte 5"/>
          <p:cNvSpPr txBox="1"/>
          <p:nvPr/>
        </p:nvSpPr>
        <p:spPr>
          <a:xfrm>
            <a:off x="625475" y="1833880"/>
            <a:ext cx="979741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Soit la déclaration suivante :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int T[10];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            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Zone de texte 5"/>
          <p:cNvSpPr txBox="1"/>
          <p:nvPr/>
        </p:nvSpPr>
        <p:spPr>
          <a:xfrm>
            <a:off x="625475" y="1833880"/>
            <a:ext cx="9797415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Soit la déclaration suivante :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int T[10];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              Réservation en mémoire de 10 cases ( taille maximale du tableau).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              Chaque case est de la taille d'un entier.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Flèche droite 6"/>
          <p:cNvSpPr/>
          <p:nvPr/>
        </p:nvSpPr>
        <p:spPr>
          <a:xfrm>
            <a:off x="729615" y="3186430"/>
            <a:ext cx="815975" cy="292100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Zone de texte 5"/>
          <p:cNvSpPr txBox="1"/>
          <p:nvPr/>
        </p:nvSpPr>
        <p:spPr>
          <a:xfrm>
            <a:off x="625475" y="1833880"/>
            <a:ext cx="979741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Soit la déclaration suivante :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int T[10];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              Réservation en mémoire de 10 cases ( taille maximale du tableau).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              Chaque case est de la taille d'un entier.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On considère n = 5 ( taille réélle du tableau T).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Notre objectif est d'ajouter une valeur dans le tableau T à une position donnée.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Flèche droite 6"/>
          <p:cNvSpPr/>
          <p:nvPr/>
        </p:nvSpPr>
        <p:spPr>
          <a:xfrm>
            <a:off x="729615" y="3186430"/>
            <a:ext cx="815975" cy="292100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1173924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Etapes à suivre :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1). Lire le contenu de la variable à ajouter ( var )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2). Lire la position à partir de laquelle on va ajouter var ( pos)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3). Parcourir le tableau en commençant à partir de l'indice n ( n=5) pour chercher la position où on va insérer l'élément.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4). Décaler les éléments de la position n jusqu'à la position pos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5). Insérer var dans la position pos donnée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6). La taille du tableau est incrémentée de 1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3095" y="2507615"/>
            <a:ext cx="4526915" cy="294259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117392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Code en C :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Zone de texte 16"/>
          <p:cNvSpPr txBox="1"/>
          <p:nvPr/>
        </p:nvSpPr>
        <p:spPr>
          <a:xfrm>
            <a:off x="625475" y="2601595"/>
            <a:ext cx="70624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i =  n 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while ( ( i &gt; 0) &amp;&amp; ( i &gt; pos))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  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T[pos] = var;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  n++; 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	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20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9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20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9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9" name="Zone de texte 8"/>
          <p:cNvSpPr txBox="1"/>
          <p:nvPr/>
        </p:nvSpPr>
        <p:spPr>
          <a:xfrm>
            <a:off x="1538605" y="4605655"/>
            <a:ext cx="9174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Objectif :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 Ajouter la valeur 6 à la position 2 ( indice du tableau = 2 )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20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9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20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9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5989955" y="2205990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6261735" y="1998980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5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7493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</p:txBody>
      </p:sp>
      <p:sp>
        <p:nvSpPr>
          <p:cNvPr id="18" name="Triangle isocèle 17"/>
          <p:cNvSpPr/>
          <p:nvPr/>
        </p:nvSpPr>
        <p:spPr>
          <a:xfrm rot="5400000">
            <a:off x="5840095" y="3997325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20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9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5989955" y="2205990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6261735" y="1998980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5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( i &gt; pos))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Triangle isocèle 17"/>
          <p:cNvSpPr/>
          <p:nvPr/>
        </p:nvSpPr>
        <p:spPr>
          <a:xfrm rot="5400000">
            <a:off x="5840095" y="4318635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20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9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5989955" y="2205990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6261735" y="1998980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5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( i &gt; pos))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Triangle isocèle 19"/>
          <p:cNvSpPr/>
          <p:nvPr/>
        </p:nvSpPr>
        <p:spPr>
          <a:xfrm rot="5400000">
            <a:off x="5840095" y="4318635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20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9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9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5989955" y="2205990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6261735" y="1998980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5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( i &gt; pos))    </a:t>
            </a:r>
            <a:r>
              <a:rPr lang="fr-FR" altLang="en-US" sz="2000" b="1">
                <a:solidFill>
                  <a:schemeClr val="accent6"/>
                </a:solidFill>
              </a:rPr>
              <a:t>--&gt; VRAI</a:t>
            </a:r>
            <a:endParaRPr lang="fr-FR" altLang="en-US" sz="2000" b="1">
              <a:solidFill>
                <a:schemeClr val="accent6"/>
              </a:solidFill>
            </a:endParaRPr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Triangle isocèle 19"/>
          <p:cNvSpPr/>
          <p:nvPr/>
        </p:nvSpPr>
        <p:spPr>
          <a:xfrm rot="5400000">
            <a:off x="5840095" y="4873625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20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9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9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5054600" y="2199640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5287645" y="2059305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4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( i &gt; pos))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Zone de texte 19"/>
          <p:cNvSpPr txBox="1"/>
          <p:nvPr/>
        </p:nvSpPr>
        <p:spPr>
          <a:xfrm>
            <a:off x="9287510" y="4211955"/>
            <a:ext cx="9512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solidFill>
                  <a:schemeClr val="accent6"/>
                </a:solidFill>
                <a:sym typeface="+mn-ea"/>
              </a:rPr>
              <a:t>--&gt; VRAI</a:t>
            </a:r>
            <a:endParaRPr lang="fr-FR" altLang="en-US"/>
          </a:p>
        </p:txBody>
      </p:sp>
      <p:sp>
        <p:nvSpPr>
          <p:cNvPr id="21" name="Triangle isocèle 20"/>
          <p:cNvSpPr/>
          <p:nvPr/>
        </p:nvSpPr>
        <p:spPr>
          <a:xfrm rot="5400000">
            <a:off x="5840095" y="5180330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20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9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9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5054600" y="2199640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5287645" y="2059305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4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( i &gt; pos))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Zone de texte 19"/>
          <p:cNvSpPr txBox="1"/>
          <p:nvPr/>
        </p:nvSpPr>
        <p:spPr>
          <a:xfrm>
            <a:off x="9287510" y="4211955"/>
            <a:ext cx="9512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solidFill>
                  <a:schemeClr val="accent6"/>
                </a:solidFill>
                <a:sym typeface="+mn-ea"/>
              </a:rPr>
              <a:t>--&gt; VRAI</a:t>
            </a:r>
            <a:endParaRPr lang="fr-FR" altLang="en-US"/>
          </a:p>
        </p:txBody>
      </p:sp>
      <p:sp>
        <p:nvSpPr>
          <p:cNvPr id="21" name="Triangle isocèle 20"/>
          <p:cNvSpPr/>
          <p:nvPr/>
        </p:nvSpPr>
        <p:spPr>
          <a:xfrm rot="5400000">
            <a:off x="5664835" y="4305935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20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9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5054600" y="2199640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5287645" y="2059305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4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( i &gt; pos))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Zone de texte 19"/>
          <p:cNvSpPr txBox="1"/>
          <p:nvPr/>
        </p:nvSpPr>
        <p:spPr>
          <a:xfrm>
            <a:off x="9287510" y="4211955"/>
            <a:ext cx="9512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solidFill>
                  <a:schemeClr val="accent6"/>
                </a:solidFill>
                <a:sym typeface="+mn-ea"/>
              </a:rPr>
              <a:t>--&gt; VRAI</a:t>
            </a:r>
            <a:endParaRPr lang="fr-FR" altLang="en-US"/>
          </a:p>
        </p:txBody>
      </p:sp>
      <p:sp>
        <p:nvSpPr>
          <p:cNvPr id="21" name="Triangle isocèle 20"/>
          <p:cNvSpPr/>
          <p:nvPr/>
        </p:nvSpPr>
        <p:spPr>
          <a:xfrm rot="5400000">
            <a:off x="5664835" y="4904740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20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9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4269740" y="2219325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4450715" y="2014220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3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( i &gt; pos))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Zone de texte 19"/>
          <p:cNvSpPr txBox="1"/>
          <p:nvPr/>
        </p:nvSpPr>
        <p:spPr>
          <a:xfrm>
            <a:off x="9287510" y="4211955"/>
            <a:ext cx="9512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solidFill>
                  <a:schemeClr val="accent6"/>
                </a:solidFill>
                <a:sym typeface="+mn-ea"/>
              </a:rPr>
              <a:t>--&gt; VRAI</a:t>
            </a:r>
            <a:endParaRPr lang="fr-FR" altLang="en-US"/>
          </a:p>
        </p:txBody>
      </p:sp>
      <p:sp>
        <p:nvSpPr>
          <p:cNvPr id="21" name="Triangle isocèle 20"/>
          <p:cNvSpPr/>
          <p:nvPr/>
        </p:nvSpPr>
        <p:spPr>
          <a:xfrm rot="5400000">
            <a:off x="5664835" y="5167630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20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9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4269740" y="2219325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4450715" y="2014220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3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( i &gt; pos))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Zone de texte 19"/>
          <p:cNvSpPr txBox="1"/>
          <p:nvPr/>
        </p:nvSpPr>
        <p:spPr>
          <a:xfrm>
            <a:off x="9287510" y="4211955"/>
            <a:ext cx="9512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solidFill>
                  <a:schemeClr val="accent6"/>
                </a:solidFill>
                <a:sym typeface="+mn-ea"/>
              </a:rPr>
              <a:t>--&gt; VRAI</a:t>
            </a:r>
            <a:endParaRPr lang="fr-FR" altLang="en-US"/>
          </a:p>
        </p:txBody>
      </p:sp>
      <p:sp>
        <p:nvSpPr>
          <p:cNvPr id="21" name="Triangle isocèle 20"/>
          <p:cNvSpPr/>
          <p:nvPr/>
        </p:nvSpPr>
        <p:spPr>
          <a:xfrm rot="5400000">
            <a:off x="5680075" y="4338320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41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9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4269740" y="2219325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4450715" y="2014220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3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( i &gt; pos))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Zone de texte 19"/>
          <p:cNvSpPr txBox="1"/>
          <p:nvPr/>
        </p:nvSpPr>
        <p:spPr>
          <a:xfrm>
            <a:off x="9287510" y="4211955"/>
            <a:ext cx="9512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solidFill>
                  <a:schemeClr val="accent6"/>
                </a:solidFill>
                <a:sym typeface="+mn-ea"/>
              </a:rPr>
              <a:t>--&gt; VRAI</a:t>
            </a:r>
            <a:endParaRPr lang="fr-FR" altLang="en-US"/>
          </a:p>
        </p:txBody>
      </p:sp>
      <p:sp>
        <p:nvSpPr>
          <p:cNvPr id="21" name="Triangle isocèle 20"/>
          <p:cNvSpPr/>
          <p:nvPr/>
        </p:nvSpPr>
        <p:spPr>
          <a:xfrm rot="5400000">
            <a:off x="5680075" y="4849495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41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9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3230245" y="2166620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3545205" y="1998980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2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( i &gt; pos))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Zone de texte 19"/>
          <p:cNvSpPr txBox="1"/>
          <p:nvPr/>
        </p:nvSpPr>
        <p:spPr>
          <a:xfrm>
            <a:off x="9287510" y="4211955"/>
            <a:ext cx="9512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solidFill>
                  <a:schemeClr val="accent6"/>
                </a:solidFill>
                <a:sym typeface="+mn-ea"/>
              </a:rPr>
              <a:t>--&gt; VRAI</a:t>
            </a:r>
            <a:endParaRPr lang="fr-FR" altLang="en-US"/>
          </a:p>
        </p:txBody>
      </p:sp>
      <p:sp>
        <p:nvSpPr>
          <p:cNvPr id="21" name="Triangle isocèle 20"/>
          <p:cNvSpPr/>
          <p:nvPr/>
        </p:nvSpPr>
        <p:spPr>
          <a:xfrm rot="5400000">
            <a:off x="5680075" y="5170805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41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9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3230245" y="2166620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3545205" y="1998980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2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</a:t>
            </a:r>
            <a:r>
              <a:rPr lang="fr-FR" altLang="en-US" sz="2000" b="1">
                <a:solidFill>
                  <a:srgbClr val="FF0000"/>
                </a:solidFill>
              </a:rPr>
              <a:t>( i &gt; pos)</a:t>
            </a:r>
            <a:r>
              <a:rPr lang="fr-FR" altLang="en-US" sz="2000" b="1"/>
              <a:t>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Zone de texte 19"/>
          <p:cNvSpPr txBox="1"/>
          <p:nvPr/>
        </p:nvSpPr>
        <p:spPr>
          <a:xfrm>
            <a:off x="9287510" y="4211955"/>
            <a:ext cx="242252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solidFill>
                  <a:srgbClr val="FF0000"/>
                </a:solidFill>
                <a:sym typeface="+mn-ea"/>
              </a:rPr>
              <a:t>--&gt; FAUX      //  i == pos  </a:t>
            </a:r>
            <a:endParaRPr lang="fr-FR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1" name="Triangle isocèle 20"/>
          <p:cNvSpPr/>
          <p:nvPr/>
        </p:nvSpPr>
        <p:spPr>
          <a:xfrm rot="5400000">
            <a:off x="5680075" y="4338320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41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9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3230245" y="2166620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3545205" y="1998980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2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</a:t>
            </a:r>
            <a:r>
              <a:rPr lang="fr-FR" altLang="en-US" sz="2000" b="1">
                <a:solidFill>
                  <a:srgbClr val="FF0000"/>
                </a:solidFill>
              </a:rPr>
              <a:t>( i &gt; pos)</a:t>
            </a:r>
            <a:r>
              <a:rPr lang="fr-FR" altLang="en-US" sz="2000" b="1"/>
              <a:t>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Zone de texte 19"/>
          <p:cNvSpPr txBox="1"/>
          <p:nvPr/>
        </p:nvSpPr>
        <p:spPr>
          <a:xfrm>
            <a:off x="9287510" y="4211955"/>
            <a:ext cx="242252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solidFill>
                  <a:srgbClr val="FF0000"/>
                </a:solidFill>
                <a:sym typeface="+mn-ea"/>
              </a:rPr>
              <a:t>--&gt; FAUX      //  i == pos  </a:t>
            </a:r>
            <a:endParaRPr lang="fr-FR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1" name="Flèche droite 20"/>
          <p:cNvSpPr/>
          <p:nvPr/>
        </p:nvSpPr>
        <p:spPr>
          <a:xfrm flipV="1">
            <a:off x="7045960" y="5616575"/>
            <a:ext cx="996315" cy="19621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8235315" y="5482590"/>
            <a:ext cx="22459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chemeClr val="accent4"/>
                </a:solidFill>
              </a:rPr>
              <a:t>On quitte la boucle </a:t>
            </a:r>
            <a:endParaRPr lang="fr-FR" altLang="en-US" sz="2000" b="1">
              <a:solidFill>
                <a:schemeClr val="accent4"/>
              </a:solidFill>
            </a:endParaRPr>
          </a:p>
        </p:txBody>
      </p:sp>
      <p:sp>
        <p:nvSpPr>
          <p:cNvPr id="23" name="Triangle isocèle 22"/>
          <p:cNvSpPr/>
          <p:nvPr/>
        </p:nvSpPr>
        <p:spPr>
          <a:xfrm rot="5400000">
            <a:off x="5785485" y="5939155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41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41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9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3230245" y="2166620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3545205" y="1998980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2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</a:t>
            </a:r>
            <a:r>
              <a:rPr lang="fr-FR" altLang="en-US" sz="2000" b="1">
                <a:solidFill>
                  <a:srgbClr val="FF0000"/>
                </a:solidFill>
              </a:rPr>
              <a:t>( i &gt; pos)</a:t>
            </a:r>
            <a:r>
              <a:rPr lang="fr-FR" altLang="en-US" sz="2000" b="1"/>
              <a:t>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Zone de texte 19"/>
          <p:cNvSpPr txBox="1"/>
          <p:nvPr/>
        </p:nvSpPr>
        <p:spPr>
          <a:xfrm>
            <a:off x="9287510" y="4211955"/>
            <a:ext cx="242252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solidFill>
                  <a:srgbClr val="FF0000"/>
                </a:solidFill>
                <a:sym typeface="+mn-ea"/>
              </a:rPr>
              <a:t>--&gt; FAUX      //  i == pos  </a:t>
            </a:r>
            <a:endParaRPr lang="fr-FR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3" name="Zone de texte 22"/>
          <p:cNvSpPr txBox="1"/>
          <p:nvPr/>
        </p:nvSpPr>
        <p:spPr>
          <a:xfrm>
            <a:off x="6170930" y="5988050"/>
            <a:ext cx="14687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buClrTx/>
              <a:buSzTx/>
              <a:buNone/>
            </a:pPr>
            <a:r>
              <a:rPr lang="fr-FR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T[pos] = var;</a:t>
            </a:r>
            <a:endParaRPr lang="fr-FR" altLang="en-US"/>
          </a:p>
        </p:txBody>
      </p:sp>
      <p:sp>
        <p:nvSpPr>
          <p:cNvPr id="24" name="Triangle isocèle 23"/>
          <p:cNvSpPr/>
          <p:nvPr/>
        </p:nvSpPr>
        <p:spPr>
          <a:xfrm rot="5400000">
            <a:off x="5680075" y="6076315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fr-FR" altLang="en-US">
                          <a:solidFill>
                            <a:schemeClr val="accent4"/>
                          </a:solidFill>
                        </a:rPr>
                        <a:t> </a:t>
                      </a:r>
                      <a:r>
                        <a:rPr lang="fr-FR" altLang="en-US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</a:rPr>
                        <a:t>6</a:t>
                      </a:r>
                      <a:r>
                        <a:rPr lang="fr-FR" altLang="en-US">
                          <a:solidFill>
                            <a:schemeClr val="accent4"/>
                          </a:solidFill>
                        </a:rPr>
                        <a:t>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41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9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3230245" y="2166620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3545205" y="1998980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2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</a:t>
            </a:r>
            <a:r>
              <a:rPr lang="fr-FR" altLang="en-US" sz="2000" b="1">
                <a:solidFill>
                  <a:srgbClr val="FF0000"/>
                </a:solidFill>
              </a:rPr>
              <a:t>( i &gt; pos)</a:t>
            </a:r>
            <a:r>
              <a:rPr lang="fr-FR" altLang="en-US" sz="2000" b="1"/>
              <a:t>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Zone de texte 19"/>
          <p:cNvSpPr txBox="1"/>
          <p:nvPr/>
        </p:nvSpPr>
        <p:spPr>
          <a:xfrm>
            <a:off x="9287510" y="4211955"/>
            <a:ext cx="242252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solidFill>
                  <a:srgbClr val="FF0000"/>
                </a:solidFill>
                <a:sym typeface="+mn-ea"/>
              </a:rPr>
              <a:t>--&gt; FAUX      //  i == pos  </a:t>
            </a:r>
            <a:endParaRPr lang="fr-FR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3" name="Zone de texte 22"/>
          <p:cNvSpPr txBox="1"/>
          <p:nvPr/>
        </p:nvSpPr>
        <p:spPr>
          <a:xfrm>
            <a:off x="6170930" y="5988050"/>
            <a:ext cx="14687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buClrTx/>
              <a:buSzTx/>
              <a:buNone/>
            </a:pPr>
            <a:r>
              <a:rPr lang="fr-FR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T[pos] = var;</a:t>
            </a:r>
            <a:endParaRPr lang="fr-FR" altLang="en-US"/>
          </a:p>
        </p:txBody>
      </p:sp>
      <p:sp>
        <p:nvSpPr>
          <p:cNvPr id="24" name="Triangle isocèle 23"/>
          <p:cNvSpPr/>
          <p:nvPr/>
        </p:nvSpPr>
        <p:spPr>
          <a:xfrm rot="5400000">
            <a:off x="5680075" y="6076315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fr-FR" altLang="en-US">
                          <a:solidFill>
                            <a:schemeClr val="accent4"/>
                          </a:solidFill>
                        </a:rPr>
                        <a:t> </a:t>
                      </a:r>
                      <a:r>
                        <a:rPr lang="fr-FR" altLang="en-US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</a:rPr>
                        <a:t>6</a:t>
                      </a:r>
                      <a:r>
                        <a:rPr lang="fr-FR" altLang="en-US">
                          <a:solidFill>
                            <a:schemeClr val="accent4"/>
                          </a:solidFill>
                        </a:rPr>
                        <a:t>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41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9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617470"/>
            <a:ext cx="6889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n = 5</a:t>
            </a:r>
            <a:endParaRPr lang="fr-FR" altLang="en-US" sz="2000" b="1"/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3230245" y="2166620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3545205" y="1998980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2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</a:t>
            </a:r>
            <a:r>
              <a:rPr lang="fr-FR" altLang="en-US" sz="2000" b="1">
                <a:solidFill>
                  <a:srgbClr val="FF0000"/>
                </a:solidFill>
              </a:rPr>
              <a:t>( i &gt; pos)</a:t>
            </a:r>
            <a:r>
              <a:rPr lang="fr-FR" altLang="en-US" sz="2000" b="1"/>
              <a:t>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Zone de texte 19"/>
          <p:cNvSpPr txBox="1"/>
          <p:nvPr/>
        </p:nvSpPr>
        <p:spPr>
          <a:xfrm>
            <a:off x="9287510" y="4211955"/>
            <a:ext cx="242252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solidFill>
                  <a:srgbClr val="FF0000"/>
                </a:solidFill>
                <a:sym typeface="+mn-ea"/>
              </a:rPr>
              <a:t>--&gt; FAUX      //  i == pos  </a:t>
            </a:r>
            <a:endParaRPr lang="fr-FR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3" name="Zone de texte 22"/>
          <p:cNvSpPr txBox="1"/>
          <p:nvPr/>
        </p:nvSpPr>
        <p:spPr>
          <a:xfrm>
            <a:off x="6170930" y="5988050"/>
            <a:ext cx="14687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buClrTx/>
              <a:buSzTx/>
              <a:buNone/>
            </a:pPr>
            <a:r>
              <a:rPr lang="fr-FR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T[pos] = var;</a:t>
            </a:r>
            <a:endParaRPr lang="fr-FR" altLang="en-US"/>
          </a:p>
        </p:txBody>
      </p:sp>
      <p:sp>
        <p:nvSpPr>
          <p:cNvPr id="24" name="Zone de texte 23"/>
          <p:cNvSpPr txBox="1"/>
          <p:nvPr/>
        </p:nvSpPr>
        <p:spPr>
          <a:xfrm>
            <a:off x="6292215" y="6356350"/>
            <a:ext cx="6464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n++;</a:t>
            </a:r>
            <a:endParaRPr lang="fr-FR" altLang="en-US"/>
          </a:p>
        </p:txBody>
      </p:sp>
      <p:sp>
        <p:nvSpPr>
          <p:cNvPr id="25" name="Triangle isocèle 24"/>
          <p:cNvSpPr/>
          <p:nvPr/>
        </p:nvSpPr>
        <p:spPr>
          <a:xfrm rot="5400000">
            <a:off x="5680075" y="6441440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625475" y="805180"/>
            <a:ext cx="4064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Ajouter un élément dans un tableau</a:t>
            </a:r>
            <a:endParaRPr lang="fr-FR" altLang="en-US" sz="20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Zone de texte 7"/>
          <p:cNvSpPr txBox="1"/>
          <p:nvPr/>
        </p:nvSpPr>
        <p:spPr>
          <a:xfrm>
            <a:off x="625475" y="1512570"/>
            <a:ext cx="706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</a:rPr>
              <a:t>Exemple d'exécution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>
                <a:latin typeface="Times New Roman" panose="02020603050405020304" charset="0"/>
                <a:cs typeface="Times New Roman" panose="02020603050405020304" charset="0"/>
              </a:rPr>
              <a:t>  </a:t>
            </a:r>
            <a:endParaRPr lang="fr-FR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330960" y="26047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fr-FR" altLang="en-US"/>
                        <a:t> </a:t>
                      </a:r>
                      <a:endParaRPr lang="fr-F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0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fr-FR" altLang="en-US">
                          <a:solidFill>
                            <a:schemeClr val="accent4"/>
                          </a:solidFill>
                        </a:rPr>
                        <a:t> </a:t>
                      </a:r>
                      <a:r>
                        <a:rPr lang="fr-FR" altLang="en-US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</a:rPr>
                        <a:t>6</a:t>
                      </a:r>
                      <a:r>
                        <a:rPr lang="fr-FR" altLang="en-US">
                          <a:solidFill>
                            <a:schemeClr val="accent4"/>
                          </a:solidFill>
                        </a:rPr>
                        <a:t> 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41</a:t>
                      </a: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       </a:t>
                      </a:r>
                      <a:endParaRPr lang="fr-F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/>
                        <a:t>      </a:t>
                      </a:r>
                      <a:r>
                        <a:rPr lang="fr-FR" altLang="en-US">
                          <a:solidFill>
                            <a:srgbClr val="FF0000"/>
                          </a:solidFill>
                        </a:rPr>
                        <a:t>9</a:t>
                      </a:r>
                      <a:endParaRPr lang="fr-F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 de texte 2"/>
          <p:cNvSpPr txBox="1"/>
          <p:nvPr/>
        </p:nvSpPr>
        <p:spPr>
          <a:xfrm>
            <a:off x="10713085" y="2525395"/>
            <a:ext cx="7912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400" b="1">
                <a:solidFill>
                  <a:schemeClr val="accent1"/>
                </a:solidFill>
              </a:rPr>
              <a:t>n = 6</a:t>
            </a:r>
            <a:endParaRPr lang="fr-FR" altLang="en-US" sz="2400" b="1">
              <a:solidFill>
                <a:schemeClr val="accent1"/>
              </a:solidFill>
            </a:endParaRPr>
          </a:p>
        </p:txBody>
      </p:sp>
      <p:sp>
        <p:nvSpPr>
          <p:cNvPr id="6" name="Zone de texte 5"/>
          <p:cNvSpPr txBox="1"/>
          <p:nvPr/>
        </p:nvSpPr>
        <p:spPr>
          <a:xfrm>
            <a:off x="853440" y="2219325"/>
            <a:ext cx="3086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T</a:t>
            </a:r>
            <a:endParaRPr lang="fr-FR" altLang="en-US" sz="2000" b="1"/>
          </a:p>
        </p:txBody>
      </p:sp>
      <p:sp>
        <p:nvSpPr>
          <p:cNvPr id="7" name="Zone de texte 6"/>
          <p:cNvSpPr txBox="1"/>
          <p:nvPr/>
        </p:nvSpPr>
        <p:spPr>
          <a:xfrm>
            <a:off x="246380" y="2985770"/>
            <a:ext cx="5399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1600" b="1"/>
              <a:t>indices                </a:t>
            </a:r>
            <a:r>
              <a:rPr lang="fr-FR" altLang="en-US" sz="1600" b="1">
                <a:solidFill>
                  <a:schemeClr val="accent3"/>
                </a:solidFill>
              </a:rPr>
              <a:t> 0                1                  2               3                4        </a:t>
            </a:r>
            <a:endParaRPr lang="fr-FR" altLang="en-US" sz="1600" b="1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8280" y="4439920"/>
            <a:ext cx="768985" cy="6483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1" name="Zone de texte 10"/>
          <p:cNvSpPr txBox="1"/>
          <p:nvPr/>
        </p:nvSpPr>
        <p:spPr>
          <a:xfrm>
            <a:off x="1595755" y="5088255"/>
            <a:ext cx="5340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Var</a:t>
            </a:r>
            <a:endParaRPr lang="fr-FR" altLang="en-US" sz="2000" b="1"/>
          </a:p>
        </p:txBody>
      </p:sp>
      <p:sp>
        <p:nvSpPr>
          <p:cNvPr id="12" name="Zone de texte 11"/>
          <p:cNvSpPr txBox="1"/>
          <p:nvPr/>
        </p:nvSpPr>
        <p:spPr>
          <a:xfrm>
            <a:off x="1707515" y="4580255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6</a:t>
            </a:r>
            <a:endParaRPr lang="fr-FR" altLang="en-US" b="1"/>
          </a:p>
        </p:txBody>
      </p:sp>
      <p:sp>
        <p:nvSpPr>
          <p:cNvPr id="13" name="Rectangle 12"/>
          <p:cNvSpPr/>
          <p:nvPr/>
        </p:nvSpPr>
        <p:spPr>
          <a:xfrm>
            <a:off x="2642235" y="4435475"/>
            <a:ext cx="768985" cy="64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759710" y="5083810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15" name="Zone de texte 14"/>
          <p:cNvSpPr txBox="1"/>
          <p:nvPr/>
        </p:nvSpPr>
        <p:spPr>
          <a:xfrm>
            <a:off x="2871470" y="4575810"/>
            <a:ext cx="298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/>
              <a:t>2</a:t>
            </a:r>
            <a:endParaRPr lang="fr-FR" altLang="en-US" b="1"/>
          </a:p>
        </p:txBody>
      </p:sp>
      <p:sp>
        <p:nvSpPr>
          <p:cNvPr id="9" name="Flèche vers le bas 8"/>
          <p:cNvSpPr/>
          <p:nvPr/>
        </p:nvSpPr>
        <p:spPr>
          <a:xfrm>
            <a:off x="3230245" y="2166620"/>
            <a:ext cx="180975" cy="438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3545205" y="1998980"/>
            <a:ext cx="614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i = 2</a:t>
            </a:r>
            <a:endParaRPr lang="fr-FR" altLang="en-US" sz="2000" b="1"/>
          </a:p>
        </p:txBody>
      </p:sp>
      <p:sp>
        <p:nvSpPr>
          <p:cNvPr id="17" name="Zone de texte 16"/>
          <p:cNvSpPr txBox="1"/>
          <p:nvPr/>
        </p:nvSpPr>
        <p:spPr>
          <a:xfrm>
            <a:off x="6170930" y="3879850"/>
            <a:ext cx="43103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i = n ;</a:t>
            </a:r>
            <a:endParaRPr lang="fr-FR" altLang="en-US" sz="2000" b="1"/>
          </a:p>
          <a:p>
            <a:r>
              <a:rPr lang="fr-FR" altLang="en-US" sz="2000" b="1"/>
              <a:t>while ( (i &gt; 0 ) &amp;&amp; </a:t>
            </a:r>
            <a:r>
              <a:rPr lang="fr-FR" altLang="en-US" sz="2000" b="1">
                <a:solidFill>
                  <a:srgbClr val="FF0000"/>
                </a:solidFill>
              </a:rPr>
              <a:t>( i &gt; pos)</a:t>
            </a:r>
            <a:r>
              <a:rPr lang="fr-FR" altLang="en-US" sz="2000" b="1"/>
              <a:t>)</a:t>
            </a:r>
            <a:endParaRPr lang="fr-FR" altLang="en-US" sz="2000" b="1"/>
          </a:p>
          <a:p>
            <a:r>
              <a:rPr lang="fr-FR" altLang="en-US" sz="2000" b="1"/>
              <a:t>{</a:t>
            </a:r>
            <a:endParaRPr lang="fr-FR" altLang="en-US" sz="2000" b="1"/>
          </a:p>
          <a:p>
            <a:r>
              <a:rPr lang="fr-FR" altLang="en-US" sz="2000" b="1"/>
              <a:t>  </a:t>
            </a:r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T[i] = 	T[i-1];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i --;</a:t>
            </a:r>
            <a:endParaRPr lang="fr-FR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000" b="1"/>
              <a:t>}</a:t>
            </a:r>
            <a:endParaRPr lang="fr-FR" altLang="en-US" sz="2000" b="1"/>
          </a:p>
          <a:p>
            <a:r>
              <a:rPr lang="fr-FR" altLang="en-US" sz="2000" b="1"/>
              <a:t>   </a:t>
            </a:r>
            <a:endParaRPr lang="fr-FR" altLang="en-US" sz="2000" b="1"/>
          </a:p>
        </p:txBody>
      </p:sp>
      <p:sp>
        <p:nvSpPr>
          <p:cNvPr id="18" name="Flèche vers le haut 17"/>
          <p:cNvSpPr/>
          <p:nvPr/>
        </p:nvSpPr>
        <p:spPr>
          <a:xfrm>
            <a:off x="3198495" y="3171825"/>
            <a:ext cx="180975" cy="46799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3379470" y="3322955"/>
            <a:ext cx="551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sz="2000" b="1"/>
              <a:t>Pos</a:t>
            </a:r>
            <a:endParaRPr lang="fr-FR" altLang="en-US" sz="2000" b="1"/>
          </a:p>
        </p:txBody>
      </p:sp>
      <p:sp>
        <p:nvSpPr>
          <p:cNvPr id="20" name="Zone de texte 19"/>
          <p:cNvSpPr txBox="1"/>
          <p:nvPr/>
        </p:nvSpPr>
        <p:spPr>
          <a:xfrm>
            <a:off x="9287510" y="4211955"/>
            <a:ext cx="242252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solidFill>
                  <a:srgbClr val="FF0000"/>
                </a:solidFill>
                <a:sym typeface="+mn-ea"/>
              </a:rPr>
              <a:t>--&gt; FAUX      //  i == pos  </a:t>
            </a:r>
            <a:endParaRPr lang="fr-FR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3" name="Zone de texte 22"/>
          <p:cNvSpPr txBox="1"/>
          <p:nvPr/>
        </p:nvSpPr>
        <p:spPr>
          <a:xfrm>
            <a:off x="6170930" y="5988050"/>
            <a:ext cx="14687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buClrTx/>
              <a:buSzTx/>
              <a:buNone/>
            </a:pPr>
            <a:r>
              <a:rPr lang="fr-FR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T[pos] = var;</a:t>
            </a:r>
            <a:endParaRPr lang="fr-FR" altLang="en-US"/>
          </a:p>
        </p:txBody>
      </p:sp>
      <p:sp>
        <p:nvSpPr>
          <p:cNvPr id="24" name="Zone de texte 23"/>
          <p:cNvSpPr txBox="1"/>
          <p:nvPr/>
        </p:nvSpPr>
        <p:spPr>
          <a:xfrm>
            <a:off x="6292215" y="6356350"/>
            <a:ext cx="6464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fr-FR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n++;</a:t>
            </a:r>
            <a:endParaRPr lang="fr-FR" altLang="en-US"/>
          </a:p>
        </p:txBody>
      </p:sp>
      <p:sp>
        <p:nvSpPr>
          <p:cNvPr id="25" name="Triangle isocèle 24"/>
          <p:cNvSpPr/>
          <p:nvPr/>
        </p:nvSpPr>
        <p:spPr>
          <a:xfrm rot="5400000">
            <a:off x="10243820" y="2705735"/>
            <a:ext cx="295275" cy="17907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F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7621</Words>
  <Application>WPS Presentation</Application>
  <PresentationFormat>Widescreen</PresentationFormat>
  <Paragraphs>954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Arial</vt:lpstr>
      <vt:lpstr>SimSun</vt:lpstr>
      <vt:lpstr>Wingdings</vt:lpstr>
      <vt:lpstr/>
      <vt:lpstr>Arial Unicode MS</vt:lpstr>
      <vt:lpstr>Calibri Light</vt:lpstr>
      <vt:lpstr>Calibri</vt:lpstr>
      <vt:lpstr>Microsoft YaHei</vt:lpstr>
      <vt:lpstr>Segoe Print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Ajouter un élément dans un tableau</dc:title>
  <dc:creator/>
  <cp:lastModifiedBy>nizar</cp:lastModifiedBy>
  <cp:revision>72</cp:revision>
  <dcterms:created xsi:type="dcterms:W3CDTF">2020-10-13T18:01:31Z</dcterms:created>
  <dcterms:modified xsi:type="dcterms:W3CDTF">2020-10-13T19:03:00Z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1036-11.2.0.9684</vt:lpwstr>
  </property>
</Properties>
</file>