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74" r:id="rId2"/>
    <p:sldId id="375" r:id="rId3"/>
    <p:sldId id="376" r:id="rId4"/>
    <p:sldId id="377" r:id="rId5"/>
    <p:sldId id="383" r:id="rId6"/>
    <p:sldId id="384" r:id="rId7"/>
    <p:sldId id="385" r:id="rId8"/>
    <p:sldId id="386" r:id="rId9"/>
    <p:sldId id="38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CED96-068A-4274-8614-CE8858D45159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DBC96-224C-4F47-B1D0-6020CB55D1D9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fr-FR" altLang="en-US"/>
              <a:t>Tri croissant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948815" y="2040890"/>
            <a:ext cx="8962390" cy="2204085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Recherche Dichotomique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>
          <a:xfrm>
            <a:off x="366395" y="323850"/>
            <a:ext cx="11931015" cy="621093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fr-FR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Objectif :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Chercher une valeur X dans un tableau T</a:t>
            </a:r>
            <a:r>
              <a:rPr lang="fr-FR" sz="3000" b="1" u="sng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trié.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fr-FR" sz="3000" b="1" u="sng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fr-FR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Principe </a:t>
            </a:r>
            <a:r>
              <a:rPr lang="fr-FR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1).  Chercher le milieu du tableau T.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2). Comparer X avec T[milieu] : 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Si x &lt; T[milieu] : chercher X dans la 1ère moitié du tableau ( entre  (T[0] et T[milieu-1])).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Si x &gt; T[milieu] : chercher X dans la 2ème moitié du tableau (entre (T[milieu+1] et T[N-1])).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fr-FR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3). On continue le découpage jusqu’à un sous tableau de taille 1.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274320"/>
            <a:ext cx="75222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C de l'algorithme Recherche dichotomique</a:t>
            </a:r>
          </a:p>
          <a:p>
            <a:endParaRPr lang="fr-FR" altLang="en-US" sz="2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 de texte 4"/>
          <p:cNvSpPr txBox="1"/>
          <p:nvPr/>
        </p:nvSpPr>
        <p:spPr>
          <a:xfrm>
            <a:off x="723265" y="485775"/>
            <a:ext cx="6447155" cy="6924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fr-F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fr-FR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trouve = -1;  debut = 0 ;  fin = n-1 ;</a:t>
            </a:r>
            <a:endParaRPr lang="fr-FR" sz="2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 while ((</a:t>
            </a:r>
            <a:r>
              <a:rPr lang="en-US" sz="2400" b="1" dirty="0" err="1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trouve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== -1)&amp;&amp;(d</a:t>
            </a:r>
            <a:r>
              <a:rPr lang="fr-FR" alt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ebut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 &lt;= f</a:t>
            </a:r>
            <a:r>
              <a:rPr lang="fr-FR" alt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in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))</a:t>
            </a:r>
            <a:endParaRPr lang="en-US" sz="2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    {</a:t>
            </a:r>
            <a:endParaRPr lang="en-US" sz="2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        m</a:t>
            </a:r>
            <a:r>
              <a:rPr lang="fr-FR" alt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ilieu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= (</a:t>
            </a:r>
            <a:r>
              <a:rPr lang="en-US" sz="2400" b="1" dirty="0" err="1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d</a:t>
            </a:r>
            <a:r>
              <a:rPr lang="fr-FR" altLang="en-US" sz="2400" b="1" dirty="0" err="1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ebut </a:t>
            </a:r>
            <a:r>
              <a:rPr lang="en-US" sz="2400" b="1" dirty="0" err="1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+ f</a:t>
            </a:r>
            <a:r>
              <a:rPr lang="fr-FR" altLang="en-US" sz="2400" b="1" dirty="0" err="1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in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)/2;</a:t>
            </a:r>
            <a:endParaRPr lang="en-US" sz="2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        if (T[m</a:t>
            </a:r>
            <a:r>
              <a:rPr lang="fr-FR" alt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ilieu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] &gt; </a:t>
            </a:r>
            <a:r>
              <a:rPr lang="fr-FR" alt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X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)</a:t>
            </a:r>
            <a:endParaRPr lang="en-US" sz="2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            f</a:t>
            </a:r>
            <a:r>
              <a:rPr lang="fr-FR" alt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in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=m</a:t>
            </a:r>
            <a:r>
              <a:rPr lang="fr-FR" alt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ilieu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- 1;</a:t>
            </a:r>
            <a:endParaRPr lang="en-US" sz="2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        else if (T[m</a:t>
            </a:r>
            <a:r>
              <a:rPr lang="fr-FR" alt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ilieu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] &lt; </a:t>
            </a:r>
            <a:r>
              <a:rPr lang="fr-FR" alt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X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)</a:t>
            </a:r>
            <a:endParaRPr lang="en-US" sz="2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            d</a:t>
            </a:r>
            <a:r>
              <a:rPr lang="fr-FR" alt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ebut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= m</a:t>
            </a:r>
            <a:r>
              <a:rPr lang="fr-FR" alt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ilieu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+ 1;</a:t>
            </a:r>
            <a:endParaRPr lang="en-US" sz="2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        else </a:t>
            </a:r>
            <a:endParaRPr lang="en-US" sz="2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            </a:t>
            </a:r>
            <a:r>
              <a:rPr lang="en-US" sz="2400" b="1" dirty="0" err="1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trouve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=1;</a:t>
            </a:r>
            <a:endParaRPr lang="en-US" sz="2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    }</a:t>
            </a:r>
            <a:endParaRPr lang="fr-FR" sz="2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fr-F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7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0             2                4             5               6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1634490" y="181546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17627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0                  1                   2                      3                    4                    5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7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8669020" y="269875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fin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2339975" y="2698750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1" name="Rectangle 20"/>
          <p:cNvSpPr/>
          <p:nvPr/>
        </p:nvSpPr>
        <p:spPr>
          <a:xfrm>
            <a:off x="7717155" y="710565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7247890" y="78994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X</a:t>
            </a:r>
          </a:p>
        </p:txBody>
      </p:sp>
      <p:sp>
        <p:nvSpPr>
          <p:cNvPr id="23" name="Zone de texte 22"/>
          <p:cNvSpPr txBox="1"/>
          <p:nvPr/>
        </p:nvSpPr>
        <p:spPr>
          <a:xfrm>
            <a:off x="7830185" y="80518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5" name="Flèche vers le bas 4"/>
          <p:cNvSpPr/>
          <p:nvPr/>
        </p:nvSpPr>
        <p:spPr>
          <a:xfrm flipV="1">
            <a:off x="850201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506980" y="287147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debut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1934210"/>
            <a:ext cx="845185" cy="61722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2339975" y="2073910"/>
            <a:ext cx="653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/>
              <a:t>-</a:t>
            </a:r>
            <a:r>
              <a:rPr lang="fr-FR" altLang="en-US" b="1"/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5475" y="1934845"/>
            <a:ext cx="845185" cy="61722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8390890" y="2059940"/>
            <a:ext cx="6534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9</a:t>
            </a: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7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1634490" y="181546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17627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0                  1                   2                      3                    4                    5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7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8669020" y="269875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fin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2339975" y="2698750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1" name="Rectangle 20"/>
          <p:cNvSpPr/>
          <p:nvPr/>
        </p:nvSpPr>
        <p:spPr>
          <a:xfrm>
            <a:off x="7717155" y="710565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7247890" y="78994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X</a:t>
            </a:r>
          </a:p>
        </p:txBody>
      </p:sp>
      <p:sp>
        <p:nvSpPr>
          <p:cNvPr id="23" name="Zone de texte 22"/>
          <p:cNvSpPr txBox="1"/>
          <p:nvPr/>
        </p:nvSpPr>
        <p:spPr>
          <a:xfrm>
            <a:off x="7830185" y="80518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5" name="Flèche vers le bas 4"/>
          <p:cNvSpPr/>
          <p:nvPr/>
        </p:nvSpPr>
        <p:spPr>
          <a:xfrm flipV="1">
            <a:off x="850201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506980" y="287147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debut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1934210"/>
            <a:ext cx="845185" cy="61722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2339975" y="2073910"/>
            <a:ext cx="653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/>
              <a:t>-</a:t>
            </a:r>
            <a:r>
              <a:rPr lang="fr-FR" altLang="en-US" b="1"/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5475" y="1934845"/>
            <a:ext cx="845185" cy="61722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8390890" y="2059940"/>
            <a:ext cx="6534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79035" y="1723390"/>
            <a:ext cx="1207135" cy="1116965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0" name="Zone de texte 19"/>
          <p:cNvSpPr txBox="1"/>
          <p:nvPr/>
        </p:nvSpPr>
        <p:spPr>
          <a:xfrm>
            <a:off x="5433695" y="2104390"/>
            <a:ext cx="3117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/>
              <a:t>4</a:t>
            </a:r>
          </a:p>
        </p:txBody>
      </p:sp>
      <p:sp>
        <p:nvSpPr>
          <p:cNvPr id="26" name="Flèche vers le bas 25"/>
          <p:cNvSpPr/>
          <p:nvPr/>
        </p:nvSpPr>
        <p:spPr>
          <a:xfrm flipV="1">
            <a:off x="5506085" y="3108960"/>
            <a:ext cx="167005" cy="41021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7" name="Zone de texte 26"/>
          <p:cNvSpPr txBox="1"/>
          <p:nvPr/>
        </p:nvSpPr>
        <p:spPr>
          <a:xfrm>
            <a:off x="5745480" y="312039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milieu</a:t>
            </a:r>
          </a:p>
        </p:txBody>
      </p:sp>
      <p:sp>
        <p:nvSpPr>
          <p:cNvPr id="28" name="Espace réservé du numéro de diapositive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7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1634490" y="181546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17627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0                  1                   2                      3                    4                    5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7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8669020" y="269875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fin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2339975" y="2698750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1" name="Rectangle 20"/>
          <p:cNvSpPr/>
          <p:nvPr/>
        </p:nvSpPr>
        <p:spPr>
          <a:xfrm>
            <a:off x="7717155" y="710565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7247890" y="78994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X</a:t>
            </a:r>
          </a:p>
        </p:txBody>
      </p:sp>
      <p:sp>
        <p:nvSpPr>
          <p:cNvPr id="23" name="Zone de texte 22"/>
          <p:cNvSpPr txBox="1"/>
          <p:nvPr/>
        </p:nvSpPr>
        <p:spPr>
          <a:xfrm>
            <a:off x="7830185" y="80518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5" name="Flèche vers le bas 4"/>
          <p:cNvSpPr/>
          <p:nvPr/>
        </p:nvSpPr>
        <p:spPr>
          <a:xfrm flipV="1">
            <a:off x="8502015" y="2582545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506980" y="287147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debut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1934210"/>
            <a:ext cx="845185" cy="61722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2339975" y="2073910"/>
            <a:ext cx="653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/>
              <a:t>-</a:t>
            </a:r>
            <a:r>
              <a:rPr lang="fr-FR" altLang="en-US" b="1"/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5475" y="1934845"/>
            <a:ext cx="845185" cy="61722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8390890" y="2059940"/>
            <a:ext cx="6534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79035" y="1723390"/>
            <a:ext cx="1207135" cy="1116965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0" name="Zone de texte 19"/>
          <p:cNvSpPr txBox="1"/>
          <p:nvPr/>
        </p:nvSpPr>
        <p:spPr>
          <a:xfrm>
            <a:off x="5433695" y="2104390"/>
            <a:ext cx="3117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/>
              <a:t>4</a:t>
            </a:r>
          </a:p>
        </p:txBody>
      </p:sp>
      <p:sp>
        <p:nvSpPr>
          <p:cNvPr id="26" name="Flèche vers le bas 25"/>
          <p:cNvSpPr/>
          <p:nvPr/>
        </p:nvSpPr>
        <p:spPr>
          <a:xfrm flipV="1">
            <a:off x="5506085" y="3108960"/>
            <a:ext cx="167005" cy="41021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7" name="Zone de texte 26"/>
          <p:cNvSpPr txBox="1"/>
          <p:nvPr/>
        </p:nvSpPr>
        <p:spPr>
          <a:xfrm>
            <a:off x="5745480" y="312039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milieu</a:t>
            </a:r>
          </a:p>
        </p:txBody>
      </p:sp>
      <p:sp>
        <p:nvSpPr>
          <p:cNvPr id="28" name="Zone de texte 27"/>
          <p:cNvSpPr txBox="1"/>
          <p:nvPr/>
        </p:nvSpPr>
        <p:spPr>
          <a:xfrm>
            <a:off x="1423035" y="4311015"/>
            <a:ext cx="96119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tx1"/>
                </a:solidFill>
              </a:rPr>
              <a:t>0 &lt; 4   --&gt; chercher dans le sous tableau commençant de l'indice 0 jusqu'à l'indice 2</a:t>
            </a: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7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1634490" y="181546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17627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0                  1                   2                      3                    4                    5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7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5027930" y="271018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fin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2339975" y="2698750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1" name="Rectangle 20"/>
          <p:cNvSpPr/>
          <p:nvPr/>
        </p:nvSpPr>
        <p:spPr>
          <a:xfrm>
            <a:off x="7717155" y="710565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7247890" y="78994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X</a:t>
            </a:r>
          </a:p>
        </p:txBody>
      </p:sp>
      <p:sp>
        <p:nvSpPr>
          <p:cNvPr id="23" name="Zone de texte 22"/>
          <p:cNvSpPr txBox="1"/>
          <p:nvPr/>
        </p:nvSpPr>
        <p:spPr>
          <a:xfrm>
            <a:off x="7830185" y="80518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5" name="Flèche vers le bas 4"/>
          <p:cNvSpPr/>
          <p:nvPr/>
        </p:nvSpPr>
        <p:spPr>
          <a:xfrm flipV="1">
            <a:off x="4684395" y="2687320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506980" y="287147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debut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1934210"/>
            <a:ext cx="845185" cy="61722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2339975" y="2073910"/>
            <a:ext cx="653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/>
              <a:t>-</a:t>
            </a:r>
            <a:r>
              <a:rPr lang="fr-FR" altLang="en-US" b="1"/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5475" y="1934845"/>
            <a:ext cx="845185" cy="61722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8390890" y="2059940"/>
            <a:ext cx="6534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9</a:t>
            </a:r>
          </a:p>
        </p:txBody>
      </p:sp>
      <p:sp>
        <p:nvSpPr>
          <p:cNvPr id="15" name="Espace réservé du numéro de diapositive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7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1634490" y="181546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17627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0                  1                   2                      3                    4                    5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7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5027930" y="271018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fin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2339975" y="2698750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1" name="Rectangle 20"/>
          <p:cNvSpPr/>
          <p:nvPr/>
        </p:nvSpPr>
        <p:spPr>
          <a:xfrm>
            <a:off x="7717155" y="710565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7247890" y="78994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X</a:t>
            </a:r>
          </a:p>
        </p:txBody>
      </p:sp>
      <p:sp>
        <p:nvSpPr>
          <p:cNvPr id="23" name="Zone de texte 22"/>
          <p:cNvSpPr txBox="1"/>
          <p:nvPr/>
        </p:nvSpPr>
        <p:spPr>
          <a:xfrm>
            <a:off x="7830185" y="80518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5" name="Flèche vers le bas 4"/>
          <p:cNvSpPr/>
          <p:nvPr/>
        </p:nvSpPr>
        <p:spPr>
          <a:xfrm flipV="1">
            <a:off x="4684395" y="2687320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506980" y="287147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debut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1934210"/>
            <a:ext cx="845185" cy="61722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2339975" y="2073910"/>
            <a:ext cx="653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/>
              <a:t>-</a:t>
            </a:r>
            <a:r>
              <a:rPr lang="fr-FR" altLang="en-US" b="1"/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5475" y="1934845"/>
            <a:ext cx="845185" cy="61722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8390890" y="2059940"/>
            <a:ext cx="6534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6870" y="1715135"/>
            <a:ext cx="1207135" cy="1116965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0" name="Zone de texte 19"/>
          <p:cNvSpPr txBox="1"/>
          <p:nvPr/>
        </p:nvSpPr>
        <p:spPr>
          <a:xfrm>
            <a:off x="3326765" y="2013585"/>
            <a:ext cx="347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/>
              <a:t>0</a:t>
            </a:r>
          </a:p>
        </p:txBody>
      </p:sp>
      <p:sp>
        <p:nvSpPr>
          <p:cNvPr id="26" name="Flèche vers le bas 25"/>
          <p:cNvSpPr/>
          <p:nvPr/>
        </p:nvSpPr>
        <p:spPr>
          <a:xfrm flipV="1">
            <a:off x="3728720" y="2860040"/>
            <a:ext cx="167005" cy="41021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7" name="Zone de texte 26"/>
          <p:cNvSpPr txBox="1"/>
          <p:nvPr/>
        </p:nvSpPr>
        <p:spPr>
          <a:xfrm>
            <a:off x="3425190" y="327025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milieu</a:t>
            </a:r>
          </a:p>
        </p:txBody>
      </p:sp>
      <p:sp>
        <p:nvSpPr>
          <p:cNvPr id="28" name="Espace réservé du numéro de diapositive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/>
          <p:cNvSpPr txBox="1"/>
          <p:nvPr/>
        </p:nvSpPr>
        <p:spPr>
          <a:xfrm>
            <a:off x="723265" y="621665"/>
            <a:ext cx="752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d'exécution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39745" y="1934210"/>
            <a:ext cx="5205730" cy="61849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Zone de texte 5"/>
          <p:cNvSpPr txBox="1"/>
          <p:nvPr/>
        </p:nvSpPr>
        <p:spPr>
          <a:xfrm>
            <a:off x="9536430" y="205930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n = 7</a:t>
            </a:r>
          </a:p>
        </p:txBody>
      </p:sp>
      <p:cxnSp>
        <p:nvCxnSpPr>
          <p:cNvPr id="7" name="Connecteur droit 6"/>
          <p:cNvCxnSpPr/>
          <p:nvPr/>
        </p:nvCxnSpPr>
        <p:spPr>
          <a:xfrm>
            <a:off x="3968115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027930" y="1904365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088380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7143115" y="1934210"/>
            <a:ext cx="15240" cy="64833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 de texte 10"/>
          <p:cNvSpPr txBox="1"/>
          <p:nvPr/>
        </p:nvSpPr>
        <p:spPr>
          <a:xfrm>
            <a:off x="3425190" y="2073910"/>
            <a:ext cx="4437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0             2                3             5               6</a:t>
            </a:r>
          </a:p>
        </p:txBody>
      </p:sp>
      <p:sp>
        <p:nvSpPr>
          <p:cNvPr id="12" name="Zone de texte 11"/>
          <p:cNvSpPr txBox="1"/>
          <p:nvPr/>
        </p:nvSpPr>
        <p:spPr>
          <a:xfrm>
            <a:off x="1634490" y="1815465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T</a:t>
            </a:r>
          </a:p>
        </p:txBody>
      </p:sp>
      <p:sp>
        <p:nvSpPr>
          <p:cNvPr id="13" name="Zone de texte 12"/>
          <p:cNvSpPr txBox="1"/>
          <p:nvPr/>
        </p:nvSpPr>
        <p:spPr>
          <a:xfrm>
            <a:off x="1762760" y="2472690"/>
            <a:ext cx="6339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fr-FR" altLang="en-US" sz="2000" b="1"/>
              <a:t>          </a:t>
            </a:r>
            <a:r>
              <a:rPr lang="fr-FR" altLang="en-US" sz="1600" b="1">
                <a:solidFill>
                  <a:schemeClr val="bg1">
                    <a:lumMod val="65000"/>
                  </a:schemeClr>
                </a:solidFill>
              </a:rPr>
              <a:t> 0                  1                   2                      3                    4                    5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723265" y="1188720"/>
            <a:ext cx="8345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Soit le tableau T suivant composé de 7 entiers :</a:t>
            </a:r>
          </a:p>
        </p:txBody>
      </p:sp>
      <p:sp>
        <p:nvSpPr>
          <p:cNvPr id="4" name="Zone de texte 3"/>
          <p:cNvSpPr txBox="1"/>
          <p:nvPr/>
        </p:nvSpPr>
        <p:spPr>
          <a:xfrm>
            <a:off x="5027930" y="271018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fin</a:t>
            </a:r>
          </a:p>
        </p:txBody>
      </p:sp>
      <p:sp>
        <p:nvSpPr>
          <p:cNvPr id="18" name="Flèche vers le bas 17"/>
          <p:cNvSpPr/>
          <p:nvPr/>
        </p:nvSpPr>
        <p:spPr>
          <a:xfrm flipV="1">
            <a:off x="2339975" y="2698750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1" name="Rectangle 20"/>
          <p:cNvSpPr/>
          <p:nvPr/>
        </p:nvSpPr>
        <p:spPr>
          <a:xfrm>
            <a:off x="7717155" y="710565"/>
            <a:ext cx="664210" cy="588645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2" name="Zone de texte 21"/>
          <p:cNvSpPr txBox="1"/>
          <p:nvPr/>
        </p:nvSpPr>
        <p:spPr>
          <a:xfrm>
            <a:off x="7247890" y="789940"/>
            <a:ext cx="997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 X</a:t>
            </a:r>
          </a:p>
        </p:txBody>
      </p:sp>
      <p:sp>
        <p:nvSpPr>
          <p:cNvPr id="23" name="Zone de texte 22"/>
          <p:cNvSpPr txBox="1"/>
          <p:nvPr/>
        </p:nvSpPr>
        <p:spPr>
          <a:xfrm>
            <a:off x="7830185" y="805180"/>
            <a:ext cx="551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0</a:t>
            </a:r>
          </a:p>
        </p:txBody>
      </p:sp>
      <p:sp>
        <p:nvSpPr>
          <p:cNvPr id="5" name="Flèche vers le bas 4"/>
          <p:cNvSpPr/>
          <p:nvPr/>
        </p:nvSpPr>
        <p:spPr>
          <a:xfrm flipV="1">
            <a:off x="4684395" y="2687320"/>
            <a:ext cx="167005" cy="410210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4" name="Zone de texte 13"/>
          <p:cNvSpPr txBox="1"/>
          <p:nvPr/>
        </p:nvSpPr>
        <p:spPr>
          <a:xfrm>
            <a:off x="2506980" y="287147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6">
                    <a:lumMod val="75000"/>
                  </a:schemeClr>
                </a:solidFill>
              </a:rPr>
              <a:t>debut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1934210"/>
            <a:ext cx="845185" cy="61722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19" name="Zone de texte 18"/>
          <p:cNvSpPr txBox="1"/>
          <p:nvPr/>
        </p:nvSpPr>
        <p:spPr>
          <a:xfrm>
            <a:off x="2339975" y="2073910"/>
            <a:ext cx="653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/>
              <a:t>-</a:t>
            </a:r>
            <a:r>
              <a:rPr lang="fr-FR" altLang="en-US" b="1"/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45475" y="1934845"/>
            <a:ext cx="845185" cy="61722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5" name="Zone de texte 24"/>
          <p:cNvSpPr txBox="1"/>
          <p:nvPr/>
        </p:nvSpPr>
        <p:spPr>
          <a:xfrm>
            <a:off x="8390890" y="2059940"/>
            <a:ext cx="6534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/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6870" y="1715135"/>
            <a:ext cx="1207135" cy="1116965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0" name="Zone de texte 19"/>
          <p:cNvSpPr txBox="1"/>
          <p:nvPr/>
        </p:nvSpPr>
        <p:spPr>
          <a:xfrm>
            <a:off x="3326765" y="2013585"/>
            <a:ext cx="347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400" b="1"/>
              <a:t>0</a:t>
            </a:r>
          </a:p>
        </p:txBody>
      </p:sp>
      <p:sp>
        <p:nvSpPr>
          <p:cNvPr id="26" name="Flèche vers le bas 25"/>
          <p:cNvSpPr/>
          <p:nvPr/>
        </p:nvSpPr>
        <p:spPr>
          <a:xfrm flipV="1">
            <a:off x="3728720" y="2860040"/>
            <a:ext cx="167005" cy="41021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27" name="Zone de texte 26"/>
          <p:cNvSpPr txBox="1"/>
          <p:nvPr/>
        </p:nvSpPr>
        <p:spPr>
          <a:xfrm>
            <a:off x="3425190" y="3270250"/>
            <a:ext cx="9671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accent2"/>
                </a:solidFill>
              </a:rPr>
              <a:t>milieu</a:t>
            </a:r>
          </a:p>
        </p:txBody>
      </p:sp>
      <p:sp>
        <p:nvSpPr>
          <p:cNvPr id="29" name="Zone de texte 28"/>
          <p:cNvSpPr txBox="1"/>
          <p:nvPr/>
        </p:nvSpPr>
        <p:spPr>
          <a:xfrm>
            <a:off x="1423035" y="4311015"/>
            <a:ext cx="96119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2000" b="1">
                <a:solidFill>
                  <a:schemeClr val="tx1"/>
                </a:solidFill>
              </a:rPr>
              <a:t>0 = milieu    --&gt; trouve = 1</a:t>
            </a:r>
          </a:p>
        </p:txBody>
      </p:sp>
      <p:sp>
        <p:nvSpPr>
          <p:cNvPr id="28" name="Espace réservé du numéro de diapositive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463</Words>
  <Application>Microsoft Office PowerPoint</Application>
  <PresentationFormat>Widescreen</PresentationFormat>
  <Paragraphs>115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</vt:lpstr>
      <vt:lpstr>Times New Roman</vt:lpstr>
      <vt:lpstr>Office Theme</vt:lpstr>
      <vt:lpstr>Recherche Dichotomique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Différents types de tri</dc:title>
  <dc:creator/>
  <cp:lastModifiedBy>naouel boughattas</cp:lastModifiedBy>
  <cp:revision>309</cp:revision>
  <dcterms:created xsi:type="dcterms:W3CDTF">2020-10-10T17:56:00Z</dcterms:created>
  <dcterms:modified xsi:type="dcterms:W3CDTF">2025-06-28T21:56:01Z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1036-11.2.0.11254</vt:lpwstr>
  </property>
  <property fmtid="{D5CDD505-2E9C-101B-9397-08002B2CF9AE}" pid="3" name="ICV">
    <vt:lpwstr>88E062C852C54BACBD4C4EB8441D6858</vt:lpwstr>
  </property>
</Properties>
</file>