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311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86380" autoAdjust="0"/>
  </p:normalViewPr>
  <p:slideViewPr>
    <p:cSldViewPr>
      <p:cViewPr varScale="1">
        <p:scale>
          <a:sx n="71" d="100"/>
          <a:sy n="71" d="100"/>
        </p:scale>
        <p:origin x="1205" y="43"/>
      </p:cViewPr>
      <p:guideLst>
        <p:guide orient="horz" pos="2182"/>
        <p:guide pos="291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56"/>
        <p:guide pos="22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B6E99-7212-4FC3-9094-F6743F0CC7BE}" type="doc">
      <dgm:prSet loTypeId="urn:microsoft.com/office/officeart/2008/layout/VerticalCurvedList#2" loCatId="list" qsTypeId="urn:microsoft.com/office/officeart/2005/8/quickstyle/3d1#2" qsCatId="3D" csTypeId="urn:microsoft.com/office/officeart/2005/8/colors/accent1_2#2" csCatId="accent1" phldr="1"/>
      <dgm:spPr/>
      <dgm:t>
        <a:bodyPr/>
        <a:lstStyle/>
        <a:p>
          <a:endParaRPr lang="fr-FR"/>
        </a:p>
      </dgm:t>
    </dgm:pt>
    <dgm:pt modelId="{1D636A2B-0767-4E6D-9000-015BB600B67C}">
      <dgm:prSet phldrT="[Texte]" custT="1"/>
      <dgm:spPr>
        <a:xfrm>
          <a:off x="411090" y="271871"/>
          <a:ext cx="1004478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Exemple introductif </a:t>
          </a:r>
          <a:endParaRPr lang="fr-FR" sz="2400" dirty="0">
            <a:solidFill>
              <a:schemeClr val="bg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B7AA222C-973C-4F09-8801-D0226D1255E1}" type="parTrans" cxnId="{FEEFEB6C-8CAA-4D35-8F3E-1038869B5B67}">
      <dgm:prSet/>
      <dgm:spPr/>
      <dgm:t>
        <a:bodyPr/>
        <a:lstStyle/>
        <a:p>
          <a:endParaRPr lang="fr-FR"/>
        </a:p>
      </dgm:t>
    </dgm:pt>
    <dgm:pt modelId="{A0EF1539-8621-4C6F-83B8-038E1729AF21}" type="sibTrans" cxnId="{FEEFEB6C-8CAA-4D35-8F3E-1038869B5B67}">
      <dgm:prSet/>
      <dgm:spPr>
        <a:xfrm>
          <a:off x="-4919424" y="-753830"/>
          <a:ext cx="5858998" cy="5858998"/>
        </a:xfrm>
        <a:noFill/>
        <a:ln w="12700" cap="flat" cmpd="sng" algn="ctr">
          <a:solidFill>
            <a:srgbClr val="AD0101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gm:spPr>
      <dgm:t>
        <a:bodyPr/>
        <a:lstStyle/>
        <a:p>
          <a:endParaRPr lang="fr-FR"/>
        </a:p>
      </dgm:t>
    </dgm:pt>
    <dgm:pt modelId="{ADAE7C5D-3116-4DB6-8C7F-2F1CF65339A0}">
      <dgm:prSet phldrT="[Texte]" custT="1"/>
      <dgm:spPr>
        <a:xfrm>
          <a:off x="800969" y="1087747"/>
          <a:ext cx="965490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4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Déclaration</a:t>
          </a:r>
        </a:p>
      </dgm:t>
    </dgm:pt>
    <dgm:pt modelId="{B693C29B-C468-40C1-9379-FD9CE052CA98}" type="parTrans" cxnId="{B73C22E9-654A-4117-8E92-CCF628A0628A}">
      <dgm:prSet/>
      <dgm:spPr/>
      <dgm:t>
        <a:bodyPr/>
        <a:lstStyle/>
        <a:p>
          <a:endParaRPr lang="fr-FR"/>
        </a:p>
      </dgm:t>
    </dgm:pt>
    <dgm:pt modelId="{5F466C6A-509C-46AA-ACD3-EDFDF1017727}" type="sibTrans" cxnId="{B73C22E9-654A-4117-8E92-CCF628A0628A}">
      <dgm:prSet/>
      <dgm:spPr/>
      <dgm:t>
        <a:bodyPr/>
        <a:lstStyle/>
        <a:p>
          <a:endParaRPr lang="fr-FR"/>
        </a:p>
      </dgm:t>
    </dgm:pt>
    <dgm:pt modelId="{5A467EA8-F5B7-4CBD-A7CC-94FE354B6DFD}">
      <dgm:prSet phldrT="[Texte]" custT="1"/>
      <dgm:spPr>
        <a:xfrm>
          <a:off x="800969" y="1087747"/>
          <a:ext cx="965490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4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Tableau et mémoire</a:t>
          </a:r>
        </a:p>
      </dgm:t>
    </dgm:pt>
    <dgm:pt modelId="{E9C74063-E116-4915-B611-60D49A40BE26}" type="parTrans" cxnId="{EC7F4697-A325-4830-BC9C-9A74B063E2CE}">
      <dgm:prSet/>
      <dgm:spPr/>
      <dgm:t>
        <a:bodyPr/>
        <a:lstStyle/>
        <a:p>
          <a:endParaRPr lang="fr-FR"/>
        </a:p>
      </dgm:t>
    </dgm:pt>
    <dgm:pt modelId="{6516F260-78FB-413B-9C20-CE6FBD1EE596}" type="sibTrans" cxnId="{EC7F4697-A325-4830-BC9C-9A74B063E2CE}">
      <dgm:prSet/>
      <dgm:spPr/>
      <dgm:t>
        <a:bodyPr/>
        <a:lstStyle/>
        <a:p>
          <a:endParaRPr lang="fr-FR"/>
        </a:p>
      </dgm:t>
    </dgm:pt>
    <dgm:pt modelId="{3C471D65-5627-4F84-BCD7-2C2F38A8785A}">
      <dgm:prSet phldrT="[Texte]" custT="1"/>
      <dgm:spPr>
        <a:xfrm>
          <a:off x="800969" y="1087747"/>
          <a:ext cx="965490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4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Manipulation d’un tableau</a:t>
          </a:r>
        </a:p>
      </dgm:t>
    </dgm:pt>
    <dgm:pt modelId="{C0F29343-A250-4AE3-B3D7-00DF0F5DE72E}" type="parTrans" cxnId="{6471C9F8-05B8-4ED5-A51F-6DC7AEFFCB5D}">
      <dgm:prSet/>
      <dgm:spPr/>
      <dgm:t>
        <a:bodyPr/>
        <a:lstStyle/>
        <a:p>
          <a:endParaRPr lang="fr-FR"/>
        </a:p>
      </dgm:t>
    </dgm:pt>
    <dgm:pt modelId="{F76E9921-BF80-4B49-852C-63F954BC8A5B}" type="sibTrans" cxnId="{6471C9F8-05B8-4ED5-A51F-6DC7AEFFCB5D}">
      <dgm:prSet/>
      <dgm:spPr/>
      <dgm:t>
        <a:bodyPr/>
        <a:lstStyle/>
        <a:p>
          <a:endParaRPr lang="fr-FR"/>
        </a:p>
      </dgm:t>
    </dgm:pt>
    <dgm:pt modelId="{78C8134A-ECA2-4419-98E4-2AA1A42CFFC9}">
      <dgm:prSet phldrT="[Texte]" custT="1"/>
      <dgm:spPr>
        <a:xfrm>
          <a:off x="411090" y="271871"/>
          <a:ext cx="10044785" cy="544091"/>
        </a:xfr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r>
            <a: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fr-FR" sz="2400" dirty="0">
            <a:solidFill>
              <a:schemeClr val="bg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47C29E89-5EF9-4F5A-BA4F-CFB466268A8A}" type="parTrans" cxnId="{C661A50D-E728-4B1E-84DB-41A92F32E384}">
      <dgm:prSet/>
      <dgm:spPr/>
      <dgm:t>
        <a:bodyPr/>
        <a:lstStyle/>
        <a:p>
          <a:endParaRPr lang="fr-FR"/>
        </a:p>
      </dgm:t>
    </dgm:pt>
    <dgm:pt modelId="{F7BE2A41-32A6-47A7-A4E7-5FE7E9C66D74}" type="sibTrans" cxnId="{C661A50D-E728-4B1E-84DB-41A92F32E384}">
      <dgm:prSet/>
      <dgm:spPr>
        <a:prstGeom prst="blockArc">
          <a:avLst>
            <a:gd name="adj1" fmla="val 18900000"/>
            <a:gd name="adj2" fmla="val 2700000"/>
            <a:gd name="adj3" fmla="val 369"/>
          </a:avLst>
        </a:prstGeom>
      </dgm:spPr>
      <dgm:t>
        <a:bodyPr/>
        <a:lstStyle/>
        <a:p>
          <a:endParaRPr lang="fr-FR"/>
        </a:p>
      </dgm:t>
    </dgm:pt>
    <dgm:pt modelId="{644EA5C4-5B25-4E8D-B40C-AA0ED2C5721C}" type="pres">
      <dgm:prSet presAssocID="{53AB6E99-7212-4FC3-9094-F6743F0CC7BE}" presName="Name0" presStyleCnt="0">
        <dgm:presLayoutVars>
          <dgm:chMax val="7"/>
          <dgm:chPref val="7"/>
          <dgm:dir/>
        </dgm:presLayoutVars>
      </dgm:prSet>
      <dgm:spPr/>
    </dgm:pt>
    <dgm:pt modelId="{2C5922C6-7614-4F1D-AF65-401C18ADFCD5}" type="pres">
      <dgm:prSet presAssocID="{53AB6E99-7212-4FC3-9094-F6743F0CC7BE}" presName="Name1" presStyleCnt="0"/>
      <dgm:spPr/>
    </dgm:pt>
    <dgm:pt modelId="{1BD5B1DB-4361-496C-BA23-FA993C8506F1}" type="pres">
      <dgm:prSet presAssocID="{53AB6E99-7212-4FC3-9094-F6743F0CC7BE}" presName="cycle" presStyleCnt="0"/>
      <dgm:spPr/>
    </dgm:pt>
    <dgm:pt modelId="{699AF529-FAC0-4334-B8B4-CA47772FE597}" type="pres">
      <dgm:prSet presAssocID="{53AB6E99-7212-4FC3-9094-F6743F0CC7BE}" presName="srcNode" presStyleLbl="node1" presStyleIdx="0" presStyleCnt="5"/>
      <dgm:spPr/>
    </dgm:pt>
    <dgm:pt modelId="{AD25936F-05B0-4F23-A88D-120BC98197A2}" type="pres">
      <dgm:prSet presAssocID="{53AB6E99-7212-4FC3-9094-F6743F0CC7BE}" presName="conn" presStyleLbl="parChTrans1D2" presStyleIdx="0" presStyleCnt="1"/>
      <dgm:spPr>
        <a:prstGeom prst="blockArc">
          <a:avLst>
            <a:gd name="adj1" fmla="val 18900000"/>
            <a:gd name="adj2" fmla="val 2700000"/>
            <a:gd name="adj3" fmla="val 369"/>
          </a:avLst>
        </a:prstGeom>
      </dgm:spPr>
    </dgm:pt>
    <dgm:pt modelId="{D0DE9BB7-1064-4E27-AC01-07DB1767267A}" type="pres">
      <dgm:prSet presAssocID="{53AB6E99-7212-4FC3-9094-F6743F0CC7BE}" presName="extraNode" presStyleLbl="node1" presStyleIdx="0" presStyleCnt="5"/>
      <dgm:spPr/>
    </dgm:pt>
    <dgm:pt modelId="{543924F9-8955-484B-8BAC-D3AD10A33436}" type="pres">
      <dgm:prSet presAssocID="{53AB6E99-7212-4FC3-9094-F6743F0CC7BE}" presName="dstNode" presStyleLbl="node1" presStyleIdx="0" presStyleCnt="5"/>
      <dgm:spPr/>
    </dgm:pt>
    <dgm:pt modelId="{2F47640D-9871-49EB-8DE4-9B1CF4390A99}" type="pres">
      <dgm:prSet presAssocID="{1D636A2B-0767-4E6D-9000-015BB600B67C}" presName="text_1" presStyleLbl="node1" presStyleIdx="0" presStyleCnt="5" custScaleY="92616">
        <dgm:presLayoutVars>
          <dgm:bulletEnabled val="1"/>
        </dgm:presLayoutVars>
      </dgm:prSet>
      <dgm:spPr>
        <a:prstGeom prst="rect">
          <a:avLst/>
        </a:prstGeom>
      </dgm:spPr>
    </dgm:pt>
    <dgm:pt modelId="{C9E271FB-6647-4581-8A80-93720B97487F}" type="pres">
      <dgm:prSet presAssocID="{1D636A2B-0767-4E6D-9000-015BB600B67C}" presName="accent_1" presStyleCnt="0"/>
      <dgm:spPr/>
    </dgm:pt>
    <dgm:pt modelId="{A2B9A23E-BA8F-466E-8CFE-8E89114B6E4A}" type="pres">
      <dgm:prSet presAssocID="{1D636A2B-0767-4E6D-9000-015BB600B67C}" presName="accentRepeatNode" presStyleLbl="solidFgAcc1" presStyleIdx="0" presStyleCnt="5" custScaleX="64388" custScaleY="63976"/>
      <dgm:spPr>
        <a:xfrm>
          <a:off x="71032" y="203860"/>
          <a:ext cx="680114" cy="680114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gm:spPr>
    </dgm:pt>
    <dgm:pt modelId="{79B26F47-58AA-4224-B96C-D0D3AD0463DB}" type="pres">
      <dgm:prSet presAssocID="{78C8134A-ECA2-4419-98E4-2AA1A42CFFC9}" presName="text_2" presStyleLbl="node1" presStyleIdx="1" presStyleCnt="5" custScaleY="111884">
        <dgm:presLayoutVars>
          <dgm:bulletEnabled val="1"/>
        </dgm:presLayoutVars>
      </dgm:prSet>
      <dgm:spPr>
        <a:prstGeom prst="rect">
          <a:avLst/>
        </a:prstGeom>
      </dgm:spPr>
    </dgm:pt>
    <dgm:pt modelId="{EB47696E-10EE-4063-8044-FE052081F395}" type="pres">
      <dgm:prSet presAssocID="{78C8134A-ECA2-4419-98E4-2AA1A42CFFC9}" presName="accent_2" presStyleCnt="0"/>
      <dgm:spPr/>
    </dgm:pt>
    <dgm:pt modelId="{1919E202-DB97-425B-8B9C-02D5C00560EA}" type="pres">
      <dgm:prSet presAssocID="{78C8134A-ECA2-4419-98E4-2AA1A42CFFC9}" presName="accentRepeatNode" presStyleLbl="solidFgAcc1" presStyleIdx="1" presStyleCnt="5" custScaleX="64388" custScaleY="63976"/>
      <dgm:spPr>
        <a:xfrm>
          <a:off x="71032" y="203860"/>
          <a:ext cx="680114" cy="680114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gm:spPr>
    </dgm:pt>
    <dgm:pt modelId="{54E70C60-C3AD-4314-8F08-509CE04BD1A8}" type="pres">
      <dgm:prSet presAssocID="{ADAE7C5D-3116-4DB6-8C7F-2F1CF65339A0}" presName="text_3" presStyleLbl="node1" presStyleIdx="2" presStyleCnt="5">
        <dgm:presLayoutVars>
          <dgm:bulletEnabled val="1"/>
        </dgm:presLayoutVars>
      </dgm:prSet>
      <dgm:spPr/>
    </dgm:pt>
    <dgm:pt modelId="{5A521D6B-5BC2-427C-8649-D2AF0FE016E4}" type="pres">
      <dgm:prSet presAssocID="{ADAE7C5D-3116-4DB6-8C7F-2F1CF65339A0}" presName="accent_3" presStyleCnt="0"/>
      <dgm:spPr/>
    </dgm:pt>
    <dgm:pt modelId="{7CE83748-2FC0-43DC-B553-D1FFE571ECAE}" type="pres">
      <dgm:prSet presAssocID="{ADAE7C5D-3116-4DB6-8C7F-2F1CF65339A0}" presName="accentRepeatNode" presStyleLbl="solidFgAcc1" presStyleIdx="2" presStyleCnt="5" custScaleX="64388" custScaleY="64954"/>
      <dgm:spPr>
        <a:xfrm>
          <a:off x="460912" y="1019736"/>
          <a:ext cx="680114" cy="680114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gm:spPr>
    </dgm:pt>
    <dgm:pt modelId="{2A256E15-1FDA-44AA-AA62-9139FEC307CC}" type="pres">
      <dgm:prSet presAssocID="{5A467EA8-F5B7-4CBD-A7CC-94FE354B6DFD}" presName="text_4" presStyleLbl="node1" presStyleIdx="3" presStyleCnt="5">
        <dgm:presLayoutVars>
          <dgm:bulletEnabled val="1"/>
        </dgm:presLayoutVars>
      </dgm:prSet>
      <dgm:spPr/>
    </dgm:pt>
    <dgm:pt modelId="{B57A9FA8-9F9C-4D91-A015-A5348AC1A513}" type="pres">
      <dgm:prSet presAssocID="{5A467EA8-F5B7-4CBD-A7CC-94FE354B6DFD}" presName="accent_4" presStyleCnt="0"/>
      <dgm:spPr/>
    </dgm:pt>
    <dgm:pt modelId="{6A003885-40D6-44BB-9430-17B1EDA622E9}" type="pres">
      <dgm:prSet presAssocID="{5A467EA8-F5B7-4CBD-A7CC-94FE354B6DFD}" presName="accentRepeatNode" presStyleLbl="solidFgAcc1" presStyleIdx="3" presStyleCnt="5" custScaleX="64388" custScaleY="64954"/>
      <dgm:spPr>
        <a:xfrm>
          <a:off x="460912" y="1019736"/>
          <a:ext cx="680114" cy="680114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gm:spPr>
    </dgm:pt>
    <dgm:pt modelId="{FC6C4FCB-E097-4451-83EE-B91E23F398DD}" type="pres">
      <dgm:prSet presAssocID="{3C471D65-5627-4F84-BCD7-2C2F38A8785A}" presName="text_5" presStyleLbl="node1" presStyleIdx="4" presStyleCnt="5">
        <dgm:presLayoutVars>
          <dgm:bulletEnabled val="1"/>
        </dgm:presLayoutVars>
      </dgm:prSet>
      <dgm:spPr/>
    </dgm:pt>
    <dgm:pt modelId="{707EBECA-CC4E-498C-A1D4-EF359BEDBFA8}" type="pres">
      <dgm:prSet presAssocID="{3C471D65-5627-4F84-BCD7-2C2F38A8785A}" presName="accent_5" presStyleCnt="0"/>
      <dgm:spPr/>
    </dgm:pt>
    <dgm:pt modelId="{510380BF-AC40-4425-88EB-ADC250941F47}" type="pres">
      <dgm:prSet presAssocID="{3C471D65-5627-4F84-BCD7-2C2F38A8785A}" presName="accentRepeatNode" presStyleLbl="solidFgAcc1" presStyleIdx="4" presStyleCnt="5" custScaleX="64388" custScaleY="64954"/>
      <dgm:spPr>
        <a:xfrm>
          <a:off x="460912" y="1019736"/>
          <a:ext cx="680114" cy="680114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gm:spPr>
    </dgm:pt>
  </dgm:ptLst>
  <dgm:cxnLst>
    <dgm:cxn modelId="{C661A50D-E728-4B1E-84DB-41A92F32E384}" srcId="{53AB6E99-7212-4FC3-9094-F6743F0CC7BE}" destId="{78C8134A-ECA2-4419-98E4-2AA1A42CFFC9}" srcOrd="1" destOrd="0" parTransId="{47C29E89-5EF9-4F5A-BA4F-CFB466268A8A}" sibTransId="{F7BE2A41-32A6-47A7-A4E7-5FE7E9C66D74}"/>
    <dgm:cxn modelId="{BB6C3049-2D69-46BA-BDE7-3395424935DD}" type="presOf" srcId="{78C8134A-ECA2-4419-98E4-2AA1A42CFFC9}" destId="{79B26F47-58AA-4224-B96C-D0D3AD0463DB}" srcOrd="0" destOrd="0" presId="urn:microsoft.com/office/officeart/2008/layout/VerticalCurvedList#2"/>
    <dgm:cxn modelId="{FEEFEB6C-8CAA-4D35-8F3E-1038869B5B67}" srcId="{53AB6E99-7212-4FC3-9094-F6743F0CC7BE}" destId="{1D636A2B-0767-4E6D-9000-015BB600B67C}" srcOrd="0" destOrd="0" parTransId="{B7AA222C-973C-4F09-8801-D0226D1255E1}" sibTransId="{A0EF1539-8621-4C6F-83B8-038E1729AF21}"/>
    <dgm:cxn modelId="{C6B8D06E-340C-4887-B89E-E61AFB43B5F9}" type="presOf" srcId="{1D636A2B-0767-4E6D-9000-015BB600B67C}" destId="{2F47640D-9871-49EB-8DE4-9B1CF4390A99}" srcOrd="0" destOrd="0" presId="urn:microsoft.com/office/officeart/2008/layout/VerticalCurvedList#2"/>
    <dgm:cxn modelId="{193FE74E-12E4-418C-9EAE-7DEEF9A8392E}" type="presOf" srcId="{ADAE7C5D-3116-4DB6-8C7F-2F1CF65339A0}" destId="{54E70C60-C3AD-4314-8F08-509CE04BD1A8}" srcOrd="0" destOrd="0" presId="urn:microsoft.com/office/officeart/2008/layout/VerticalCurvedList#2"/>
    <dgm:cxn modelId="{74DBCE55-C9E7-4EBB-B172-E7C4896097BF}" type="presOf" srcId="{53AB6E99-7212-4FC3-9094-F6743F0CC7BE}" destId="{644EA5C4-5B25-4E8D-B40C-AA0ED2C5721C}" srcOrd="0" destOrd="0" presId="urn:microsoft.com/office/officeart/2008/layout/VerticalCurvedList#2"/>
    <dgm:cxn modelId="{797C088D-7069-4D80-9CF1-EC3352E13A2B}" type="presOf" srcId="{5A467EA8-F5B7-4CBD-A7CC-94FE354B6DFD}" destId="{2A256E15-1FDA-44AA-AA62-9139FEC307CC}" srcOrd="0" destOrd="0" presId="urn:microsoft.com/office/officeart/2008/layout/VerticalCurvedList#2"/>
    <dgm:cxn modelId="{EC7F4697-A325-4830-BC9C-9A74B063E2CE}" srcId="{53AB6E99-7212-4FC3-9094-F6743F0CC7BE}" destId="{5A467EA8-F5B7-4CBD-A7CC-94FE354B6DFD}" srcOrd="3" destOrd="0" parTransId="{E9C74063-E116-4915-B611-60D49A40BE26}" sibTransId="{6516F260-78FB-413B-9C20-CE6FBD1EE596}"/>
    <dgm:cxn modelId="{2019A5D5-CB65-4CC2-99E8-07434BF755E5}" type="presOf" srcId="{3C471D65-5627-4F84-BCD7-2C2F38A8785A}" destId="{FC6C4FCB-E097-4451-83EE-B91E23F398DD}" srcOrd="0" destOrd="0" presId="urn:microsoft.com/office/officeart/2008/layout/VerticalCurvedList#2"/>
    <dgm:cxn modelId="{5ECF2DDC-93E4-430D-B7CB-7FE01C06B5F5}" type="presOf" srcId="{A0EF1539-8621-4C6F-83B8-038E1729AF21}" destId="{AD25936F-05B0-4F23-A88D-120BC98197A2}" srcOrd="0" destOrd="0" presId="urn:microsoft.com/office/officeart/2008/layout/VerticalCurvedList#2"/>
    <dgm:cxn modelId="{B73C22E9-654A-4117-8E92-CCF628A0628A}" srcId="{53AB6E99-7212-4FC3-9094-F6743F0CC7BE}" destId="{ADAE7C5D-3116-4DB6-8C7F-2F1CF65339A0}" srcOrd="2" destOrd="0" parTransId="{B693C29B-C468-40C1-9379-FD9CE052CA98}" sibTransId="{5F466C6A-509C-46AA-ACD3-EDFDF1017727}"/>
    <dgm:cxn modelId="{6471C9F8-05B8-4ED5-A51F-6DC7AEFFCB5D}" srcId="{53AB6E99-7212-4FC3-9094-F6743F0CC7BE}" destId="{3C471D65-5627-4F84-BCD7-2C2F38A8785A}" srcOrd="4" destOrd="0" parTransId="{C0F29343-A250-4AE3-B3D7-00DF0F5DE72E}" sibTransId="{F76E9921-BF80-4B49-852C-63F954BC8A5B}"/>
    <dgm:cxn modelId="{69013106-89AC-46AD-B375-25F90382171D}" type="presParOf" srcId="{644EA5C4-5B25-4E8D-B40C-AA0ED2C5721C}" destId="{2C5922C6-7614-4F1D-AF65-401C18ADFCD5}" srcOrd="0" destOrd="0" presId="urn:microsoft.com/office/officeart/2008/layout/VerticalCurvedList#2"/>
    <dgm:cxn modelId="{E873B401-9F91-4395-955D-7695BA260031}" type="presParOf" srcId="{2C5922C6-7614-4F1D-AF65-401C18ADFCD5}" destId="{1BD5B1DB-4361-496C-BA23-FA993C8506F1}" srcOrd="0" destOrd="0" presId="urn:microsoft.com/office/officeart/2008/layout/VerticalCurvedList#2"/>
    <dgm:cxn modelId="{36530E2A-0E09-47BD-B221-2F1743EBD3D4}" type="presParOf" srcId="{1BD5B1DB-4361-496C-BA23-FA993C8506F1}" destId="{699AF529-FAC0-4334-B8B4-CA47772FE597}" srcOrd="0" destOrd="0" presId="urn:microsoft.com/office/officeart/2008/layout/VerticalCurvedList#2"/>
    <dgm:cxn modelId="{E008CDA6-DFF1-4986-AD10-C3D56C0598DC}" type="presParOf" srcId="{1BD5B1DB-4361-496C-BA23-FA993C8506F1}" destId="{AD25936F-05B0-4F23-A88D-120BC98197A2}" srcOrd="1" destOrd="0" presId="urn:microsoft.com/office/officeart/2008/layout/VerticalCurvedList#2"/>
    <dgm:cxn modelId="{CBFD4E71-EF49-4519-9EC4-E5D3A5A9B3BA}" type="presParOf" srcId="{1BD5B1DB-4361-496C-BA23-FA993C8506F1}" destId="{D0DE9BB7-1064-4E27-AC01-07DB1767267A}" srcOrd="2" destOrd="0" presId="urn:microsoft.com/office/officeart/2008/layout/VerticalCurvedList#2"/>
    <dgm:cxn modelId="{4B55B902-35E9-48CF-81AF-213FE6CC4AD4}" type="presParOf" srcId="{1BD5B1DB-4361-496C-BA23-FA993C8506F1}" destId="{543924F9-8955-484B-8BAC-D3AD10A33436}" srcOrd="3" destOrd="0" presId="urn:microsoft.com/office/officeart/2008/layout/VerticalCurvedList#2"/>
    <dgm:cxn modelId="{A0F132AD-31D1-48A1-8A7A-1E43F7DCDF52}" type="presParOf" srcId="{2C5922C6-7614-4F1D-AF65-401C18ADFCD5}" destId="{2F47640D-9871-49EB-8DE4-9B1CF4390A99}" srcOrd="1" destOrd="0" presId="urn:microsoft.com/office/officeart/2008/layout/VerticalCurvedList#2"/>
    <dgm:cxn modelId="{F269477E-84ED-4549-BCEA-8BBB0DB7C6A6}" type="presParOf" srcId="{2C5922C6-7614-4F1D-AF65-401C18ADFCD5}" destId="{C9E271FB-6647-4581-8A80-93720B97487F}" srcOrd="2" destOrd="0" presId="urn:microsoft.com/office/officeart/2008/layout/VerticalCurvedList#2"/>
    <dgm:cxn modelId="{24C2BDE0-2D99-4A4D-B713-2B0910B437FE}" type="presParOf" srcId="{C9E271FB-6647-4581-8A80-93720B97487F}" destId="{A2B9A23E-BA8F-466E-8CFE-8E89114B6E4A}" srcOrd="0" destOrd="0" presId="urn:microsoft.com/office/officeart/2008/layout/VerticalCurvedList#2"/>
    <dgm:cxn modelId="{C2000E5D-AB8C-4E35-A855-2500AD7A6218}" type="presParOf" srcId="{2C5922C6-7614-4F1D-AF65-401C18ADFCD5}" destId="{79B26F47-58AA-4224-B96C-D0D3AD0463DB}" srcOrd="3" destOrd="0" presId="urn:microsoft.com/office/officeart/2008/layout/VerticalCurvedList#2"/>
    <dgm:cxn modelId="{03CF7A23-6ED8-4714-B75E-502207BB20B3}" type="presParOf" srcId="{2C5922C6-7614-4F1D-AF65-401C18ADFCD5}" destId="{EB47696E-10EE-4063-8044-FE052081F395}" srcOrd="4" destOrd="0" presId="urn:microsoft.com/office/officeart/2008/layout/VerticalCurvedList#2"/>
    <dgm:cxn modelId="{F42EF5FE-B768-4B55-897E-D1FEF667A90C}" type="presParOf" srcId="{EB47696E-10EE-4063-8044-FE052081F395}" destId="{1919E202-DB97-425B-8B9C-02D5C00560EA}" srcOrd="0" destOrd="0" presId="urn:microsoft.com/office/officeart/2008/layout/VerticalCurvedList#2"/>
    <dgm:cxn modelId="{F16881E1-4536-44FC-B32C-BDC0B7158BF2}" type="presParOf" srcId="{2C5922C6-7614-4F1D-AF65-401C18ADFCD5}" destId="{54E70C60-C3AD-4314-8F08-509CE04BD1A8}" srcOrd="5" destOrd="0" presId="urn:microsoft.com/office/officeart/2008/layout/VerticalCurvedList#2"/>
    <dgm:cxn modelId="{AC799A36-2BF8-453D-B85C-0A0042DA05A8}" type="presParOf" srcId="{2C5922C6-7614-4F1D-AF65-401C18ADFCD5}" destId="{5A521D6B-5BC2-427C-8649-D2AF0FE016E4}" srcOrd="6" destOrd="0" presId="urn:microsoft.com/office/officeart/2008/layout/VerticalCurvedList#2"/>
    <dgm:cxn modelId="{04234914-F725-4E45-B127-5363EB60A950}" type="presParOf" srcId="{5A521D6B-5BC2-427C-8649-D2AF0FE016E4}" destId="{7CE83748-2FC0-43DC-B553-D1FFE571ECAE}" srcOrd="0" destOrd="0" presId="urn:microsoft.com/office/officeart/2008/layout/VerticalCurvedList#2"/>
    <dgm:cxn modelId="{EE8DB9D3-D4A1-4833-806D-51F903D3B5C5}" type="presParOf" srcId="{2C5922C6-7614-4F1D-AF65-401C18ADFCD5}" destId="{2A256E15-1FDA-44AA-AA62-9139FEC307CC}" srcOrd="7" destOrd="0" presId="urn:microsoft.com/office/officeart/2008/layout/VerticalCurvedList#2"/>
    <dgm:cxn modelId="{AEB9C09A-A16E-4348-AA6C-0E8845D86553}" type="presParOf" srcId="{2C5922C6-7614-4F1D-AF65-401C18ADFCD5}" destId="{B57A9FA8-9F9C-4D91-A015-A5348AC1A513}" srcOrd="8" destOrd="0" presId="urn:microsoft.com/office/officeart/2008/layout/VerticalCurvedList#2"/>
    <dgm:cxn modelId="{8E60ACF7-4525-4C4F-801A-5429B7FB8384}" type="presParOf" srcId="{B57A9FA8-9F9C-4D91-A015-A5348AC1A513}" destId="{6A003885-40D6-44BB-9430-17B1EDA622E9}" srcOrd="0" destOrd="0" presId="urn:microsoft.com/office/officeart/2008/layout/VerticalCurvedList#2"/>
    <dgm:cxn modelId="{08659E65-4423-4611-8B2B-41EEF6537BCF}" type="presParOf" srcId="{2C5922C6-7614-4F1D-AF65-401C18ADFCD5}" destId="{FC6C4FCB-E097-4451-83EE-B91E23F398DD}" srcOrd="9" destOrd="0" presId="urn:microsoft.com/office/officeart/2008/layout/VerticalCurvedList#2"/>
    <dgm:cxn modelId="{9B0E1A70-562C-452C-9339-4D15B2920F47}" type="presParOf" srcId="{2C5922C6-7614-4F1D-AF65-401C18ADFCD5}" destId="{707EBECA-CC4E-498C-A1D4-EF359BEDBFA8}" srcOrd="10" destOrd="0" presId="urn:microsoft.com/office/officeart/2008/layout/VerticalCurvedList#2"/>
    <dgm:cxn modelId="{8201E051-8621-47E8-BEC0-D7DE1D10F29E}" type="presParOf" srcId="{707EBECA-CC4E-498C-A1D4-EF359BEDBFA8}" destId="{510380BF-AC40-4425-88EB-ADC250941F47}" srcOrd="0" destOrd="0" presId="urn:microsoft.com/office/officeart/2008/layout/VerticalCurved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5936F-05B0-4F23-A88D-120BC98197A2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rgbClr val="AD0101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47640D-9871-49EB-8DE4-9B1CF4390A99}">
      <dsp:nvSpPr>
        <dsp:cNvPr id="0" name=""/>
        <dsp:cNvSpPr/>
      </dsp:nvSpPr>
      <dsp:spPr>
        <a:xfrm>
          <a:off x="411090" y="291959"/>
          <a:ext cx="7415885" cy="503915"/>
        </a:xfrm>
        <a:prstGeom prst="rect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72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Exemple introductif </a:t>
          </a:r>
          <a:endParaRPr lang="fr-FR" sz="2400" kern="1200" dirty="0">
            <a:solidFill>
              <a:schemeClr val="bg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411090" y="291959"/>
        <a:ext cx="7415885" cy="503915"/>
      </dsp:txXfrm>
    </dsp:sp>
    <dsp:sp modelId="{A2B9A23E-BA8F-466E-8CFE-8E89114B6E4A}">
      <dsp:nvSpPr>
        <dsp:cNvPr id="0" name=""/>
        <dsp:cNvSpPr/>
      </dsp:nvSpPr>
      <dsp:spPr>
        <a:xfrm>
          <a:off x="192134" y="326362"/>
          <a:ext cx="437911" cy="435109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9B26F47-58AA-4224-B96C-D0D3AD0463DB}">
      <dsp:nvSpPr>
        <dsp:cNvPr id="0" name=""/>
        <dsp:cNvSpPr/>
      </dsp:nvSpPr>
      <dsp:spPr>
        <a:xfrm>
          <a:off x="800969" y="1055417"/>
          <a:ext cx="7026005" cy="608751"/>
        </a:xfrm>
        <a:prstGeom prst="rect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72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Définition</a:t>
          </a:r>
          <a:endParaRPr lang="fr-FR" sz="2400" kern="1200" dirty="0">
            <a:solidFill>
              <a:schemeClr val="bg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800969" y="1055417"/>
        <a:ext cx="7026005" cy="608751"/>
      </dsp:txXfrm>
    </dsp:sp>
    <dsp:sp modelId="{1919E202-DB97-425B-8B9C-02D5C00560EA}">
      <dsp:nvSpPr>
        <dsp:cNvPr id="0" name=""/>
        <dsp:cNvSpPr/>
      </dsp:nvSpPr>
      <dsp:spPr>
        <a:xfrm>
          <a:off x="582013" y="1142238"/>
          <a:ext cx="437911" cy="435109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E70C60-C3AD-4314-8F08-509CE04BD1A8}">
      <dsp:nvSpPr>
        <dsp:cNvPr id="0" name=""/>
        <dsp:cNvSpPr/>
      </dsp:nvSpPr>
      <dsp:spPr>
        <a:xfrm>
          <a:off x="920631" y="1903623"/>
          <a:ext cx="6906343" cy="544091"/>
        </a:xfrm>
        <a:prstGeom prst="rect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72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Déclaration</a:t>
          </a:r>
        </a:p>
      </dsp:txBody>
      <dsp:txXfrm>
        <a:off x="920631" y="1903623"/>
        <a:ext cx="6906343" cy="544091"/>
      </dsp:txXfrm>
    </dsp:sp>
    <dsp:sp modelId="{7CE83748-2FC0-43DC-B553-D1FFE571ECAE}">
      <dsp:nvSpPr>
        <dsp:cNvPr id="0" name=""/>
        <dsp:cNvSpPr/>
      </dsp:nvSpPr>
      <dsp:spPr>
        <a:xfrm>
          <a:off x="701675" y="1954788"/>
          <a:ext cx="437911" cy="441761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256E15-1FDA-44AA-AA62-9139FEC307CC}">
      <dsp:nvSpPr>
        <dsp:cNvPr id="0" name=""/>
        <dsp:cNvSpPr/>
      </dsp:nvSpPr>
      <dsp:spPr>
        <a:xfrm>
          <a:off x="800969" y="2719499"/>
          <a:ext cx="7026005" cy="544091"/>
        </a:xfrm>
        <a:prstGeom prst="rect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72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Tableau et mémoire</a:t>
          </a:r>
        </a:p>
      </dsp:txBody>
      <dsp:txXfrm>
        <a:off x="800969" y="2719499"/>
        <a:ext cx="7026005" cy="544091"/>
      </dsp:txXfrm>
    </dsp:sp>
    <dsp:sp modelId="{6A003885-40D6-44BB-9430-17B1EDA622E9}">
      <dsp:nvSpPr>
        <dsp:cNvPr id="0" name=""/>
        <dsp:cNvSpPr/>
      </dsp:nvSpPr>
      <dsp:spPr>
        <a:xfrm>
          <a:off x="582013" y="2770664"/>
          <a:ext cx="437911" cy="441761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6C4FCB-E097-4451-83EE-B91E23F398DD}">
      <dsp:nvSpPr>
        <dsp:cNvPr id="0" name=""/>
        <dsp:cNvSpPr/>
      </dsp:nvSpPr>
      <dsp:spPr>
        <a:xfrm>
          <a:off x="411090" y="3535375"/>
          <a:ext cx="7415885" cy="544091"/>
        </a:xfrm>
        <a:prstGeom prst="rect">
          <a:avLst/>
        </a:prstGeom>
        <a:gradFill rotWithShape="0">
          <a:gsLst>
            <a:gs pos="0">
              <a:srgbClr val="AD010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D010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D010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72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ysClr val="window" lastClr="FFFFFF"/>
              </a:solidFill>
              <a:latin typeface="Times New Roman" panose="02020603050405020304"/>
              <a:ea typeface="+mn-ea"/>
              <a:cs typeface="+mn-cs"/>
            </a:rPr>
            <a:t>Manipulation d’un tableau</a:t>
          </a:r>
        </a:p>
      </dsp:txBody>
      <dsp:txXfrm>
        <a:off x="411090" y="3535375"/>
        <a:ext cx="7415885" cy="544091"/>
      </dsp:txXfrm>
    </dsp:sp>
    <dsp:sp modelId="{510380BF-AC40-4425-88EB-ADC250941F47}">
      <dsp:nvSpPr>
        <dsp:cNvPr id="0" name=""/>
        <dsp:cNvSpPr/>
      </dsp:nvSpPr>
      <dsp:spPr>
        <a:xfrm>
          <a:off x="192134" y="3586540"/>
          <a:ext cx="437911" cy="441761"/>
        </a:xfrm>
        <a:prstGeom prst="ellipse">
          <a:avLst/>
        </a:prstGeom>
        <a:solidFill>
          <a:sysClr val="window" lastClr="FFFFFF">
            <a:hueOff val="0"/>
            <a:satOff val="0"/>
            <a:lumOff val="0"/>
            <a:alphaOff val="0"/>
          </a:sysClr>
        </a:solidFill>
        <a:ln w="6350" cap="flat" cmpd="sng" algn="ctr">
          <a:solidFill>
            <a:srgbClr val="AD010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2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2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1 étudiant possède 20 notes ces notes sont sauvegardées dans le tableau NOTE ( tableau de 20 cases)</a:t>
            </a:r>
          </a:p>
          <a:p>
            <a:endParaRPr lang="fr-FR"/>
          </a:p>
          <a:p>
            <a:r>
              <a:rPr lang="fr-FR"/>
              <a:t>10 étudiants ( chacun possède 20 notes ) --&gt;  on utilise un tableau de 20 cases ( notes ) pour chaque étudiant 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tableaux bidimensionnels</a:t>
            </a:r>
            <a:endParaRPr lang="fr-C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Espace réservé du contenu 10"/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2053" y="6271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introductif (1/2)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2</a:t>
            </a:fld>
            <a:endParaRPr lang="fr-BE" sz="2400" b="1" dirty="0">
              <a:solidFill>
                <a:schemeClr val="tx1"/>
              </a:solidFill>
            </a:endParaRP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285750" y="1571625"/>
            <a:ext cx="8858250" cy="46053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NOTE[20] = {10, 14, ... , 13, 16};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10                  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NOTE[10][20] = {{10, 14, ... , 13, 16}, {09, 10, ... , 14, 12}, ... ... ... {16, 14, ... , 17, 10}};</a:t>
            </a: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" name="Picture 3" descr="C:\Users\esprit\Desktop\bo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3042" y="1571612"/>
            <a:ext cx="812800" cy="812800"/>
          </a:xfrm>
          <a:prstGeom prst="rect">
            <a:avLst/>
          </a:prstGeom>
          <a:noFill/>
        </p:spPr>
      </p:pic>
      <p:pic>
        <p:nvPicPr>
          <p:cNvPr id="11" name="Picture 3" descr="C:\Users\esprit\Desktop\bo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3643314"/>
            <a:ext cx="812800" cy="812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2"/>
          <p:cNvSpPr>
            <a:spLocks noGrp="1"/>
          </p:cNvSpPr>
          <p:nvPr>
            <p:ph idx="1"/>
          </p:nvPr>
        </p:nvSpPr>
        <p:spPr>
          <a:xfrm>
            <a:off x="1214414" y="2143116"/>
            <a:ext cx="7515220" cy="3311517"/>
          </a:xfrm>
        </p:spPr>
        <p:txBody>
          <a:bodyPr/>
          <a:lstStyle/>
          <a:p>
            <a:pPr>
              <a:buNone/>
            </a:pPr>
            <a:br>
              <a:rPr lang="fr-FR" dirty="0"/>
            </a:br>
            <a:endParaRPr lang="fr-FR" dirty="0"/>
          </a:p>
        </p:txBody>
      </p:sp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1285852" y="2428868"/>
          <a:ext cx="6096000" cy="1843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baseline="0" dirty="0"/>
                        <a:t>  …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94">
                <a:tc>
                  <a:txBody>
                    <a:bodyPr/>
                    <a:lstStyle/>
                    <a:p>
                      <a:r>
                        <a:rPr lang="fr-FR" dirty="0"/>
                        <a:t>        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 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      </a:t>
                      </a:r>
                      <a:r>
                        <a:rPr lang="fr-FR" sz="2400" b="1" baseline="0" dirty="0"/>
                        <a:t> …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    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    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fr-FR" sz="2400" b="1" dirty="0"/>
                        <a:t>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    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      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400" b="1" baseline="0" dirty="0"/>
                        <a:t>      …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     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        </a:t>
                      </a:r>
                      <a:r>
                        <a:rPr lang="fr-FR" sz="2400" b="1" baseline="0" dirty="0"/>
                        <a:t>…</a:t>
                      </a:r>
                      <a:endParaRPr lang="fr-F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Accolade fermante 17"/>
          <p:cNvSpPr/>
          <p:nvPr/>
        </p:nvSpPr>
        <p:spPr>
          <a:xfrm>
            <a:off x="7643834" y="2428868"/>
            <a:ext cx="214314" cy="221457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ccolade ouvrante 18"/>
          <p:cNvSpPr/>
          <p:nvPr/>
        </p:nvSpPr>
        <p:spPr>
          <a:xfrm rot="16200000">
            <a:off x="4036215" y="1678769"/>
            <a:ext cx="571504" cy="6072230"/>
          </a:xfrm>
          <a:prstGeom prst="leftBrace">
            <a:avLst>
              <a:gd name="adj1" fmla="val 8333"/>
              <a:gd name="adj2" fmla="val 4949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251267" y="1466701"/>
            <a:ext cx="2595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kern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NOTE[10][20];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001024" y="3214686"/>
            <a:ext cx="11087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10 lignes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571868" y="5143512"/>
            <a:ext cx="14401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20 colonnes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857224" y="2428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857224" y="2928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857224" y="342900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…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857224" y="3857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1714480" y="19288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3000364" y="19288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5357818" y="1928802"/>
            <a:ext cx="343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…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143372" y="19288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6572264" y="19288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5852" y="2428868"/>
            <a:ext cx="6084000" cy="482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115283" y="61318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introductif (2/2)</a:t>
            </a:r>
          </a:p>
        </p:txBody>
      </p:sp>
      <p:sp>
        <p:nvSpPr>
          <p:cNvPr id="2" name="Zone de texte 1"/>
          <p:cNvSpPr txBox="1"/>
          <p:nvPr/>
        </p:nvSpPr>
        <p:spPr>
          <a:xfrm>
            <a:off x="516255" y="1960245"/>
            <a:ext cx="7073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fr-FR" b="1" dirty="0">
                <a:sym typeface="+mn-ea"/>
              </a:rPr>
              <a:t>NOTE</a:t>
            </a:r>
            <a:endParaRPr lang="fr-FR" altLang="en-US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0.00313 0.0687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6875 L 0.00313 0.13171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13171 L 0.00313 0.2050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2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772383" y="64112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1500174"/>
            <a:ext cx="8463884" cy="480914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tableau A à deux dimensions est à interpréter comme un tableau (à une dimension) de dimension L dont chaque composante est un tableau (unidimensionnel) de dimension C. </a:t>
            </a:r>
          </a:p>
          <a:p>
            <a:pPr marL="342900" lvl="0" indent="-342900">
              <a:spcBef>
                <a:spcPct val="20000"/>
              </a:spcBef>
            </a:pPr>
            <a:endParaRPr lang="fr-F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appelle L le nombre de lignes, C le nombre de colonnes. L et C sont les dimensions du tableau.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940" y="1528406"/>
            <a:ext cx="7886700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Syntaxe:</a:t>
            </a:r>
          </a:p>
          <a:p>
            <a:pPr>
              <a:buNone/>
            </a:pP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fr-FR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Nom_du_tableau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[ligne][colonne] ;</a:t>
            </a: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 </a:t>
            </a:r>
          </a:p>
          <a:p>
            <a:pPr>
              <a:buNone/>
            </a:pPr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A[10][10];    // tableau de 10×10 entiers de type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B[5][4];     // tableau de 5×4 décimaux de type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char C[2][25];   // tableau de 2×25 caractères</a:t>
            </a: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28873" y="63350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9993" y="61953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&amp; mémoire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96" y="1571612"/>
            <a:ext cx="79296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/>
          <p:nvPr/>
        </p:nvSpPr>
        <p:spPr>
          <a:xfrm>
            <a:off x="357158" y="1142984"/>
            <a:ext cx="8786842" cy="5454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graphique: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short  A [3][2]={{1,2},{10,20},{100,200}};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en mémoire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fr-FR" sz="2400" dirty="0"/>
              <a:t>Adresse :    2F06  2F08    2F0A        2F0C   2F0E    2F10       2F12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700039" y="4821216"/>
          <a:ext cx="678661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5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5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4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3184140" y="2707144"/>
          <a:ext cx="2756012" cy="15772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774"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fr-FR" dirty="0"/>
                        <a:t>][0]=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fr-FR" dirty="0"/>
                        <a:t>][1]=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fr-FR" dirty="0"/>
                        <a:t>][0]=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fr-FR" dirty="0"/>
                        <a:t>][1]=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fr-FR" dirty="0"/>
                        <a:t>][0]=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A[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fr-FR" dirty="0"/>
                        <a:t>][1]=</a:t>
                      </a:r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Flèche angle droit à deux pointes 11"/>
          <p:cNvSpPr/>
          <p:nvPr/>
        </p:nvSpPr>
        <p:spPr>
          <a:xfrm>
            <a:off x="1675190" y="5683525"/>
            <a:ext cx="428628" cy="421764"/>
          </a:xfrm>
          <a:prstGeom prst="leftUp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endParaRPr lang="fr-FR" b="1" dirty="0">
              <a:ln w="11430"/>
              <a:solidFill>
                <a:srgbClr val="C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339409" y="58019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A</a:t>
            </a: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2597162" y="2928934"/>
          <a:ext cx="501730" cy="137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178"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72"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3185728" y="2242186"/>
          <a:ext cx="232237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34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Ellipse 15"/>
          <p:cNvSpPr/>
          <p:nvPr/>
        </p:nvSpPr>
        <p:spPr>
          <a:xfrm>
            <a:off x="2066540" y="1571612"/>
            <a:ext cx="201204" cy="466268"/>
          </a:xfrm>
          <a:prstGeom prst="ellipse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avec flèche 29"/>
          <p:cNvCxnSpPr>
            <a:stCxn id="16" idx="3"/>
            <a:endCxn id="14" idx="0"/>
          </p:cNvCxnSpPr>
          <p:nvPr/>
        </p:nvCxnSpPr>
        <p:spPr>
          <a:xfrm>
            <a:off x="2096006" y="1969597"/>
            <a:ext cx="752021" cy="7466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/>
          <p:cNvSpPr/>
          <p:nvPr/>
        </p:nvSpPr>
        <p:spPr>
          <a:xfrm>
            <a:off x="2406971" y="1562252"/>
            <a:ext cx="201204" cy="466268"/>
          </a:xfrm>
          <a:prstGeom prst="ellipse">
            <a:avLst/>
          </a:prstGeom>
          <a:solidFill>
            <a:schemeClr val="accent2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/>
          <p:cNvCxnSpPr>
            <a:stCxn id="32" idx="5"/>
            <a:endCxn id="15" idx="1"/>
          </p:cNvCxnSpPr>
          <p:nvPr/>
        </p:nvCxnSpPr>
        <p:spPr>
          <a:xfrm>
            <a:off x="2578709" y="1960237"/>
            <a:ext cx="607019" cy="464829"/>
          </a:xfrm>
          <a:prstGeom prst="straightConnector1">
            <a:avLst/>
          </a:prstGeom>
          <a:ln w="34925"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86360" y="2540000"/>
            <a:ext cx="9356725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fr-FR" sz="5400" b="1" dirty="0"/>
              <a:t>   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d’un tableau bidimentionnel</a:t>
            </a:r>
          </a:p>
          <a:p>
            <a:pPr marL="0" lvl="1"/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00400" lvl="8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Initialisation</a:t>
            </a:r>
          </a:p>
          <a:p>
            <a:pPr marL="3200400" lvl="8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Accès</a:t>
            </a:r>
          </a:p>
          <a:p>
            <a:pPr marL="3200400" lvl="8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Remplissage</a:t>
            </a:r>
          </a:p>
          <a:p>
            <a:pPr marL="3200400" lvl="8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Affichage</a:t>
            </a: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7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8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870" y="1571625"/>
            <a:ext cx="870077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-Indiquer la liste des valeurs respectives entre accolades.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l'intérieur de la liste, les composantes de chaque ligne du tableau sont encore une fois comprises entre accolades.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Exemple</a:t>
            </a:r>
          </a:p>
          <a:p>
            <a:pPr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[3][10] ={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0,10,20,30,40,50,60,70,80,90}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{10,11,12,13,14,15,16,17,18,19}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1,12,23,34,45,56,67,78,89,90}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9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"/>
          <p:cNvSpPr txBox="1"/>
          <p:nvPr/>
        </p:nvSpPr>
        <p:spPr>
          <a:xfrm>
            <a:off x="873734" y="1286176"/>
            <a:ext cx="7729534" cy="4911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 [3][3]={{1,0,0},{1,1,1},{1,0,1}};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B [3][3]={{1,1,1}};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nt C [3][3]={{1,1,1,1}};         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500166" y="1858949"/>
          <a:ext cx="2786082" cy="1170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Picture 2" descr="C:\Users\esprit\Desktop\Symbol_-_Che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2003093"/>
            <a:ext cx="752476" cy="752476"/>
          </a:xfrm>
          <a:prstGeom prst="rect">
            <a:avLst/>
          </a:prstGeom>
          <a:noFill/>
        </p:spPr>
      </p:pic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1500166" y="3573143"/>
          <a:ext cx="2786082" cy="1173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47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!?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" name="Picture 2" descr="C:\Users\esprit\Desktop\Symbol_-_Che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7818" y="3645533"/>
            <a:ext cx="752476" cy="752476"/>
          </a:xfrm>
          <a:prstGeom prst="rect">
            <a:avLst/>
          </a:prstGeom>
          <a:noFill/>
        </p:spPr>
      </p:pic>
      <p:pic>
        <p:nvPicPr>
          <p:cNvPr id="16" name="Picture 5" descr="C:\Users\esprit\Desktop\wrong-cross-clip-art_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94" y="5000953"/>
            <a:ext cx="500066" cy="500066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6428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(2/2)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10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1472" y="1428736"/>
            <a:ext cx="8001056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éléments d'un tableau de dimensions L et C se présentent de la façon suivante: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[3][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2]</a:t>
            </a:r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{{1, 2 }, {10, 20 }, {100, 200}};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indices du tableau varient de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à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L-1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respectivement de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à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C-1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composante de la N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ième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ligne et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ième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colonne est notée: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A[N-1][M-1]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845423" y="3231828"/>
          <a:ext cx="21431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A[0][0]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A[0][1]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A[1][0]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A[1][1]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A[2][0]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A[2][1]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2500298" y="32305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500298" y="35874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500298" y="39446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14995" y="29308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4286248" y="29308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843" y="629064"/>
            <a:ext cx="76004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Remplissage d’un tableau bidimensionnel</a:t>
            </a: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520700" y="11525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fr-FR" sz="2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main()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{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lang="fr-FR" sz="2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A[5][10]; 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</a:t>
            </a:r>
            <a:r>
              <a:rPr lang="fr-FR" sz="24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I,J; 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for (I=0; I&lt;5; I++) 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{ </a:t>
            </a:r>
          </a:p>
          <a:p>
            <a:pPr>
              <a:buNone/>
            </a:pPr>
            <a:r>
              <a:rPr lang="fr-FR" sz="24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        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for (J=0; J&lt;10; J++) </a:t>
            </a:r>
          </a:p>
          <a:p>
            <a:pPr>
              <a:buNone/>
            </a:pP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{</a:t>
            </a:r>
          </a:p>
          <a:p>
            <a:pPr>
              <a:buNone/>
            </a:pP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	  </a:t>
            </a:r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printf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( «donner la valeur à stocker   »);	</a:t>
            </a:r>
          </a:p>
          <a:p>
            <a:pPr>
              <a:buNone/>
            </a:pP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   </a:t>
            </a:r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scanf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("%d", &amp;A[I][J]); </a:t>
            </a:r>
          </a:p>
          <a:p>
            <a:pPr>
              <a:buNone/>
            </a:pPr>
            <a:r>
              <a:rPr lang="fr-FR" sz="24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}</a:t>
            </a:r>
          </a:p>
          <a:p>
            <a:pPr>
              <a:buNone/>
            </a:pPr>
            <a:r>
              <a:rPr lang="fr-FR" sz="24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      </a:t>
            </a: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}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return 0; </a:t>
            </a:r>
          </a:p>
          <a:p>
            <a:pPr>
              <a:buNone/>
            </a:pPr>
            <a:r>
              <a:rPr lang="fr-FR" sz="24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12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6188" y="629064"/>
            <a:ext cx="76718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Affichage d’un tableau bidimensionnel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34" y="757219"/>
            <a:ext cx="8643966" cy="6092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/>
          </a:p>
          <a:p>
            <a:pPr>
              <a:buNone/>
            </a:pPr>
            <a:endParaRPr lang="fr-FR" b="1" dirty="0"/>
          </a:p>
          <a:p>
            <a:pPr>
              <a:buNone/>
            </a:pPr>
            <a:endParaRPr lang="fr-FR" sz="20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fr-FR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main() </a:t>
            </a:r>
          </a:p>
          <a:p>
            <a:pPr marL="342900" lvl="0" indent="-342900">
              <a:spcBef>
                <a:spcPct val="20000"/>
              </a:spcBef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{ </a:t>
            </a:r>
          </a:p>
          <a:p>
            <a:pPr marL="342900" lvl="0" indent="-342900">
              <a:spcBef>
                <a:spcPct val="20000"/>
              </a:spcBef>
            </a:pPr>
            <a:r>
              <a:rPr lang="fr-FR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A[5][10];</a:t>
            </a:r>
          </a:p>
          <a:p>
            <a:pPr marL="342900" lvl="0" indent="-342900">
              <a:spcBef>
                <a:spcPct val="20000"/>
              </a:spcBef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</a:t>
            </a:r>
            <a:r>
              <a:rPr lang="fr-FR" sz="2000" dirty="0" err="1">
                <a:solidFill>
                  <a:schemeClr val="tx1"/>
                </a:solidFill>
                <a:latin typeface="Baskerville Old Face" panose="02020602080505020303" pitchFamily="18" charset="0"/>
              </a:rPr>
              <a:t>int</a:t>
            </a: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I,J; </a:t>
            </a:r>
          </a:p>
          <a:p>
            <a:pPr>
              <a:buNone/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for (I=0; I&lt;5; I++)</a:t>
            </a:r>
          </a:p>
          <a:p>
            <a:pPr>
              <a:buNone/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{</a:t>
            </a:r>
          </a:p>
          <a:p>
            <a:pPr lvl="0"/>
            <a:r>
              <a:rPr lang="fr-FR" sz="20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          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for (J=0; J&lt;10; J++) </a:t>
            </a:r>
          </a:p>
          <a:p>
            <a:pPr lvl="0"/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 {           </a:t>
            </a:r>
          </a:p>
          <a:p>
            <a:pPr lvl="0"/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   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printf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("%7d", A[I][J]);          </a:t>
            </a:r>
            <a:r>
              <a:rPr lang="fr-FR" sz="2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// décalage lors de l’affichage de contenu    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</a:t>
            </a:r>
          </a:p>
          <a:p>
            <a:pPr lvl="0"/>
            <a:r>
              <a:rPr lang="fr-FR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  }</a:t>
            </a:r>
          </a:p>
          <a:p>
            <a:pPr lvl="0"/>
            <a:r>
              <a:rPr lang="fr-FR" sz="20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             </a:t>
            </a: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printf("\n");                </a:t>
            </a:r>
            <a:r>
              <a:rPr lang="fr-FR" sz="2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  // retour à la ligne après l’affichage de chaque ligne</a:t>
            </a:r>
          </a:p>
          <a:p>
            <a:pPr>
              <a:buNone/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}</a:t>
            </a:r>
          </a:p>
          <a:p>
            <a:pPr>
              <a:buNone/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return 0;</a:t>
            </a:r>
          </a:p>
          <a:p>
            <a:pPr>
              <a:buNone/>
            </a:pPr>
            <a:r>
              <a:rPr lang="fr-FR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}</a:t>
            </a:r>
          </a:p>
          <a:p>
            <a:pPr>
              <a:buNone/>
            </a:pPr>
            <a:endParaRPr lang="fr-FR" b="1" dirty="0">
              <a:solidFill>
                <a:schemeClr val="tx1"/>
              </a:solidFill>
            </a:endParaRPr>
          </a:p>
          <a:p>
            <a:pPr>
              <a:buNone/>
            </a:pPr>
            <a:endParaRPr lang="fr-FR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863</Words>
  <Application>Microsoft Office PowerPoint</Application>
  <PresentationFormat>On-screen Show (4:3)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Baskerville Old Face</vt:lpstr>
      <vt:lpstr>Calibri</vt:lpstr>
      <vt:lpstr>Calibri Light</vt:lpstr>
      <vt:lpstr>Times New Roman</vt:lpstr>
      <vt:lpstr>Wingdings</vt:lpstr>
      <vt:lpstr>Thème Office</vt:lpstr>
      <vt:lpstr>Office Theme</vt:lpstr>
      <vt:lpstr> Les tableaux bidimensionnels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lastModifiedBy>naouel boughattas</cp:lastModifiedBy>
  <cp:revision>408</cp:revision>
  <dcterms:created xsi:type="dcterms:W3CDTF">2017-09-09T12:22:00Z</dcterms:created>
  <dcterms:modified xsi:type="dcterms:W3CDTF">2025-06-28T21:43:50Z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