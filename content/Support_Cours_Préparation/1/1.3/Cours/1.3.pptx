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4" r:id="rId3"/>
    <p:sldId id="295" r:id="rId4"/>
    <p:sldId id="296" r:id="rId5"/>
    <p:sldId id="297" r:id="rId6"/>
    <p:sldId id="298" r:id="rId7"/>
    <p:sldId id="360" r:id="rId9"/>
    <p:sldId id="29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94"/>
            <p14:sldId id="295"/>
            <p14:sldId id="296"/>
            <p14:sldId id="297"/>
            <p14:sldId id="298"/>
            <p14:sldId id="360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458856" y="599778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</a:t>
            </a:r>
            <a:endParaRPr lang="fr-FR" sz="3200" b="1" dirty="0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482599" y="1722388"/>
            <a:ext cx="11592859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variables permettent de représenter les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données d’un programme.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variable est matérialisée par un emplacement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mémoire identifié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un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variable possède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nom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valeur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3829" y="3734978"/>
            <a:ext cx="6593542" cy="1310180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 flipH="1">
            <a:off x="8610600" y="2877671"/>
            <a:ext cx="452718" cy="73958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2956486" y="3868515"/>
            <a:ext cx="2189256" cy="74773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ccolade ouvrante 8"/>
          <p:cNvSpPr/>
          <p:nvPr/>
        </p:nvSpPr>
        <p:spPr>
          <a:xfrm>
            <a:off x="5145742" y="4144297"/>
            <a:ext cx="168087" cy="10117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en arc 25"/>
          <p:cNvCxnSpPr/>
          <p:nvPr/>
        </p:nvCxnSpPr>
        <p:spPr>
          <a:xfrm flipV="1">
            <a:off x="2793516" y="4488151"/>
            <a:ext cx="9125132" cy="204659"/>
          </a:xfrm>
          <a:prstGeom prst="curvedConnector5">
            <a:avLst>
              <a:gd name="adj1" fmla="val -675"/>
              <a:gd name="adj2" fmla="val -378374"/>
              <a:gd name="adj3" fmla="val 101374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6" y="4973458"/>
            <a:ext cx="2041035" cy="15654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42016" y="632798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875" y="1675130"/>
            <a:ext cx="3338195" cy="25609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336175" y="1763848"/>
            <a:ext cx="9278472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Qu'est-ce qu'une variable ?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just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fr-BE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nom d’un emplacement</a:t>
            </a:r>
            <a:r>
              <a:rPr lang="fr-BE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mémoire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fr-BE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crée</a:t>
            </a:r>
            <a:r>
              <a:rPr lang="fr-BE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presque autant qu’on veut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</a:t>
            </a:r>
            <a:r>
              <a:rPr lang="fr-BE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contenu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peut changer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 temps</a:t>
            </a:r>
            <a:endParaRPr lang="fr-BE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  <a:r>
              <a:rPr lang="fr-BE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contient</a:t>
            </a:r>
            <a:r>
              <a:rPr lang="fr-BE" sz="24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toujours 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quelque chose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 algn="just">
              <a:buClr>
                <a:srgbClr val="C00000"/>
              </a:buClr>
              <a:buNone/>
            </a:pPr>
            <a:endParaRPr lang="fr-BE" dirty="0"/>
          </a:p>
        </p:txBody>
      </p:sp>
      <p:sp>
        <p:nvSpPr>
          <p:cNvPr id="4" name="ZoneTexte 3"/>
          <p:cNvSpPr txBox="1"/>
          <p:nvPr/>
        </p:nvSpPr>
        <p:spPr>
          <a:xfrm>
            <a:off x="726440" y="5521325"/>
            <a:ext cx="10929620" cy="3987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2"/>
            <a:r>
              <a:rPr lang="fr-B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variable sera toujours définie avant utilisation : elle doit être associée à un type de données</a:t>
            </a:r>
            <a:endParaRPr lang="fr-FR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05211" y="61692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 ( Nom )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463176" y="1520266"/>
            <a:ext cx="10395324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800100" lvl="1" indent="-34290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 de variables</a:t>
            </a:r>
            <a:r>
              <a:rPr lang="fr-BE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Contient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 caractères max </a:t>
            </a:r>
            <a:endParaRPr lang="fr-BE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Commence par une</a:t>
            </a:r>
            <a:r>
              <a:rPr lang="fr-BE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le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symbole </a:t>
            </a:r>
            <a:r>
              <a:rPr lang="fr-BE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fr-B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$</a:t>
            </a:r>
            <a:endParaRPr lang="fr-BE" sz="2800" b="1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distingue les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majuscules</a:t>
            </a:r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les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minuscules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/>
              <a:t>               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ompteur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dirty="0"/>
              <a:t>’ et ‘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ompteur</a:t>
            </a:r>
            <a:r>
              <a:rPr lang="fr-FR" sz="2400" dirty="0"/>
              <a:t>’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différentes</a:t>
            </a:r>
            <a:endParaRPr lang="fr-FR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peut pas être un des </a:t>
            </a:r>
            <a:r>
              <a:rPr lang="fr-BE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mots réservés du C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B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Int, char, </a:t>
            </a:r>
            <a:r>
              <a:rPr lang="fr-B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B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choix des nom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important pour la</a:t>
            </a:r>
            <a:r>
              <a:rPr lang="fr-BE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lisibilité</a:t>
            </a:r>
            <a:r>
              <a:rPr lang="fr-BE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programme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971" y="64994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 ( Type )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7598583" y="3467637"/>
            <a:ext cx="271431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R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éels</a:t>
            </a:r>
            <a:endParaRPr lang="en-US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1850" y="1752600"/>
            <a:ext cx="2985770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indent="0" eaLnBrk="1" hangingPunct="1">
              <a:lnSpc>
                <a:spcPct val="80000"/>
              </a:lnSpc>
              <a:spcBef>
                <a:spcPct val="6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400" dirty="0"/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est un langage typé: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7803" y="3467637"/>
            <a:ext cx="3276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14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Entiers</a:t>
            </a: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255309" y="2342953"/>
            <a:ext cx="2554867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base en C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ccolade fermante 2"/>
          <p:cNvSpPr/>
          <p:nvPr/>
        </p:nvSpPr>
        <p:spPr>
          <a:xfrm rot="16200000">
            <a:off x="5097922" y="-433465"/>
            <a:ext cx="605620" cy="7110021"/>
          </a:xfrm>
          <a:prstGeom prst="rightBrace">
            <a:avLst/>
          </a:prstGeom>
          <a:noFill/>
          <a:ln w="254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07421" y="4108375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358775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fr-FR" sz="1800" b="1" dirty="0">
                <a:solidFill>
                  <a:srgbClr val="006666"/>
                </a:solidFill>
              </a:rPr>
              <a:t> </a:t>
            </a:r>
            <a:r>
              <a:rPr lang="fr-FR" sz="1800" b="1" dirty="0" err="1">
                <a:solidFill>
                  <a:srgbClr val="006666"/>
                </a:solidFill>
              </a:rPr>
              <a:t>int</a:t>
            </a:r>
            <a:r>
              <a:rPr lang="fr-FR" sz="1800" dirty="0">
                <a:solidFill>
                  <a:srgbClr val="006666"/>
                </a:solidFill>
              </a:rPr>
              <a:t>     : entier standard</a:t>
            </a:r>
            <a:endParaRPr lang="fr-FR" sz="1800" dirty="0">
              <a:solidFill>
                <a:srgbClr val="006666"/>
              </a:solidFill>
            </a:endParaRPr>
          </a:p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fr-FR" sz="1800" b="1" dirty="0">
                <a:solidFill>
                  <a:srgbClr val="006666"/>
                </a:solidFill>
              </a:rPr>
              <a:t> short</a:t>
            </a:r>
            <a:r>
              <a:rPr lang="fr-FR" sz="1800" dirty="0">
                <a:solidFill>
                  <a:srgbClr val="006666"/>
                </a:solidFill>
              </a:rPr>
              <a:t> : entier court</a:t>
            </a:r>
            <a:endParaRPr lang="fr-FR" sz="1800" dirty="0">
              <a:solidFill>
                <a:srgbClr val="006666"/>
              </a:solidFill>
            </a:endParaRPr>
          </a:p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fr-FR" sz="1800" b="1" dirty="0">
                <a:solidFill>
                  <a:srgbClr val="006666"/>
                </a:solidFill>
              </a:rPr>
              <a:t> long   </a:t>
            </a:r>
            <a:r>
              <a:rPr lang="fr-FR" sz="1800" dirty="0">
                <a:solidFill>
                  <a:srgbClr val="006666"/>
                </a:solidFill>
              </a:rPr>
              <a:t>: entier long</a:t>
            </a:r>
            <a:endParaRPr lang="fr-FR" sz="1800" dirty="0">
              <a:solidFill>
                <a:srgbClr val="006666"/>
              </a:solidFill>
            </a:endParaRPr>
          </a:p>
        </p:txBody>
      </p:sp>
      <p:sp>
        <p:nvSpPr>
          <p:cNvPr id="16" name="AutoShape 13"/>
          <p:cNvSpPr/>
          <p:nvPr/>
        </p:nvSpPr>
        <p:spPr bwMode="auto">
          <a:xfrm>
            <a:off x="2875280" y="5391150"/>
            <a:ext cx="3642995" cy="965200"/>
          </a:xfrm>
          <a:prstGeom prst="borderCallout2">
            <a:avLst>
              <a:gd name="adj1" fmla="val 14287"/>
              <a:gd name="adj2" fmla="val -2440"/>
              <a:gd name="adj3" fmla="val 14287"/>
              <a:gd name="adj4" fmla="val -6046"/>
              <a:gd name="adj5" fmla="val -14287"/>
              <a:gd name="adj6" fmla="val -975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langage C implémente le type char qui est en fait numérique</a:t>
            </a:r>
            <a:r>
              <a:rPr lang="fr-FR" sz="1600"/>
              <a:t>.</a:t>
            </a:r>
            <a:endParaRPr lang="fr-FR" sz="1600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-349404" y="4974011"/>
            <a:ext cx="36717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fr-FR" sz="1800" b="1" dirty="0">
                <a:solidFill>
                  <a:srgbClr val="006666"/>
                </a:solidFill>
              </a:rPr>
              <a:t> char </a:t>
            </a:r>
            <a:r>
              <a:rPr lang="fr-FR" sz="1800" dirty="0">
                <a:solidFill>
                  <a:srgbClr val="006666"/>
                </a:solidFill>
              </a:rPr>
              <a:t>: caractère</a:t>
            </a:r>
            <a:endParaRPr lang="fr-FR" sz="1800" dirty="0">
              <a:solidFill>
                <a:srgbClr val="006666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00048" y="4050681"/>
            <a:ext cx="48925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 typeface="Wingdings" panose="05000000000000000000" pitchFamily="2" charset="2"/>
              <a:buChar char="w"/>
            </a:pPr>
            <a:r>
              <a:rPr lang="fr-FR" b="1" dirty="0">
                <a:solidFill>
                  <a:srgbClr val="006666"/>
                </a:solidFill>
              </a:rPr>
              <a:t> </a:t>
            </a:r>
            <a:r>
              <a:rPr lang="fr-FR" b="1" dirty="0" err="1">
                <a:solidFill>
                  <a:srgbClr val="006666"/>
                </a:solidFill>
                <a:latin typeface="Tahoma" panose="020B0604030504040204" pitchFamily="34" charset="0"/>
              </a:rPr>
              <a:t>float</a:t>
            </a:r>
            <a:r>
              <a:rPr lang="fr-FR" b="1" dirty="0">
                <a:solidFill>
                  <a:srgbClr val="006666"/>
                </a:solidFill>
                <a:latin typeface="Tahoma" panose="020B0604030504040204" pitchFamily="34" charset="0"/>
              </a:rPr>
              <a:t> </a:t>
            </a:r>
            <a:r>
              <a:rPr lang="fr-FR" dirty="0">
                <a:solidFill>
                  <a:srgbClr val="006666"/>
                </a:solidFill>
                <a:latin typeface="Tahoma" panose="020B0604030504040204" pitchFamily="34" charset="0"/>
              </a:rPr>
              <a:t>: réel</a:t>
            </a:r>
            <a:endParaRPr lang="fr-FR" dirty="0">
              <a:solidFill>
                <a:srgbClr val="006666"/>
              </a:solidFill>
              <a:latin typeface="Tahoma" panose="020B0604030504040204" pitchFamily="34" charset="0"/>
            </a:endParaRPr>
          </a:p>
          <a:p>
            <a:pPr lvl="2">
              <a:buFont typeface="Wingdings" panose="05000000000000000000" pitchFamily="2" charset="2"/>
              <a:buChar char="w"/>
            </a:pPr>
            <a:r>
              <a:rPr lang="fr-FR" dirty="0">
                <a:solidFill>
                  <a:srgbClr val="006666"/>
                </a:solidFill>
                <a:latin typeface="Tahoma" panose="020B0604030504040204" pitchFamily="34" charset="0"/>
              </a:rPr>
              <a:t> </a:t>
            </a:r>
            <a:r>
              <a:rPr lang="fr-FR" b="1" dirty="0">
                <a:solidFill>
                  <a:srgbClr val="006666"/>
                </a:solidFill>
                <a:latin typeface="Tahoma" panose="020B0604030504040204" pitchFamily="34" charset="0"/>
              </a:rPr>
              <a:t>double</a:t>
            </a:r>
            <a:r>
              <a:rPr lang="fr-FR" dirty="0">
                <a:solidFill>
                  <a:srgbClr val="006666"/>
                </a:solidFill>
                <a:latin typeface="Tahoma" panose="020B0604030504040204" pitchFamily="34" charset="0"/>
              </a:rPr>
              <a:t> : réel double</a:t>
            </a:r>
            <a:endParaRPr lang="fr-FR" dirty="0">
              <a:solidFill>
                <a:srgbClr val="006666"/>
              </a:solidFill>
              <a:latin typeface="Tahoma" panose="020B0604030504040204" pitchFamily="34" charset="0"/>
            </a:endParaRPr>
          </a:p>
          <a:p>
            <a:pPr lvl="2">
              <a:buFont typeface="Wingdings" panose="05000000000000000000" pitchFamily="2" charset="2"/>
              <a:buChar char="w"/>
            </a:pPr>
            <a:r>
              <a:rPr lang="fr-FR" dirty="0">
                <a:solidFill>
                  <a:srgbClr val="006666"/>
                </a:solidFill>
                <a:latin typeface="Tahoma" panose="020B0604030504040204" pitchFamily="34" charset="0"/>
              </a:rPr>
              <a:t> </a:t>
            </a:r>
            <a:r>
              <a:rPr lang="fr-FR" b="1" dirty="0">
                <a:solidFill>
                  <a:srgbClr val="006666"/>
                </a:solidFill>
                <a:latin typeface="Tahoma" panose="020B0604030504040204" pitchFamily="34" charset="0"/>
              </a:rPr>
              <a:t>long double </a:t>
            </a:r>
            <a:r>
              <a:rPr lang="fr-FR" dirty="0">
                <a:solidFill>
                  <a:srgbClr val="006666"/>
                </a:solidFill>
                <a:latin typeface="Tahoma" panose="020B0604030504040204" pitchFamily="34" charset="0"/>
              </a:rPr>
              <a:t>: réel long double</a:t>
            </a:r>
            <a:endParaRPr lang="fr-FR" dirty="0">
              <a:solidFill>
                <a:srgbClr val="006666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 ( Type : Entiers )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1" name="Group 2"/>
          <p:cNvGraphicFramePr>
            <a:graphicFrameLocks noGrp="1"/>
          </p:cNvGraphicFramePr>
          <p:nvPr>
            <p:ph idx="1"/>
          </p:nvPr>
        </p:nvGraphicFramePr>
        <p:xfrm>
          <a:off x="1389528" y="1355912"/>
          <a:ext cx="9287435" cy="5000438"/>
        </p:xfrm>
        <a:graphic>
          <a:graphicData uri="http://schemas.openxmlformats.org/drawingml/2006/table">
            <a:tbl>
              <a:tblPr/>
              <a:tblGrid>
                <a:gridCol w="2185279"/>
                <a:gridCol w="3460025"/>
                <a:gridCol w="3642131"/>
              </a:tblGrid>
              <a:tr h="400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  <a:endParaRPr kumimoji="0" 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Nombre d’octets</a:t>
                      </a:r>
                      <a:endParaRPr kumimoji="0" lang="fr-FR" sz="1800" b="1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Domaine</a:t>
                      </a:r>
                      <a:endParaRPr kumimoji="0" lang="fr-FR" sz="1800" b="1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[-2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, 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-1]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unsigned int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[0, 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-1]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short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[-32768, 32767]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unsigned short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[0, 65535]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long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[-2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63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, 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63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-1]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unsigned long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[0, 2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63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-1]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char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     1	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[-128, 127] 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Unsigned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 char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[0, 255] 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[-3.4*10</a:t>
                      </a:r>
                      <a:r>
                        <a:rPr kumimoji="0" lang="fr-FR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38</a:t>
                      </a: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, 3.4*10</a:t>
                      </a:r>
                      <a:r>
                        <a:rPr kumimoji="0" lang="fr-FR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38</a:t>
                      </a: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]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double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[-1.7*10</a:t>
                      </a:r>
                      <a:r>
                        <a:rPr kumimoji="0" lang="fr-FR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308</a:t>
                      </a: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, 1.7*10</a:t>
                      </a:r>
                      <a:r>
                        <a:rPr kumimoji="0" lang="fr-FR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308</a:t>
                      </a: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]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long double</a:t>
                      </a:r>
                      <a:endParaRPr kumimoji="0" lang="fr-FR" sz="18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[-3.4*10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4932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, 1.7*10</a:t>
                      </a:r>
                      <a:r>
                        <a:rPr kumimoji="0" lang="fr-FR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4932</a:t>
                      </a: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]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à coins arrondis 2"/>
          <p:cNvSpPr/>
          <p:nvPr/>
        </p:nvSpPr>
        <p:spPr>
          <a:xfrm>
            <a:off x="526640" y="1725691"/>
            <a:ext cx="10412362" cy="3388659"/>
          </a:xfrm>
          <a:prstGeom prst="roundRect">
            <a:avLst/>
          </a:prstGeom>
          <a:solidFill>
            <a:srgbClr val="C00000">
              <a:alpha val="26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545690" y="5163671"/>
            <a:ext cx="10412362" cy="1192679"/>
          </a:xfrm>
          <a:prstGeom prst="roundRect">
            <a:avLst/>
          </a:prstGeom>
          <a:solidFill>
            <a:schemeClr val="accent1">
              <a:alpha val="26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 rot="16200000">
            <a:off x="310195" y="3249440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fr-FR" sz="24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Entiers</a:t>
            </a:r>
            <a:endParaRPr lang="fr-FR" sz="2400" b="1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 rot="16200000">
            <a:off x="-377750" y="5234141"/>
            <a:ext cx="271431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R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éels</a:t>
            </a:r>
            <a:endParaRPr lang="fr-FR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526" y="60041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portée des variables 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942340" y="1807845"/>
            <a:ext cx="1075753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bloc est délimité par des accolades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 variable a une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durée de vie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bornée au bloc où elle est déclarée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bloc définit la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portée de la variable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L’espace mémoire pour stocker la variable est alloué lors de sa déclaration et libéré à la fin du bloc où elle a été allouée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526" y="60041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variables ( Exemple ) </a:t>
            </a: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3188049" y="1768554"/>
            <a:ext cx="8916798" cy="4523105"/>
          </a:xfrm>
          <a:prstGeom prst="rect">
            <a:avLst/>
          </a:prstGeom>
          <a:solidFill>
            <a:schemeClr val="tx2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Bibliothèque d’entrées-sorties standard */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a;                                               </a:t>
            </a:r>
            <a:r>
              <a:rPr lang="fr-FR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déclaration</a:t>
            </a:r>
            <a:endParaRPr lang="fr-FR" sz="24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algn="just">
              <a:buClr>
                <a:srgbClr val="C00000"/>
              </a:buClr>
              <a:buSzTx/>
              <a:buFontTx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a=127;                                                </a:t>
            </a:r>
            <a:r>
              <a:rPr lang="fr-FR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affectation </a:t>
            </a:r>
            <a:endParaRPr lang="fr-FR" sz="24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("la valeur de a = %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d",a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fr-FR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affichage de la valeur de a</a:t>
            </a:r>
            <a:endParaRPr lang="fr-FR" sz="24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rgbClr val="C00000"/>
              </a:buClr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 flipV="1">
            <a:off x="3064654" y="1953751"/>
            <a:ext cx="999416" cy="624209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 flipH="1">
            <a:off x="4064068" y="2605543"/>
            <a:ext cx="950379" cy="36193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190849" y="1654629"/>
            <a:ext cx="2997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toujours la fonction principale d’un programme C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3722462" y="2953753"/>
            <a:ext cx="433890" cy="3841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 flipH="1">
            <a:off x="3630559" y="5842594"/>
            <a:ext cx="433890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/>
          <p:cNvCxnSpPr>
            <a:stCxn id="18" idx="3"/>
          </p:cNvCxnSpPr>
          <p:nvPr/>
        </p:nvCxnSpPr>
        <p:spPr>
          <a:xfrm flipH="1" flipV="1">
            <a:off x="3052978" y="3145840"/>
            <a:ext cx="669484" cy="1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>
            <a:stCxn id="19" idx="3"/>
          </p:cNvCxnSpPr>
          <p:nvPr/>
        </p:nvCxnSpPr>
        <p:spPr>
          <a:xfrm flipH="1">
            <a:off x="2961710" y="6001344"/>
            <a:ext cx="669484" cy="1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129416" y="2891279"/>
            <a:ext cx="3059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Début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bloc d’instructions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90849" y="5474077"/>
            <a:ext cx="28417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bloc d’instructions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2231</Words>
  <Application>WPS Presentation</Application>
  <PresentationFormat>Grand écran</PresentationFormat>
  <Paragraphs>178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MS PGothic</vt:lpstr>
      <vt:lpstr>Calibri Light</vt:lpstr>
      <vt:lpstr>Calibri</vt:lpstr>
      <vt:lpstr>Microsoft YaHei</vt:lpstr>
      <vt:lpstr>Arial Unicode MS</vt:lpstr>
      <vt:lpstr>Symbol</vt:lpstr>
      <vt:lpstr>Office Theme</vt:lpstr>
      <vt:lpstr>Les variables</vt:lpstr>
      <vt:lpstr>Les variables</vt:lpstr>
      <vt:lpstr>Les variables ( Nom )</vt:lpstr>
      <vt:lpstr>Les variables ( Type )</vt:lpstr>
      <vt:lpstr>Les variables ( Type : Entiers )</vt:lpstr>
      <vt:lpstr>La portée des variables </vt:lpstr>
      <vt:lpstr>Les variables ( Exemple 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269</cp:revision>
  <dcterms:created xsi:type="dcterms:W3CDTF">2015-03-06T15:17:00Z</dcterms:created>
  <dcterms:modified xsi:type="dcterms:W3CDTF">2025-04-25T13:11:29Z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F31DBEE9B86940A1B6EE03BDD65E2B57</vt:lpwstr>
  </property>
</Properties>
</file>