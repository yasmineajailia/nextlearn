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89" r:id="rId3"/>
    <p:sldId id="290" r:id="rId4"/>
    <p:sldId id="291" r:id="rId5"/>
    <p:sldId id="292" r:id="rId7"/>
    <p:sldId id="293" r:id="rId8"/>
    <p:sldId id="294" r:id="rId9"/>
    <p:sldId id="288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1EE07D4-F84E-4BBE-9AD3-719F4B2C30E8}">
          <p14:sldIdLst>
            <p14:sldId id="289"/>
            <p14:sldId id="290"/>
            <p14:sldId id="291"/>
            <p14:sldId id="292"/>
            <p14:sldId id="293"/>
            <p14:sldId id="294"/>
            <p14:sldId id="2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78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75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000F0-5331-4BEE-93CC-6623BA77D340}" type="datetimeFigureOut">
              <a:rPr lang="fr-FR" smtClean="0"/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E00FF7-A96F-440A-ADD3-2D2A0E0ACFAF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ce réservé de l'image des diapositives 1"/>
          <p:cNvSpPr/>
          <p:nvPr>
            <p:ph type="sldImg" idx="2"/>
          </p:nvPr>
        </p:nvSpPr>
        <p:spPr/>
      </p:sp>
      <p:sp>
        <p:nvSpPr>
          <p:cNvPr id="3" name="Espace réservé du texte 2"/>
          <p:cNvSpPr/>
          <p:nvPr>
            <p:ph type="body" idx="3"/>
          </p:nvPr>
        </p:nvSpPr>
        <p:spPr/>
        <p:txBody>
          <a:bodyPr/>
          <a:p>
            <a:r>
              <a:rPr lang="fr-FR" altLang="en-US"/>
              <a:t>L’analyse s’interesse aux éléments suivants :</a:t>
            </a:r>
            <a:endParaRPr lang="fr-FR" altLang="en-US"/>
          </a:p>
          <a:p>
            <a:r>
              <a:rPr lang="fr-FR" altLang="en-US"/>
              <a:t>- Les résultats souhaités ( sorties )</a:t>
            </a:r>
            <a:endParaRPr lang="fr-FR" altLang="en-US"/>
          </a:p>
          <a:p>
            <a:r>
              <a:rPr lang="fr-FR" altLang="en-US"/>
              <a:t>- Les traitements ( actions pour atteindre le résultat )</a:t>
            </a:r>
            <a:endParaRPr lang="fr-FR" altLang="en-US"/>
          </a:p>
          <a:p>
            <a:r>
              <a:rPr lang="fr-FR" altLang="en-US"/>
              <a:t>- Les données nécesaires aux traitement ( entrées )</a:t>
            </a:r>
            <a:endParaRPr lang="fr-FR" altLang="en-US"/>
          </a:p>
          <a:p>
            <a:endParaRPr lang="fr-F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ce réservé de l'image des diapositives 1"/>
          <p:cNvSpPr/>
          <p:nvPr>
            <p:ph type="sldImg" idx="2"/>
          </p:nvPr>
        </p:nvSpPr>
        <p:spPr/>
      </p:sp>
      <p:sp>
        <p:nvSpPr>
          <p:cNvPr id="3" name="Espace réservé du texte 2"/>
          <p:cNvSpPr/>
          <p:nvPr>
            <p:ph type="body" idx="3"/>
          </p:nvPr>
        </p:nvSpPr>
        <p:spPr/>
        <p:txBody>
          <a:bodyPr/>
          <a:p>
            <a:r>
              <a:rPr lang="fr-FR" altLang="en-US"/>
              <a:t>un algorithme est une suite finie et structurée d’actions ou d’instructions permettant de résoudre un problème</a:t>
            </a:r>
            <a:endParaRPr lang="fr-F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ce réservé de l'image des diapositives 1"/>
          <p:cNvSpPr/>
          <p:nvPr>
            <p:ph type="sldImg" idx="2"/>
          </p:nvPr>
        </p:nvSpPr>
        <p:spPr/>
      </p:sp>
      <p:sp>
        <p:nvSpPr>
          <p:cNvPr id="3" name="Espace réservé du texte 2"/>
          <p:cNvSpPr/>
          <p:nvPr>
            <p:ph type="body" idx="3"/>
          </p:nvPr>
        </p:nvSpPr>
        <p:spPr/>
        <p:txBody>
          <a:bodyPr/>
          <a:p>
            <a:r>
              <a:rPr lang="fr-FR" altLang="en-US"/>
              <a:t>une fois l’algorithme est écrit, on doit penser à son exécution par l’ordinateur .</a:t>
            </a:r>
            <a:endParaRPr lang="fr-FR" altLang="en-US"/>
          </a:p>
          <a:p>
            <a:r>
              <a:rPr lang="fr-FR" altLang="en-US"/>
              <a:t>un algorithme est écrit en langage humain, il n’est pas compréhensible par la machine  --&gt; nécessité de transformer l’algorithme en un code compréhensible par l’ordinateur (langage binaire ) --&gt; il faut traduire l’algorithme à l’aide d’un langage de programmation</a:t>
            </a:r>
            <a:endParaRPr lang="fr-F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ce réservé de l'image des diapositives 1"/>
          <p:cNvSpPr/>
          <p:nvPr>
            <p:ph type="sldImg" idx="2"/>
          </p:nvPr>
        </p:nvSpPr>
        <p:spPr/>
      </p:sp>
      <p:sp>
        <p:nvSpPr>
          <p:cNvPr id="3" name="Espace réservé du texte 2"/>
          <p:cNvSpPr/>
          <p:nvPr>
            <p:ph type="body" idx="3"/>
          </p:nvPr>
        </p:nvSpPr>
        <p:spPr/>
        <p:txBody>
          <a:bodyPr/>
          <a:p>
            <a:endParaRPr lang="fr-F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fr-FR" altLang="en-US"/>
              <a:t>La première étage de génération d’un programme exécutable est : </a:t>
            </a:r>
            <a:endParaRPr lang="fr-FR" altLang="en-US"/>
          </a:p>
          <a:p>
            <a:r>
              <a:rPr lang="fr-FR" altLang="en-US"/>
              <a:t>- l’écriture d’un fichier source </a:t>
            </a:r>
            <a:endParaRPr lang="fr-FR" altLang="en-US"/>
          </a:p>
          <a:p>
            <a:endParaRPr lang="fr-FR" altLang="en-US"/>
          </a:p>
          <a:p>
            <a:r>
              <a:rPr lang="fr-FR" altLang="en-US"/>
              <a:t>La deuxième étape : compilation du fichier source vers un fichier objet</a:t>
            </a:r>
            <a:endParaRPr lang="fr-FR" altLang="en-US"/>
          </a:p>
          <a:p>
            <a:endParaRPr lang="fr-FR" altLang="en-US"/>
          </a:p>
          <a:p>
            <a:r>
              <a:rPr lang="fr-FR" altLang="en-US"/>
              <a:t>La troisième étape : L’édition des liens qui permet de créer le fichier exécutable</a:t>
            </a:r>
            <a:endParaRPr lang="fr-F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4E13F-3005-4C70-9AB7-32D8A9EE2F34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2739-07CB-4FB7-87D4-7BCA90B0A19D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A5EBB-1D59-4910-9C01-2B17A6608A31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15006-23EF-4100-BD19-79883986ACF6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2DEC-66CB-47B4-B940-2D93DB7024E9}" type="datetime1">
              <a:rPr lang="fr-FR" smtClean="0"/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5B307-C9BE-4CD1-871A-15067A0DBF83}" type="datetime1">
              <a:rPr lang="fr-FR" smtClean="0"/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EC77-3E54-4CFF-919F-4E8556994D27}" type="datetime1">
              <a:rPr lang="fr-FR" smtClean="0"/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FB06-CCB7-4729-AC66-47F73FB24BC6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4B6D2-B7A0-4E7A-8230-6BB5324B0C39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646B-EEB1-4BED-A4EE-4813EEE5A446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04260-8E4F-44B2-BCE1-2C11D659EED5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F7BBD-E8D9-4C1E-B6E1-C630A1F380F2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B411755-8DCF-4B1A-B0B5-5A24DF90B964}" type="slidenum">
              <a:rPr lang="en-GB" sz="1400"/>
            </a:fld>
            <a:endParaRPr lang="en-GB" sz="140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1174376" y="649943"/>
            <a:ext cx="8077200" cy="685800"/>
          </a:xfrm>
        </p:spPr>
        <p:txBody>
          <a:bodyPr/>
          <a:lstStyle/>
          <a:p>
            <a:r>
              <a:rPr lang="fr-FR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Etapes de résolution d’un problème</a:t>
            </a:r>
            <a:endParaRPr lang="fr-FR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8"/>
          <p:cNvSpPr>
            <a:spLocks noChangeArrowheads="1"/>
          </p:cNvSpPr>
          <p:nvPr/>
        </p:nvSpPr>
        <p:spPr bwMode="auto">
          <a:xfrm>
            <a:off x="463176" y="1520266"/>
            <a:ext cx="10395324" cy="2306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914400" lvl="1" indent="-457200" algn="just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réalisation d’un programme exécutable nécessite le suivi d’une démarche constituée d’un ensemble d’étapes :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B411755-8DCF-4B1A-B0B5-5A24DF90B964}" type="slidenum">
              <a:rPr lang="en-GB" sz="1400"/>
            </a:fld>
            <a:endParaRPr lang="en-GB" sz="140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1174376" y="649943"/>
            <a:ext cx="8077200" cy="685800"/>
          </a:xfrm>
        </p:spPr>
        <p:txBody>
          <a:bodyPr/>
          <a:lstStyle/>
          <a:p>
            <a:r>
              <a:rPr lang="fr-FR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Etapes de résolution d’un problème</a:t>
            </a:r>
            <a:endParaRPr lang="fr-FR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8"/>
          <p:cNvSpPr>
            <a:spLocks noChangeArrowheads="1"/>
          </p:cNvSpPr>
          <p:nvPr/>
        </p:nvSpPr>
        <p:spPr bwMode="auto">
          <a:xfrm>
            <a:off x="463176" y="1520266"/>
            <a:ext cx="10395324" cy="4523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914400" lvl="1" indent="-457200" algn="just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réalisation d’un programme exécutable nécessite le suivi d’une démarche constituée d’un ensemble d’étapes :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200000"/>
              </a:lnSpc>
              <a:buClr>
                <a:schemeClr val="tx1"/>
              </a:buClr>
              <a:buFont typeface="Wingdings" panose="05000000000000000000" charset="0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Etape 1 : Position du problème  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200000"/>
              </a:lnSpc>
              <a:buClr>
                <a:schemeClr val="tx1"/>
              </a:buClr>
              <a:buFont typeface="Wingdings" panose="05000000000000000000" charset="0"/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--&gt; bonne formulation du problème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200000"/>
              </a:lnSpc>
              <a:buClr>
                <a:schemeClr val="tx1"/>
              </a:buClr>
              <a:buFont typeface="Wingdings" panose="05000000000000000000" charset="0"/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B411755-8DCF-4B1A-B0B5-5A24DF90B964}" type="slidenum">
              <a:rPr lang="en-GB" sz="1400"/>
            </a:fld>
            <a:endParaRPr lang="en-GB" sz="140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1174376" y="649943"/>
            <a:ext cx="8077200" cy="685800"/>
          </a:xfrm>
        </p:spPr>
        <p:txBody>
          <a:bodyPr/>
          <a:lstStyle/>
          <a:p>
            <a:r>
              <a:rPr lang="fr-FR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Etapes de résolution d’un problème</a:t>
            </a:r>
            <a:endParaRPr lang="fr-FR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8"/>
          <p:cNvSpPr>
            <a:spLocks noChangeArrowheads="1"/>
          </p:cNvSpPr>
          <p:nvPr/>
        </p:nvSpPr>
        <p:spPr bwMode="auto">
          <a:xfrm>
            <a:off x="462915" y="1520190"/>
            <a:ext cx="11082655" cy="6739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914400" lvl="1" indent="-457200" algn="just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réalisation d’un programme exécutable nécessite le suivi d’une démarche constituée d’un ensemble d’étapes :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200000"/>
              </a:lnSpc>
              <a:buClr>
                <a:schemeClr val="tx1"/>
              </a:buClr>
              <a:buFont typeface="Wingdings" panose="05000000000000000000" charset="0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Etape 1 : Position du problème  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200000"/>
              </a:lnSpc>
              <a:buClr>
                <a:schemeClr val="tx1"/>
              </a:buClr>
              <a:buFont typeface="Wingdings" panose="05000000000000000000" charset="0"/>
              <a:buChar char="ü"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Etape 2 : Spécification et analyse du problème 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200000"/>
              </a:lnSpc>
              <a:buClr>
                <a:schemeClr val="tx1"/>
              </a:buClr>
              <a:buFont typeface="Wingdings" panose="05000000000000000000" charset="0"/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--&gt;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L’objectif de cette étape est de :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200000"/>
              </a:lnSpc>
              <a:buClr>
                <a:schemeClr val="tx1"/>
              </a:buClr>
              <a:buFont typeface="Wingdings" panose="05000000000000000000" charset="0"/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- Bien comprendre l’énoncé du problème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200000"/>
              </a:lnSpc>
              <a:buClr>
                <a:schemeClr val="tx1"/>
              </a:buClr>
              <a:buFont typeface="Wingdings" panose="05000000000000000000" charset="0"/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- Déterminer les formules de calcul, ....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200000"/>
              </a:lnSpc>
              <a:buClr>
                <a:schemeClr val="tx1"/>
              </a:buClr>
              <a:buFont typeface="Wingdings" panose="05000000000000000000" charset="0"/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B411755-8DCF-4B1A-B0B5-5A24DF90B964}" type="slidenum">
              <a:rPr lang="en-GB" sz="1400"/>
            </a:fld>
            <a:endParaRPr lang="en-GB" sz="140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1174376" y="649943"/>
            <a:ext cx="8077200" cy="685800"/>
          </a:xfrm>
        </p:spPr>
        <p:txBody>
          <a:bodyPr/>
          <a:lstStyle/>
          <a:p>
            <a:r>
              <a:rPr lang="fr-FR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Etapes de résolution d’un problème</a:t>
            </a:r>
            <a:endParaRPr lang="fr-FR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8"/>
          <p:cNvSpPr>
            <a:spLocks noChangeArrowheads="1"/>
          </p:cNvSpPr>
          <p:nvPr/>
        </p:nvSpPr>
        <p:spPr bwMode="auto">
          <a:xfrm>
            <a:off x="462915" y="1520190"/>
            <a:ext cx="11082655" cy="4523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914400" lvl="1" indent="-457200" algn="just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réalisation d’un programme exécutable nécessite le suivi d’une démarche constituée d’un ensemble d’étapes :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200000"/>
              </a:lnSpc>
              <a:buClr>
                <a:schemeClr val="tx1"/>
              </a:buClr>
              <a:buFont typeface="Wingdings" panose="05000000000000000000" charset="0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Etape 1 : Position du problème  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200000"/>
              </a:lnSpc>
              <a:buClr>
                <a:schemeClr val="tx1"/>
              </a:buClr>
              <a:buFont typeface="Wingdings" panose="05000000000000000000" charset="0"/>
              <a:buChar char="ü"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Etape 2 : Spécification et analyse du problème 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200000"/>
              </a:lnSpc>
              <a:buClr>
                <a:schemeClr val="tx1"/>
              </a:buClr>
              <a:buFont typeface="Wingdings" panose="05000000000000000000" charset="0"/>
              <a:buChar char="ü"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Etape 3 : Ecriture de l’algorithme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B411755-8DCF-4B1A-B0B5-5A24DF90B964}" type="slidenum">
              <a:rPr lang="en-GB" sz="1400"/>
            </a:fld>
            <a:endParaRPr lang="en-GB" sz="140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1174376" y="649943"/>
            <a:ext cx="8077200" cy="685800"/>
          </a:xfrm>
        </p:spPr>
        <p:txBody>
          <a:bodyPr/>
          <a:lstStyle/>
          <a:p>
            <a:r>
              <a:rPr lang="fr-FR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Etapes de résolution d’un problème</a:t>
            </a:r>
            <a:endParaRPr lang="fr-FR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8"/>
          <p:cNvSpPr>
            <a:spLocks noChangeArrowheads="1"/>
          </p:cNvSpPr>
          <p:nvPr/>
        </p:nvSpPr>
        <p:spPr bwMode="auto">
          <a:xfrm>
            <a:off x="462915" y="1520190"/>
            <a:ext cx="11082655" cy="5262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914400" lvl="1" indent="-457200" algn="just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réalisation d’un programme exécutable nécessite le suivi d’une démarche constituée d’un ensemble d’étapes :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200000"/>
              </a:lnSpc>
              <a:buClr>
                <a:schemeClr val="tx1"/>
              </a:buClr>
              <a:buFont typeface="Wingdings" panose="05000000000000000000" charset="0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Etape 1 : Position du problème  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200000"/>
              </a:lnSpc>
              <a:buClr>
                <a:schemeClr val="tx1"/>
              </a:buClr>
              <a:buFont typeface="Wingdings" panose="05000000000000000000" charset="0"/>
              <a:buChar char="ü"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Etape 2 : Spécification et analyse du problème 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200000"/>
              </a:lnSpc>
              <a:buClr>
                <a:schemeClr val="tx1"/>
              </a:buClr>
              <a:buFont typeface="Wingdings" panose="05000000000000000000" charset="0"/>
              <a:buChar char="ü"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Etape 3 : Ecriture de l’algorithme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200000"/>
              </a:lnSpc>
              <a:buClr>
                <a:schemeClr val="tx1"/>
              </a:buClr>
              <a:buFont typeface="Wingdings" panose="05000000000000000000" charset="0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Etape 4 : Ecriture du programme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B411755-8DCF-4B1A-B0B5-5A24DF90B964}" type="slidenum">
              <a:rPr lang="en-GB" sz="1400"/>
            </a:fld>
            <a:endParaRPr lang="en-GB" sz="140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1174376" y="649943"/>
            <a:ext cx="8077200" cy="685800"/>
          </a:xfrm>
        </p:spPr>
        <p:txBody>
          <a:bodyPr/>
          <a:lstStyle/>
          <a:p>
            <a:r>
              <a:rPr lang="fr-FR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Etapes de résolution d’un problème</a:t>
            </a:r>
            <a:endParaRPr lang="fr-FR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8"/>
          <p:cNvSpPr>
            <a:spLocks noChangeArrowheads="1"/>
          </p:cNvSpPr>
          <p:nvPr/>
        </p:nvSpPr>
        <p:spPr bwMode="auto">
          <a:xfrm>
            <a:off x="462915" y="1520190"/>
            <a:ext cx="11082655" cy="600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914400" lvl="1" indent="-457200" algn="just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réalisation d’un programme exécutable nécessite le suivi d’une démarche constituée d’un ensemble d’étapes :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200000"/>
              </a:lnSpc>
              <a:buClr>
                <a:schemeClr val="tx1"/>
              </a:buClr>
              <a:buFont typeface="Wingdings" panose="05000000000000000000" charset="0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Etape 1 : Position du problème  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200000"/>
              </a:lnSpc>
              <a:buClr>
                <a:schemeClr val="tx1"/>
              </a:buClr>
              <a:buFont typeface="Wingdings" panose="05000000000000000000" charset="0"/>
              <a:buChar char="ü"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Etape 2 : Spécification et analyse du problème 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200000"/>
              </a:lnSpc>
              <a:buClr>
                <a:schemeClr val="tx1"/>
              </a:buClr>
              <a:buFont typeface="Wingdings" panose="05000000000000000000" charset="0"/>
              <a:buChar char="ü"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Etape 3 : Ecriture de l’algorithme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200000"/>
              </a:lnSpc>
              <a:buClr>
                <a:schemeClr val="tx1"/>
              </a:buClr>
              <a:buFont typeface="Wingdings" panose="05000000000000000000" charset="0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Etape 4 : Ecriture du programme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200000"/>
              </a:lnSpc>
              <a:buClr>
                <a:schemeClr val="tx1"/>
              </a:buClr>
              <a:buFont typeface="Wingdings" panose="05000000000000000000" charset="0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Etape 5 : Exécution et test du programme   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re 1"/>
          <p:cNvSpPr>
            <a:spLocks noGrp="1"/>
          </p:cNvSpPr>
          <p:nvPr>
            <p:ph type="title"/>
          </p:nvPr>
        </p:nvSpPr>
        <p:spPr>
          <a:xfrm>
            <a:off x="1160929" y="338231"/>
            <a:ext cx="10515600" cy="1325563"/>
          </a:xfrm>
        </p:spPr>
        <p:txBody>
          <a:bodyPr/>
          <a:lstStyle/>
          <a:p>
            <a:r>
              <a:rPr lang="fr-FR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Comment Créer un programme exécutable ?</a:t>
            </a:r>
            <a:endParaRPr lang="fr-FR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4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E7CCFDF-1CF2-46C1-9381-280D444967BD}" type="slidenum">
              <a:rPr lang="en-GB" sz="1400"/>
            </a:fld>
            <a:endParaRPr lang="en-GB" sz="1400"/>
          </a:p>
        </p:txBody>
      </p:sp>
      <p:pic>
        <p:nvPicPr>
          <p:cNvPr id="512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9410" y="2124710"/>
            <a:ext cx="7037705" cy="3140075"/>
          </a:xfrm>
          <a:noFill/>
        </p:spPr>
      </p:pic>
      <p:sp>
        <p:nvSpPr>
          <p:cNvPr id="2" name="Zone de texte 1"/>
          <p:cNvSpPr txBox="1"/>
          <p:nvPr/>
        </p:nvSpPr>
        <p:spPr>
          <a:xfrm>
            <a:off x="7595235" y="2324735"/>
            <a:ext cx="50336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1). Ecriture des fichiers source *.c</a:t>
            </a:r>
            <a:endParaRPr lang="fr-FR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 de texte 2"/>
          <p:cNvSpPr txBox="1"/>
          <p:nvPr/>
        </p:nvSpPr>
        <p:spPr>
          <a:xfrm>
            <a:off x="7595235" y="3053080"/>
            <a:ext cx="4191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2). Compilation</a:t>
            </a:r>
            <a:endParaRPr lang="fr-FR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7595235" y="3859530"/>
            <a:ext cx="4191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3). Edition des liens</a:t>
            </a:r>
            <a:endParaRPr lang="fr-FR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1919</Words>
  <Application>WPS Presentation</Application>
  <PresentationFormat>Grand écran</PresentationFormat>
  <Paragraphs>73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SimSun</vt:lpstr>
      <vt:lpstr>Wingdings</vt:lpstr>
      <vt:lpstr>Times New Roman</vt:lpstr>
      <vt:lpstr>Tahoma</vt:lpstr>
      <vt:lpstr>Microsoft YaHei</vt:lpstr>
      <vt:lpstr>Arial Unicode MS</vt:lpstr>
      <vt:lpstr>Calibri Light</vt:lpstr>
      <vt:lpstr>Calibri</vt:lpstr>
      <vt:lpstr>Wingdings</vt:lpstr>
      <vt:lpstr>Office Theme</vt:lpstr>
      <vt:lpstr>  Etapes de résolution d’un problème</vt:lpstr>
      <vt:lpstr>  Etapes de résolution d’un problème</vt:lpstr>
      <vt:lpstr>  Etapes de résolution d’un problème</vt:lpstr>
      <vt:lpstr>  Etapes de résolution d’un problème</vt:lpstr>
      <vt:lpstr>  Etapes de résolution d’un problème</vt:lpstr>
      <vt:lpstr>  Etapes de résolution d’un problème</vt:lpstr>
      <vt:lpstr>Comment Créer un programme exécutable 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Halim</dc:creator>
  <cp:lastModifiedBy>FATEN</cp:lastModifiedBy>
  <cp:revision>327</cp:revision>
  <dcterms:created xsi:type="dcterms:W3CDTF">2015-03-06T15:17:00Z</dcterms:created>
  <dcterms:modified xsi:type="dcterms:W3CDTF">2025-05-13T14:09:31Z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1036-12.2.0.20795</vt:lpwstr>
  </property>
  <property fmtid="{D5CDD505-2E9C-101B-9397-08002B2CF9AE}" pid="3" name="ICV">
    <vt:lpwstr>9CFDC2512FD74359932B2A0508388CB2</vt:lpwstr>
  </property>
</Properties>
</file>