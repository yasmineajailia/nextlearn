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3" r:id="rId2"/>
    <p:sldId id="304" r:id="rId3"/>
    <p:sldId id="305" r:id="rId4"/>
    <p:sldId id="306" r:id="rId5"/>
    <p:sldId id="307" r:id="rId6"/>
    <p:sldId id="308" r:id="rId7"/>
    <p:sldId id="35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03"/>
            <p14:sldId id="304"/>
            <p14:sldId id="305"/>
            <p14:sldId id="306"/>
            <p14:sldId id="307"/>
            <p14:sldId id="308"/>
            <p14:sldId id="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906EBB-3030-0177-2E99-FC2914A51B64}" v="1" dt="2025-05-13T14:36:08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0" y="48"/>
      </p:cViewPr>
      <p:guideLst>
        <p:guide orient="horz" pos="2192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en ziadi" userId="S::faten.ziadi@esprit.tn::895ad580-200c-4f92-963f-414781b46c6c" providerId="AD" clId="Web-{B8906EBB-3030-0177-2E99-FC2914A51B64}"/>
    <pc:docChg chg="delSld modSection">
      <pc:chgData name="faten ziadi" userId="S::faten.ziadi@esprit.tn::895ad580-200c-4f92-963f-414781b46c6c" providerId="AD" clId="Web-{B8906EBB-3030-0177-2E99-FC2914A51B64}" dt="2025-05-13T14:36:08.410" v="0"/>
      <pc:docMkLst>
        <pc:docMk/>
      </pc:docMkLst>
      <pc:sldChg chg="del">
        <pc:chgData name="faten ziadi" userId="S::faten.ziadi@esprit.tn::895ad580-200c-4f92-963f-414781b46c6c" providerId="AD" clId="Web-{B8906EBB-3030-0177-2E99-FC2914A51B64}" dt="2025-05-13T14:36:08.410" v="0"/>
        <pc:sldMkLst>
          <pc:docMk/>
          <pc:sldMk cId="0" sldId="3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  <a:t>13/05/2025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  <a:t>13/05/2025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  <a:t>13/05/2025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543461" y="660794"/>
            <a:ext cx="8229600" cy="7620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Opérateurs de base</a:t>
            </a:r>
          </a:p>
        </p:txBody>
      </p:sp>
      <p:sp>
        <p:nvSpPr>
          <p:cNvPr id="614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0962809" y="6275294"/>
            <a:ext cx="99162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fld id="{481BE1E0-DFFA-484D-9FBD-5CD5F660415A}" type="slidenum">
              <a:rPr lang="en-US" sz="1400">
                <a:ea typeface="MS PGothic" panose="020B0600070205080204" pitchFamily="34" charset="-128"/>
              </a:rPr>
              <a:t>1</a:t>
            </a:fld>
            <a:endParaRPr lang="en-US" sz="1400" dirty="0">
              <a:ea typeface="MS PGothic" panose="020B0600070205080204" pitchFamily="34" charset="-128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838200" y="1550893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fr-FR" b="1" dirty="0"/>
              <a:t>Opérateurs arithmétiques :</a:t>
            </a:r>
            <a:r>
              <a:rPr lang="fr-FR" sz="1000" b="1" dirty="0"/>
              <a:t>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fr-FR" sz="1000" b="1" dirty="0">
              <a:solidFill>
                <a:srgbClr val="A50021"/>
              </a:solidFill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85800" y="1703293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endParaRPr lang="fr-FR" sz="2000" b="1" dirty="0">
              <a:solidFill>
                <a:srgbClr val="A50021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A50021"/>
                </a:solidFill>
              </a:rPr>
              <a:t>+</a:t>
            </a:r>
            <a:r>
              <a:rPr lang="fr-FR" sz="2000" dirty="0">
                <a:solidFill>
                  <a:srgbClr val="A50021"/>
                </a:solidFill>
              </a:rPr>
              <a:t> : addition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>
                <a:solidFill>
                  <a:srgbClr val="006666"/>
                </a:solidFill>
                <a:sym typeface="Wingdings" panose="05000000000000000000" pitchFamily="2" charset="2"/>
              </a:rPr>
              <a:t> a + b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6666"/>
              </a:solidFill>
              <a:sym typeface="Wingdings" panose="05000000000000000000" pitchFamily="2" charset="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143000" y="2693893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2000" b="1">
                <a:solidFill>
                  <a:srgbClr val="A50021"/>
                </a:solidFill>
              </a:rPr>
              <a:t>-</a:t>
            </a:r>
            <a:r>
              <a:rPr lang="fr-FR" sz="2000">
                <a:solidFill>
                  <a:srgbClr val="A50021"/>
                </a:solidFill>
              </a:rPr>
              <a:t>  : soustraction</a:t>
            </a:r>
            <a:r>
              <a:rPr lang="fr-FR" sz="2000">
                <a:solidFill>
                  <a:srgbClr val="FF0000"/>
                </a:solidFill>
              </a:rPr>
              <a:t> </a:t>
            </a:r>
            <a:r>
              <a:rPr lang="fr-FR" sz="2000">
                <a:solidFill>
                  <a:srgbClr val="006666"/>
                </a:solidFill>
                <a:sym typeface="Wingdings" panose="05000000000000000000" pitchFamily="2" charset="2"/>
              </a:rPr>
              <a:t> a – b</a:t>
            </a:r>
            <a:endParaRPr lang="fr-FR" sz="2600">
              <a:solidFill>
                <a:srgbClr val="006666"/>
              </a:solidFill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685800" y="3074893"/>
            <a:ext cx="7086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6666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A50021"/>
                </a:solidFill>
              </a:rPr>
              <a:t>*</a:t>
            </a:r>
            <a:r>
              <a:rPr lang="fr-FR" sz="2000" dirty="0">
                <a:solidFill>
                  <a:srgbClr val="A50021"/>
                </a:solidFill>
              </a:rPr>
              <a:t> : multiplication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>
                <a:solidFill>
                  <a:srgbClr val="006666"/>
                </a:solidFill>
                <a:sym typeface="Wingdings" panose="05000000000000000000" pitchFamily="2" charset="2"/>
              </a:rPr>
              <a:t> a * b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endParaRPr lang="fr-FR" sz="2000" dirty="0">
              <a:solidFill>
                <a:srgbClr val="006666"/>
              </a:solidFill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685800" y="3760693"/>
            <a:ext cx="7086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endParaRPr lang="fr-FR" sz="2000">
              <a:solidFill>
                <a:srgbClr val="006666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2000" b="1">
                <a:solidFill>
                  <a:srgbClr val="A50021"/>
                </a:solidFill>
              </a:rPr>
              <a:t>/</a:t>
            </a:r>
            <a:r>
              <a:rPr lang="fr-FR" sz="2000">
                <a:solidFill>
                  <a:srgbClr val="A50021"/>
                </a:solidFill>
              </a:rPr>
              <a:t> : division (entière et rationnelle)</a:t>
            </a:r>
            <a:r>
              <a:rPr lang="fr-FR" sz="2000">
                <a:solidFill>
                  <a:srgbClr val="FF0000"/>
                </a:solidFill>
              </a:rPr>
              <a:t> </a:t>
            </a:r>
            <a:r>
              <a:rPr lang="fr-FR" sz="2000">
                <a:solidFill>
                  <a:srgbClr val="006666"/>
                </a:solidFill>
                <a:sym typeface="Wingdings" panose="05000000000000000000" pitchFamily="2" charset="2"/>
              </a:rPr>
              <a:t> a / b</a:t>
            </a:r>
            <a:endParaRPr lang="en-US" sz="2000">
              <a:solidFill>
                <a:srgbClr val="3366CC"/>
              </a:solidFill>
            </a:endParaRP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</a:pPr>
            <a:endParaRPr lang="fr-FR" sz="1800">
              <a:solidFill>
                <a:srgbClr val="3366CC"/>
              </a:solidFill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762000" y="4294093"/>
            <a:ext cx="7086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endParaRPr lang="fr-FR" sz="1000" dirty="0">
              <a:solidFill>
                <a:srgbClr val="006666"/>
              </a:solidFill>
            </a:endParaRP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</a:pPr>
            <a:r>
              <a:rPr lang="fr-FR" sz="1800" dirty="0">
                <a:solidFill>
                  <a:srgbClr val="3366CC"/>
                </a:solidFill>
              </a:rPr>
              <a:t>Si a et b sont des entiers (a = 7; b = 2)  a / b donne 3</a:t>
            </a: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</a:pPr>
            <a:r>
              <a:rPr lang="fr-FR" sz="1800" dirty="0">
                <a:solidFill>
                  <a:srgbClr val="3366CC"/>
                </a:solidFill>
              </a:rPr>
              <a:t>Si a ou b est un réel (a = 7; b = 2.0) a / b donne 3.5</a:t>
            </a: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</a:pPr>
            <a:endParaRPr lang="fr-FR" sz="1800" dirty="0">
              <a:solidFill>
                <a:srgbClr val="3366CC"/>
              </a:solidFill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685800" y="5360893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fr-FR" sz="400" dirty="0"/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A50021"/>
                </a:solidFill>
              </a:rPr>
              <a:t>%</a:t>
            </a:r>
            <a:r>
              <a:rPr lang="fr-FR" sz="2000" dirty="0">
                <a:solidFill>
                  <a:srgbClr val="A50021"/>
                </a:solidFill>
              </a:rPr>
              <a:t> : modulo  (reste de la division entière)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>
                <a:solidFill>
                  <a:srgbClr val="006666"/>
                </a:solidFill>
                <a:sym typeface="Wingdings" panose="05000000000000000000" pitchFamily="2" charset="2"/>
              </a:rPr>
              <a:t> a % b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endParaRPr lang="fr-FR" sz="2000" dirty="0">
              <a:solidFill>
                <a:srgbClr val="A50021"/>
              </a:solidFill>
              <a:sym typeface="Wingdings" panose="05000000000000000000" pitchFamily="2" charset="2"/>
            </a:endParaRP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762000" y="5665693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endParaRPr lang="fr-FR" sz="1000">
              <a:solidFill>
                <a:srgbClr val="006666"/>
              </a:solidFill>
            </a:endParaRP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</a:pPr>
            <a:r>
              <a:rPr lang="fr-FR" sz="1800">
                <a:solidFill>
                  <a:srgbClr val="3366CC"/>
                </a:solidFill>
              </a:rPr>
              <a:t>a = 7; b = 2  alors a % b donne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192306" y="610629"/>
            <a:ext cx="8229600" cy="7620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Opérateurs de base</a:t>
            </a:r>
          </a:p>
        </p:txBody>
      </p:sp>
      <p:sp>
        <p:nvSpPr>
          <p:cNvPr id="614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0962809" y="6275294"/>
            <a:ext cx="99162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fld id="{481BE1E0-DFFA-484D-9FBD-5CD5F660415A}" type="slidenum">
              <a:rPr lang="en-US" sz="1400">
                <a:ea typeface="MS PGothic" panose="020B0600070205080204" pitchFamily="34" charset="-128"/>
              </a:rPr>
              <a:t>2</a:t>
            </a:fld>
            <a:endParaRPr lang="en-US" sz="1400" dirty="0">
              <a:ea typeface="MS PGothic" panose="020B0600070205080204" pitchFamily="34" charset="-128"/>
            </a:endParaRPr>
          </a:p>
        </p:txBody>
      </p:sp>
      <p:sp>
        <p:nvSpPr>
          <p:cNvPr id="1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744070" y="1220230"/>
            <a:ext cx="9031941" cy="282733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fr-FR" sz="1800" b="1" dirty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fr-FR" b="1" dirty="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1800" b="1" dirty="0">
                <a:solidFill>
                  <a:srgbClr val="A50021"/>
                </a:solidFill>
              </a:rPr>
              <a:t>&amp;&amp;</a:t>
            </a:r>
            <a:r>
              <a:rPr lang="fr-FR" sz="1800" dirty="0">
                <a:solidFill>
                  <a:srgbClr val="A50021"/>
                </a:solidFill>
              </a:rPr>
              <a:t> : et logique (AND)</a:t>
            </a: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endParaRPr lang="fr-FR" sz="1800" dirty="0">
              <a:solidFill>
                <a:srgbClr val="A50021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1800" b="1" dirty="0">
                <a:solidFill>
                  <a:srgbClr val="A50021"/>
                </a:solidFill>
              </a:rPr>
              <a:t>||</a:t>
            </a:r>
            <a:r>
              <a:rPr lang="fr-FR" sz="1800" dirty="0">
                <a:solidFill>
                  <a:srgbClr val="A50021"/>
                </a:solidFill>
              </a:rPr>
              <a:t> : ou logique (OR)</a:t>
            </a: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endParaRPr lang="fr-FR" sz="1800" dirty="0">
              <a:solidFill>
                <a:srgbClr val="A50021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sz="1800" b="1" dirty="0">
                <a:solidFill>
                  <a:srgbClr val="A50021"/>
                </a:solidFill>
              </a:rPr>
              <a:t>! </a:t>
            </a:r>
            <a:r>
              <a:rPr lang="fr-FR" sz="1800" dirty="0">
                <a:solidFill>
                  <a:srgbClr val="A50021"/>
                </a:solidFill>
              </a:rPr>
              <a:t>: négation (NOT)</a:t>
            </a:r>
          </a:p>
        </p:txBody>
      </p:sp>
      <p:graphicFrame>
        <p:nvGraphicFramePr>
          <p:cNvPr id="20" name="Group 4"/>
          <p:cNvGraphicFramePr>
            <a:graphicFrameLocks noGrp="1"/>
          </p:cNvGraphicFramePr>
          <p:nvPr>
            <p:ph sz="half" idx="4294967295"/>
          </p:nvPr>
        </p:nvGraphicFramePr>
        <p:xfrm>
          <a:off x="4401670" y="1611500"/>
          <a:ext cx="3962400" cy="204479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87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a &amp;&amp; b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a || b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anose="020B0604030504040204" pitchFamily="34" charset="0"/>
                        </a:rPr>
                        <a:t>! a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  <a:endParaRPr kumimoji="0" lang="fr-FR" sz="2000" b="0" i="0" u="none" strike="noStrike" cap="none" normalizeH="0" baseline="0">
                        <a:ln>
                          <a:noFill/>
                        </a:ln>
                        <a:solidFill>
                          <a:srgbClr val="006666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kumimoji="0" lang="fr-FR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angle 42"/>
          <p:cNvSpPr>
            <a:spLocks noChangeArrowheads="1"/>
          </p:cNvSpPr>
          <p:nvPr/>
        </p:nvSpPr>
        <p:spPr bwMode="auto">
          <a:xfrm>
            <a:off x="838200" y="4343400"/>
            <a:ext cx="11353800" cy="174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fr-FR" b="1" dirty="0">
                <a:solidFill>
                  <a:srgbClr val="C00000"/>
                </a:solidFill>
              </a:rPr>
              <a:t>Pas de type booléen en C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opérateurs logiques considèrent toute valeur </a:t>
            </a:r>
            <a:r>
              <a:rPr lang="fr-FR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différente de zéro</a:t>
            </a: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 </a:t>
            </a:r>
            <a:r>
              <a:rPr lang="fr-FR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vrai</a:t>
            </a: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zéro</a:t>
            </a:r>
            <a:r>
              <a:rPr lang="fr-FR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 </a:t>
            </a:r>
            <a:r>
              <a:rPr lang="fr-FR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faux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400" dirty="0"/>
              <a:t>	</a:t>
            </a:r>
            <a:r>
              <a:rPr lang="fr-FR" sz="1800" dirty="0">
                <a:solidFill>
                  <a:srgbClr val="A50021"/>
                </a:solidFill>
              </a:rPr>
              <a:t>(4 &lt; 10)		</a:t>
            </a:r>
            <a:r>
              <a:rPr lang="fr-FR" sz="1800" b="1" dirty="0">
                <a:solidFill>
                  <a:schemeClr val="tx2"/>
                </a:solidFill>
              </a:rPr>
              <a:t>1 (vrai)</a:t>
            </a:r>
          </a:p>
          <a:p>
            <a:pPr lvl="4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1800" dirty="0">
                <a:solidFill>
                  <a:srgbClr val="A50021"/>
                </a:solidFill>
              </a:rPr>
              <a:t>	!(5 &gt; 1)		</a:t>
            </a:r>
            <a:r>
              <a:rPr lang="fr-FR" sz="1800" b="1" dirty="0">
                <a:solidFill>
                  <a:srgbClr val="00B050"/>
                </a:solidFill>
              </a:rPr>
              <a:t>0 (faux)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</a:t>
            </a: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Opérateurs ( Opérateurs de comparaison 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Opérateurs de comparaison : </a:t>
            </a:r>
            <a:r>
              <a:rPr lang="fr-FR" sz="2200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(1: vrai ou 0: faux)</a:t>
            </a:r>
          </a:p>
          <a:p>
            <a:pPr>
              <a:lnSpc>
                <a:spcPct val="80000"/>
              </a:lnSpc>
              <a:buNone/>
            </a:pPr>
            <a:endParaRPr lang="fr-FR" sz="1400" b="1" dirty="0"/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A50021"/>
                </a:solidFill>
              </a:rPr>
              <a:t>==</a:t>
            </a:r>
            <a:r>
              <a:rPr lang="fr-FR" dirty="0">
                <a:solidFill>
                  <a:srgbClr val="A50021"/>
                </a:solidFill>
              </a:rPr>
              <a:t> : égal à</a:t>
            </a:r>
            <a:r>
              <a:rPr lang="fr-FR" dirty="0">
                <a:solidFill>
                  <a:srgbClr val="CC3300"/>
                </a:solidFill>
              </a:rPr>
              <a:t> </a:t>
            </a:r>
            <a:r>
              <a:rPr lang="fr-FR" dirty="0">
                <a:solidFill>
                  <a:srgbClr val="006666"/>
                </a:solidFill>
                <a:sym typeface="Wingdings" panose="05000000000000000000" pitchFamily="2" charset="2"/>
              </a:rPr>
              <a:t> a == b</a:t>
            </a:r>
          </a:p>
          <a:p>
            <a:pPr lvl="1">
              <a:lnSpc>
                <a:spcPct val="80000"/>
              </a:lnSpc>
              <a:buClr>
                <a:srgbClr val="A50021"/>
              </a:buClr>
              <a:buNone/>
            </a:pPr>
            <a:endParaRPr lang="fr-FR" sz="1400" dirty="0">
              <a:solidFill>
                <a:srgbClr val="CC3300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A50021"/>
                </a:solidFill>
              </a:rPr>
              <a:t>!=</a:t>
            </a:r>
            <a:r>
              <a:rPr lang="fr-FR" dirty="0">
                <a:solidFill>
                  <a:srgbClr val="A50021"/>
                </a:solidFill>
              </a:rPr>
              <a:t> : différent de</a:t>
            </a:r>
            <a:r>
              <a:rPr lang="fr-FR" dirty="0">
                <a:solidFill>
                  <a:srgbClr val="CC3300"/>
                </a:solidFill>
              </a:rPr>
              <a:t> </a:t>
            </a:r>
            <a:r>
              <a:rPr lang="fr-FR" dirty="0">
                <a:solidFill>
                  <a:srgbClr val="006666"/>
                </a:solidFill>
                <a:sym typeface="Wingdings" panose="05000000000000000000" pitchFamily="2" charset="2"/>
              </a:rPr>
              <a:t> a != b</a:t>
            </a: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CC3300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A50021"/>
                </a:solidFill>
              </a:rPr>
              <a:t>&lt;</a:t>
            </a:r>
            <a:r>
              <a:rPr lang="fr-FR" dirty="0">
                <a:solidFill>
                  <a:srgbClr val="A50021"/>
                </a:solidFill>
              </a:rPr>
              <a:t> : strictement inférieur</a:t>
            </a:r>
            <a:r>
              <a:rPr lang="fr-FR" dirty="0">
                <a:solidFill>
                  <a:srgbClr val="CC3300"/>
                </a:solidFill>
              </a:rPr>
              <a:t> </a:t>
            </a:r>
            <a:r>
              <a:rPr lang="fr-FR" dirty="0">
                <a:solidFill>
                  <a:srgbClr val="006666"/>
                </a:solidFill>
                <a:sym typeface="Wingdings" panose="05000000000000000000" pitchFamily="2" charset="2"/>
              </a:rPr>
              <a:t> a &lt; b</a:t>
            </a: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CC3300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A50021"/>
                </a:solidFill>
              </a:rPr>
              <a:t>&lt;=</a:t>
            </a:r>
            <a:r>
              <a:rPr lang="fr-FR" dirty="0">
                <a:solidFill>
                  <a:srgbClr val="A50021"/>
                </a:solidFill>
              </a:rPr>
              <a:t> : inférieur ou égal</a:t>
            </a:r>
            <a:r>
              <a:rPr lang="fr-FR" dirty="0">
                <a:solidFill>
                  <a:srgbClr val="CC3300"/>
                </a:solidFill>
              </a:rPr>
              <a:t> </a:t>
            </a:r>
            <a:r>
              <a:rPr lang="fr-FR" dirty="0">
                <a:solidFill>
                  <a:srgbClr val="006666"/>
                </a:solidFill>
                <a:sym typeface="Wingdings" panose="05000000000000000000" pitchFamily="2" charset="2"/>
              </a:rPr>
              <a:t> a &lt;= b</a:t>
            </a: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CC3300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A50021"/>
                </a:solidFill>
              </a:rPr>
              <a:t>&gt; </a:t>
            </a:r>
            <a:r>
              <a:rPr lang="fr-FR" dirty="0">
                <a:solidFill>
                  <a:srgbClr val="A50021"/>
                </a:solidFill>
              </a:rPr>
              <a:t>: strictement supérieur</a:t>
            </a:r>
            <a:r>
              <a:rPr lang="fr-FR" dirty="0">
                <a:solidFill>
                  <a:srgbClr val="CC3300"/>
                </a:solidFill>
              </a:rPr>
              <a:t> </a:t>
            </a:r>
            <a:r>
              <a:rPr lang="fr-FR" dirty="0">
                <a:solidFill>
                  <a:srgbClr val="006666"/>
                </a:solidFill>
                <a:sym typeface="Wingdings" panose="05000000000000000000" pitchFamily="2" charset="2"/>
              </a:rPr>
              <a:t> a &gt; b</a:t>
            </a: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endParaRPr lang="fr-FR" sz="1400" dirty="0">
              <a:solidFill>
                <a:srgbClr val="CC3300"/>
              </a:solidFill>
            </a:endParaRPr>
          </a:p>
          <a:p>
            <a:pPr lvl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A50021"/>
                </a:solidFill>
              </a:rPr>
              <a:t>&gt;=</a:t>
            </a:r>
            <a:r>
              <a:rPr lang="fr-FR" dirty="0">
                <a:solidFill>
                  <a:srgbClr val="A50021"/>
                </a:solidFill>
              </a:rPr>
              <a:t> : supérieur ou égal</a:t>
            </a:r>
            <a:r>
              <a:rPr lang="fr-FR" dirty="0">
                <a:solidFill>
                  <a:srgbClr val="CC3300"/>
                </a:solidFill>
              </a:rPr>
              <a:t> </a:t>
            </a:r>
            <a:r>
              <a:rPr lang="fr-FR" dirty="0">
                <a:solidFill>
                  <a:srgbClr val="006666"/>
                </a:solidFill>
                <a:sym typeface="Wingdings" panose="05000000000000000000" pitchFamily="2" charset="2"/>
              </a:rPr>
              <a:t> a &gt;= b</a:t>
            </a:r>
            <a:endParaRPr lang="fr-FR" dirty="0">
              <a:solidFill>
                <a:srgbClr val="CC3300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</a:t>
            </a: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Opérateurs ( Opérateurs d’affectation 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12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986118" y="1564810"/>
            <a:ext cx="7772400" cy="76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Affectation simple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sz="2400" dirty="0">
                <a:solidFill>
                  <a:srgbClr val="A50021"/>
                </a:solidFill>
              </a:rPr>
              <a:t>	</a:t>
            </a:r>
            <a:r>
              <a:rPr lang="fr-FR" sz="2400" dirty="0" err="1">
                <a:solidFill>
                  <a:srgbClr val="A50021"/>
                </a:solidFill>
              </a:rPr>
              <a:t>int</a:t>
            </a:r>
            <a:r>
              <a:rPr lang="fr-FR" sz="2400" dirty="0">
                <a:solidFill>
                  <a:srgbClr val="A50021"/>
                </a:solidFill>
              </a:rPr>
              <a:t> x; 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sz="2400" dirty="0">
                <a:solidFill>
                  <a:srgbClr val="A50021"/>
                </a:solidFill>
              </a:rPr>
              <a:t>    x = 4;</a:t>
            </a:r>
            <a:endParaRPr lang="fr-FR" sz="2400" i="1" dirty="0">
              <a:solidFill>
                <a:srgbClr val="A5002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26"/>
          <p:cNvGrpSpPr/>
          <p:nvPr/>
        </p:nvGrpSpPr>
        <p:grpSpPr bwMode="auto">
          <a:xfrm>
            <a:off x="986118" y="4891088"/>
            <a:ext cx="7019925" cy="1219200"/>
            <a:chOff x="576" y="2592"/>
            <a:chExt cx="4422" cy="768"/>
          </a:xfrm>
        </p:grpSpPr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>
              <a:off x="3120" y="2880"/>
              <a:ext cx="336" cy="192"/>
            </a:xfrm>
            <a:prstGeom prst="leftRightArrow">
              <a:avLst>
                <a:gd name="adj1" fmla="val 50000"/>
                <a:gd name="adj2" fmla="val 35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576" y="2592"/>
              <a:ext cx="2688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Ø"/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Affectation </a:t>
              </a:r>
              <a:r>
                <a:rPr lang="fr-F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ée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</a:pPr>
              <a:r>
                <a:rPr lang="fr-FR" b="1" dirty="0"/>
                <a:t>	 </a:t>
              </a:r>
              <a:r>
                <a:rPr lang="fr-FR" b="1" i="1" dirty="0">
                  <a:solidFill>
                    <a:srgbClr val="C00000"/>
                  </a:solidFill>
                </a:rPr>
                <a:t>var1</a:t>
              </a:r>
              <a:r>
                <a:rPr lang="fr-FR" i="1" dirty="0">
                  <a:solidFill>
                    <a:srgbClr val="C00000"/>
                  </a:solidFill>
                </a:rPr>
                <a:t> </a:t>
              </a:r>
              <a:r>
                <a:rPr lang="fr-FR" i="1" dirty="0">
                  <a:solidFill>
                    <a:srgbClr val="006666"/>
                  </a:solidFill>
                </a:rPr>
                <a:t>= (</a:t>
              </a:r>
              <a:r>
                <a:rPr lang="fr-FR" b="1" i="1" dirty="0">
                  <a:solidFill>
                    <a:srgbClr val="C00000"/>
                  </a:solidFill>
                </a:rPr>
                <a:t>var1</a:t>
              </a:r>
              <a:r>
                <a:rPr lang="fr-FR" i="1" dirty="0">
                  <a:solidFill>
                    <a:srgbClr val="006666"/>
                  </a:solidFill>
                </a:rPr>
                <a:t>) </a:t>
              </a:r>
              <a:r>
                <a:rPr lang="fr-FR" b="1" i="1" dirty="0"/>
                <a:t>op</a:t>
              </a:r>
              <a:r>
                <a:rPr lang="fr-FR" i="1" dirty="0">
                  <a:solidFill>
                    <a:srgbClr val="006666"/>
                  </a:solidFill>
                </a:rPr>
                <a:t> (</a:t>
              </a:r>
              <a:r>
                <a:rPr lang="fr-FR" b="1" i="1" dirty="0">
                  <a:solidFill>
                    <a:schemeClr val="accent1">
                      <a:lumMod val="50000"/>
                    </a:schemeClr>
                  </a:solidFill>
                </a:rPr>
                <a:t>var2</a:t>
              </a:r>
              <a:r>
                <a:rPr lang="fr-FR" i="1" dirty="0">
                  <a:solidFill>
                    <a:srgbClr val="006666"/>
                  </a:solidFill>
                </a:rPr>
                <a:t>) </a:t>
              </a:r>
              <a:endParaRPr lang="fr-FR" dirty="0">
                <a:solidFill>
                  <a:srgbClr val="A50021"/>
                </a:solidFill>
              </a:endParaRPr>
            </a:p>
          </p:txBody>
        </p:sp>
        <p:sp>
          <p:nvSpPr>
            <p:cNvPr id="16" name="Rectangle 29"/>
            <p:cNvSpPr>
              <a:spLocks noChangeArrowheads="1"/>
            </p:cNvSpPr>
            <p:nvPr/>
          </p:nvSpPr>
          <p:spPr bwMode="auto">
            <a:xfrm>
              <a:off x="3621" y="2803"/>
              <a:ext cx="137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fr-FR" b="1" i="1" dirty="0">
                  <a:solidFill>
                    <a:srgbClr val="C00000"/>
                  </a:solidFill>
                </a:rPr>
                <a:t>var1</a:t>
              </a:r>
              <a:r>
                <a:rPr lang="fr-FR" i="1" dirty="0">
                  <a:solidFill>
                    <a:srgbClr val="006666"/>
                  </a:solidFill>
                </a:rPr>
                <a:t> </a:t>
              </a:r>
              <a:r>
                <a:rPr lang="fr-FR" b="1" i="1" dirty="0"/>
                <a:t>op</a:t>
              </a:r>
              <a:r>
                <a:rPr lang="fr-FR" i="1" dirty="0">
                  <a:solidFill>
                    <a:srgbClr val="006666"/>
                  </a:solidFill>
                </a:rPr>
                <a:t>= </a:t>
              </a:r>
              <a:r>
                <a:rPr lang="fr-FR" b="1" i="1" dirty="0">
                  <a:solidFill>
                    <a:schemeClr val="accent1">
                      <a:lumMod val="50000"/>
                    </a:schemeClr>
                  </a:solidFill>
                </a:rPr>
                <a:t>var2</a:t>
              </a:r>
            </a:p>
          </p:txBody>
        </p:sp>
      </p:grpSp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986118" y="2909888"/>
            <a:ext cx="7772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Affectation simple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A50021"/>
                </a:solidFill>
              </a:rPr>
              <a:t>	</a:t>
            </a:r>
            <a:r>
              <a:rPr lang="fr-FR" dirty="0" err="1">
                <a:solidFill>
                  <a:srgbClr val="A50021"/>
                </a:solidFill>
              </a:rPr>
              <a:t>int</a:t>
            </a:r>
            <a:r>
              <a:rPr lang="fr-FR" dirty="0">
                <a:solidFill>
                  <a:srgbClr val="A50021"/>
                </a:solidFill>
              </a:rPr>
              <a:t> x; 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A50021"/>
                </a:solidFill>
              </a:rPr>
              <a:t>	x = 2; 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A50021"/>
                </a:solidFill>
              </a:rPr>
              <a:t>	</a:t>
            </a:r>
            <a:r>
              <a:rPr lang="fr-FR" b="1" dirty="0">
                <a:solidFill>
                  <a:srgbClr val="A50021"/>
                </a:solidFill>
              </a:rPr>
              <a:t>x = x + 1;</a:t>
            </a:r>
            <a:endParaRPr lang="fr-FR" b="1" i="1" dirty="0">
              <a:solidFill>
                <a:srgbClr val="A50021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30"/>
          <p:cNvGrpSpPr/>
          <p:nvPr/>
        </p:nvGrpSpPr>
        <p:grpSpPr bwMode="auto">
          <a:xfrm>
            <a:off x="3560300" y="5847556"/>
            <a:ext cx="3995636" cy="525463"/>
            <a:chOff x="984" y="3221"/>
            <a:chExt cx="2232" cy="331"/>
          </a:xfrm>
        </p:grpSpPr>
        <p:sp>
          <p:nvSpPr>
            <p:cNvPr id="19" name="AutoShape 31"/>
            <p:cNvSpPr>
              <a:spLocks noChangeArrowheads="1"/>
            </p:cNvSpPr>
            <p:nvPr/>
          </p:nvSpPr>
          <p:spPr bwMode="auto">
            <a:xfrm>
              <a:off x="1776" y="3312"/>
              <a:ext cx="336" cy="192"/>
            </a:xfrm>
            <a:prstGeom prst="leftRightArrow">
              <a:avLst>
                <a:gd name="adj1" fmla="val 50000"/>
                <a:gd name="adj2" fmla="val 35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0" name="Rectangle 32"/>
            <p:cNvSpPr>
              <a:spLocks noChangeArrowheads="1"/>
            </p:cNvSpPr>
            <p:nvPr/>
          </p:nvSpPr>
          <p:spPr bwMode="auto">
            <a:xfrm>
              <a:off x="2352" y="3264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</a:pPr>
              <a:r>
                <a:rPr lang="fr-FR" dirty="0">
                  <a:solidFill>
                    <a:srgbClr val="A50021"/>
                  </a:solidFill>
                </a:rPr>
                <a:t>i </a:t>
              </a:r>
              <a:r>
                <a:rPr lang="fr-FR" b="1" dirty="0"/>
                <a:t>+</a:t>
              </a:r>
              <a:r>
                <a:rPr lang="fr-FR" dirty="0">
                  <a:solidFill>
                    <a:srgbClr val="00B050"/>
                  </a:solidFill>
                </a:rPr>
                <a:t>=</a:t>
              </a:r>
              <a:r>
                <a:rPr lang="fr-FR" dirty="0">
                  <a:solidFill>
                    <a:srgbClr val="A50021"/>
                  </a:solidFill>
                </a:rPr>
                <a:t> </a:t>
              </a:r>
              <a:r>
                <a:rPr lang="fr-FR" b="1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r>
                <a:rPr lang="fr-FR" dirty="0">
                  <a:solidFill>
                    <a:srgbClr val="A50021"/>
                  </a:solidFill>
                </a:rPr>
                <a:t> ;</a:t>
              </a:r>
            </a:p>
          </p:txBody>
        </p:sp>
        <p:sp>
          <p:nvSpPr>
            <p:cNvPr id="21" name="Rectangle 33"/>
            <p:cNvSpPr>
              <a:spLocks noChangeArrowheads="1"/>
            </p:cNvSpPr>
            <p:nvPr/>
          </p:nvSpPr>
          <p:spPr bwMode="auto">
            <a:xfrm>
              <a:off x="984" y="3221"/>
              <a:ext cx="110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fr-FR" dirty="0">
                  <a:solidFill>
                    <a:srgbClr val="A50021"/>
                  </a:solidFill>
                </a:rPr>
                <a:t>i </a:t>
              </a:r>
              <a:r>
                <a:rPr lang="fr-FR" dirty="0">
                  <a:solidFill>
                    <a:srgbClr val="00B050"/>
                  </a:solidFill>
                </a:rPr>
                <a:t>=</a:t>
              </a:r>
              <a:r>
                <a:rPr lang="fr-FR" dirty="0">
                  <a:solidFill>
                    <a:srgbClr val="A50021"/>
                  </a:solidFill>
                </a:rPr>
                <a:t> i </a:t>
              </a:r>
              <a:r>
                <a:rPr lang="fr-FR" b="1" dirty="0"/>
                <a:t>+</a:t>
              </a:r>
              <a:r>
                <a:rPr lang="fr-FR" dirty="0">
                  <a:solidFill>
                    <a:srgbClr val="A50021"/>
                  </a:solidFill>
                </a:rPr>
                <a:t> </a:t>
              </a:r>
              <a:r>
                <a:rPr lang="fr-FR" b="1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  <a:r>
                <a:rPr lang="fr-FR" dirty="0">
                  <a:solidFill>
                    <a:srgbClr val="A50021"/>
                  </a:solidFill>
                </a:rPr>
                <a:t>;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</a:t>
            </a: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Opérateurs ( Incréments et décréments )</a:t>
            </a:r>
            <a:b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fr-FR" sz="3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5</a:t>
            </a:fld>
            <a:endParaRPr lang="fr-FR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838200" y="12954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</a:pPr>
            <a:r>
              <a:rPr lang="fr-FR" b="1" dirty="0"/>
              <a:t>Incréments et décréments: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Clr>
                <a:srgbClr val="3366CC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3366CC"/>
                </a:solidFill>
              </a:rPr>
              <a:t>++ </a:t>
            </a:r>
            <a:r>
              <a:rPr lang="fr-FR" sz="2000" dirty="0">
                <a:solidFill>
                  <a:srgbClr val="3366CC"/>
                </a:solidFill>
              </a:rPr>
              <a:t>: augmentation de 1 </a:t>
            </a:r>
          </a:p>
        </p:txBody>
      </p:sp>
      <p:grpSp>
        <p:nvGrpSpPr>
          <p:cNvPr id="3" name="Group 4"/>
          <p:cNvGrpSpPr/>
          <p:nvPr/>
        </p:nvGrpSpPr>
        <p:grpSpPr bwMode="auto">
          <a:xfrm>
            <a:off x="2895600" y="2458384"/>
            <a:ext cx="6208059" cy="769938"/>
            <a:chOff x="1008" y="1248"/>
            <a:chExt cx="3250" cy="485"/>
          </a:xfrm>
        </p:grpSpPr>
        <p:sp>
          <p:nvSpPr>
            <p:cNvPr id="24" name="Text Box 5"/>
            <p:cNvSpPr txBox="1">
              <a:spLocks noChangeArrowheads="1"/>
            </p:cNvSpPr>
            <p:nvPr/>
          </p:nvSpPr>
          <p:spPr bwMode="auto">
            <a:xfrm>
              <a:off x="1008" y="1267"/>
              <a:ext cx="8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A50021"/>
                  </a:solidFill>
                </a:rPr>
                <a:t>y = x++;</a:t>
              </a:r>
              <a:endParaRPr lang="fr-FR" dirty="0">
                <a:solidFill>
                  <a:srgbClr val="A50021"/>
                </a:solidFill>
              </a:endParaRPr>
            </a:p>
          </p:txBody>
        </p:sp>
        <p:sp>
          <p:nvSpPr>
            <p:cNvPr id="25" name="AutoShape 6"/>
            <p:cNvSpPr>
              <a:spLocks noChangeArrowheads="1"/>
            </p:cNvSpPr>
            <p:nvPr/>
          </p:nvSpPr>
          <p:spPr bwMode="auto">
            <a:xfrm>
              <a:off x="2098" y="1315"/>
              <a:ext cx="336" cy="192"/>
            </a:xfrm>
            <a:prstGeom prst="leftRightArrow">
              <a:avLst>
                <a:gd name="adj1" fmla="val 50000"/>
                <a:gd name="adj2" fmla="val 35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26" name="Text Box 7"/>
            <p:cNvSpPr txBox="1">
              <a:spLocks noChangeArrowheads="1"/>
            </p:cNvSpPr>
            <p:nvPr/>
          </p:nvSpPr>
          <p:spPr bwMode="auto">
            <a:xfrm>
              <a:off x="2592" y="1248"/>
              <a:ext cx="1666" cy="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A50021"/>
                  </a:solidFill>
                </a:rPr>
                <a:t>y = x;       x = x+1;</a:t>
              </a:r>
              <a:endParaRPr lang="fr-FR" dirty="0">
                <a:solidFill>
                  <a:srgbClr val="A50021"/>
                </a:solidFill>
              </a:endParaRPr>
            </a:p>
          </p:txBody>
        </p:sp>
      </p:grpSp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762000" y="516367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3366CC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3366CC"/>
                </a:solidFill>
              </a:rPr>
              <a:t>-- </a:t>
            </a:r>
            <a:r>
              <a:rPr lang="fr-FR" sz="2000" dirty="0">
                <a:solidFill>
                  <a:srgbClr val="3366CC"/>
                </a:solidFill>
              </a:rPr>
              <a:t>: diminution de 1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5" name="Group 9"/>
          <p:cNvGrpSpPr/>
          <p:nvPr/>
        </p:nvGrpSpPr>
        <p:grpSpPr bwMode="auto">
          <a:xfrm>
            <a:off x="2899988" y="3158830"/>
            <a:ext cx="5565946" cy="746040"/>
            <a:chOff x="742" y="1584"/>
            <a:chExt cx="3674" cy="576"/>
          </a:xfrm>
        </p:grpSpPr>
        <p:sp>
          <p:nvSpPr>
            <p:cNvPr id="29" name="Text Box 10"/>
            <p:cNvSpPr txBox="1">
              <a:spLocks noChangeArrowheads="1"/>
            </p:cNvSpPr>
            <p:nvPr/>
          </p:nvSpPr>
          <p:spPr bwMode="auto">
            <a:xfrm>
              <a:off x="742" y="1666"/>
              <a:ext cx="900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dirty="0" err="1">
                  <a:solidFill>
                    <a:srgbClr val="FF0000"/>
                  </a:solidFill>
                </a:rPr>
                <a:t>int</a:t>
              </a:r>
              <a:r>
                <a:rPr lang="en-US" dirty="0">
                  <a:solidFill>
                    <a:srgbClr val="FF0000"/>
                  </a:solidFill>
                </a:rPr>
                <a:t> x = 3</a:t>
              </a:r>
              <a:r>
                <a:rPr lang="en-US" dirty="0"/>
                <a:t>;</a:t>
              </a:r>
              <a:endParaRPr lang="fr-FR" dirty="0"/>
            </a:p>
          </p:txBody>
        </p:sp>
        <p:grpSp>
          <p:nvGrpSpPr>
            <p:cNvPr id="6" name="Group 11"/>
            <p:cNvGrpSpPr/>
            <p:nvPr/>
          </p:nvGrpSpPr>
          <p:grpSpPr bwMode="auto">
            <a:xfrm>
              <a:off x="2349" y="1584"/>
              <a:ext cx="2067" cy="576"/>
              <a:chOff x="1581" y="1872"/>
              <a:chExt cx="2067" cy="576"/>
            </a:xfrm>
          </p:grpSpPr>
          <p:grpSp>
            <p:nvGrpSpPr>
              <p:cNvPr id="7" name="Group 12"/>
              <p:cNvGrpSpPr/>
              <p:nvPr/>
            </p:nvGrpSpPr>
            <p:grpSpPr bwMode="auto">
              <a:xfrm>
                <a:off x="1844" y="1872"/>
                <a:ext cx="576" cy="576"/>
                <a:chOff x="1844" y="1680"/>
                <a:chExt cx="576" cy="576"/>
              </a:xfrm>
            </p:grpSpPr>
            <p:sp>
              <p:nvSpPr>
                <p:cNvPr id="40" name="Line 13"/>
                <p:cNvSpPr>
                  <a:spLocks noChangeShapeType="1"/>
                </p:cNvSpPr>
                <p:nvPr/>
              </p:nvSpPr>
              <p:spPr bwMode="auto">
                <a:xfrm>
                  <a:off x="1844" y="1680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fr-FR"/>
                </a:p>
              </p:txBody>
            </p:sp>
            <p:sp>
              <p:nvSpPr>
                <p:cNvPr id="41" name="Line 14"/>
                <p:cNvSpPr>
                  <a:spLocks noChangeShapeType="1"/>
                </p:cNvSpPr>
                <p:nvPr/>
              </p:nvSpPr>
              <p:spPr bwMode="auto">
                <a:xfrm>
                  <a:off x="2420" y="1680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fr-FR"/>
                </a:p>
              </p:txBody>
            </p:sp>
            <p:sp>
              <p:nvSpPr>
                <p:cNvPr id="42" name="Line 15"/>
                <p:cNvSpPr>
                  <a:spLocks noChangeShapeType="1"/>
                </p:cNvSpPr>
                <p:nvPr/>
              </p:nvSpPr>
              <p:spPr bwMode="auto">
                <a:xfrm>
                  <a:off x="1844" y="225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fr-FR"/>
                </a:p>
              </p:txBody>
            </p:sp>
          </p:grpSp>
          <p:grpSp>
            <p:nvGrpSpPr>
              <p:cNvPr id="8" name="Group 16"/>
              <p:cNvGrpSpPr/>
              <p:nvPr/>
            </p:nvGrpSpPr>
            <p:grpSpPr bwMode="auto">
              <a:xfrm>
                <a:off x="3072" y="1872"/>
                <a:ext cx="576" cy="576"/>
                <a:chOff x="1344" y="1680"/>
                <a:chExt cx="576" cy="576"/>
              </a:xfrm>
            </p:grpSpPr>
            <p:sp>
              <p:nvSpPr>
                <p:cNvPr id="37" name="Line 17"/>
                <p:cNvSpPr>
                  <a:spLocks noChangeShapeType="1"/>
                </p:cNvSpPr>
                <p:nvPr/>
              </p:nvSpPr>
              <p:spPr bwMode="auto">
                <a:xfrm>
                  <a:off x="1344" y="1680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fr-FR"/>
                </a:p>
              </p:txBody>
            </p:sp>
            <p:sp>
              <p:nvSpPr>
                <p:cNvPr id="38" name="Line 18"/>
                <p:cNvSpPr>
                  <a:spLocks noChangeShapeType="1"/>
                </p:cNvSpPr>
                <p:nvPr/>
              </p:nvSpPr>
              <p:spPr bwMode="auto">
                <a:xfrm>
                  <a:off x="1920" y="1680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fr-FR"/>
                </a:p>
              </p:txBody>
            </p:sp>
            <p:sp>
              <p:nvSpPr>
                <p:cNvPr id="39" name="Line 19"/>
                <p:cNvSpPr>
                  <a:spLocks noChangeShapeType="1"/>
                </p:cNvSpPr>
                <p:nvPr/>
              </p:nvSpPr>
              <p:spPr bwMode="auto">
                <a:xfrm>
                  <a:off x="1344" y="2256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fr-FR"/>
                </a:p>
              </p:txBody>
            </p:sp>
          </p:grpSp>
          <p:sp>
            <p:nvSpPr>
              <p:cNvPr id="33" name="Text Box 20"/>
              <p:cNvSpPr txBox="1">
                <a:spLocks noChangeArrowheads="1"/>
              </p:cNvSpPr>
              <p:nvPr/>
            </p:nvSpPr>
            <p:spPr bwMode="auto">
              <a:xfrm>
                <a:off x="1581" y="1990"/>
                <a:ext cx="215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dirty="0">
                    <a:solidFill>
                      <a:srgbClr val="FF0000"/>
                    </a:solidFill>
                  </a:rPr>
                  <a:t>y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Text Box 21"/>
              <p:cNvSpPr txBox="1">
                <a:spLocks noChangeArrowheads="1"/>
              </p:cNvSpPr>
              <p:nvPr/>
            </p:nvSpPr>
            <p:spPr bwMode="auto">
              <a:xfrm>
                <a:off x="2064" y="2016"/>
                <a:ext cx="223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dirty="0">
                    <a:solidFill>
                      <a:srgbClr val="FF0000"/>
                    </a:solidFill>
                  </a:rPr>
                  <a:t>3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Text Box 22"/>
              <p:cNvSpPr txBox="1">
                <a:spLocks noChangeArrowheads="1"/>
              </p:cNvSpPr>
              <p:nvPr/>
            </p:nvSpPr>
            <p:spPr bwMode="auto">
              <a:xfrm>
                <a:off x="2840" y="1978"/>
                <a:ext cx="214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Text Box 23"/>
              <p:cNvSpPr txBox="1">
                <a:spLocks noChangeArrowheads="1"/>
              </p:cNvSpPr>
              <p:nvPr/>
            </p:nvSpPr>
            <p:spPr bwMode="auto">
              <a:xfrm>
                <a:off x="3264" y="2016"/>
                <a:ext cx="223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dirty="0">
                    <a:solidFill>
                      <a:srgbClr val="FF0000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9" name="Group 24"/>
          <p:cNvGrpSpPr/>
          <p:nvPr/>
        </p:nvGrpSpPr>
        <p:grpSpPr bwMode="auto">
          <a:xfrm>
            <a:off x="1600200" y="6154270"/>
            <a:ext cx="5181600" cy="457200"/>
            <a:chOff x="1248" y="3408"/>
            <a:chExt cx="3264" cy="288"/>
          </a:xfrm>
        </p:grpSpPr>
        <p:sp>
          <p:nvSpPr>
            <p:cNvPr id="44" name="Text Box 25"/>
            <p:cNvSpPr txBox="1">
              <a:spLocks noChangeArrowheads="1"/>
            </p:cNvSpPr>
            <p:nvPr/>
          </p:nvSpPr>
          <p:spPr bwMode="auto">
            <a:xfrm>
              <a:off x="1248" y="3427"/>
              <a:ext cx="8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A50021"/>
                  </a:solidFill>
                </a:rPr>
                <a:t>y = x--;</a:t>
              </a:r>
              <a:endParaRPr lang="fr-FR">
                <a:solidFill>
                  <a:srgbClr val="A50021"/>
                </a:solidFill>
              </a:endParaRPr>
            </a:p>
          </p:txBody>
        </p:sp>
        <p:sp>
          <p:nvSpPr>
            <p:cNvPr id="45" name="AutoShape 26"/>
            <p:cNvSpPr>
              <a:spLocks noChangeArrowheads="1"/>
            </p:cNvSpPr>
            <p:nvPr/>
          </p:nvSpPr>
          <p:spPr bwMode="auto">
            <a:xfrm>
              <a:off x="2352" y="3475"/>
              <a:ext cx="336" cy="192"/>
            </a:xfrm>
            <a:prstGeom prst="leftRightArrow">
              <a:avLst>
                <a:gd name="adj1" fmla="val 50000"/>
                <a:gd name="adj2" fmla="val 35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46" name="Text Box 27"/>
            <p:cNvSpPr txBox="1">
              <a:spLocks noChangeArrowheads="1"/>
            </p:cNvSpPr>
            <p:nvPr/>
          </p:nvSpPr>
          <p:spPr bwMode="auto">
            <a:xfrm>
              <a:off x="2846" y="3408"/>
              <a:ext cx="166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A50021"/>
                  </a:solidFill>
                </a:rPr>
                <a:t>y = x; x = x-1;</a:t>
              </a:r>
              <a:endParaRPr lang="fr-FR" dirty="0">
                <a:solidFill>
                  <a:srgbClr val="A50021"/>
                </a:solidFill>
              </a:endParaRPr>
            </a:p>
          </p:txBody>
        </p:sp>
      </p:grpSp>
      <p:sp>
        <p:nvSpPr>
          <p:cNvPr id="47" name="Text Box 29"/>
          <p:cNvSpPr txBox="1">
            <a:spLocks noChangeArrowheads="1"/>
          </p:cNvSpPr>
          <p:nvPr/>
        </p:nvSpPr>
        <p:spPr bwMode="auto">
          <a:xfrm>
            <a:off x="4697412" y="1757937"/>
            <a:ext cx="14255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A50021"/>
                </a:solidFill>
              </a:rPr>
              <a:t>x++;</a:t>
            </a:r>
            <a:endParaRPr lang="fr-FR" dirty="0">
              <a:solidFill>
                <a:srgbClr val="A50021"/>
              </a:solidFill>
            </a:endParaRPr>
          </a:p>
        </p:txBody>
      </p:sp>
      <p:sp>
        <p:nvSpPr>
          <p:cNvPr id="48" name="AutoShape 30"/>
          <p:cNvSpPr>
            <a:spLocks noChangeArrowheads="1"/>
          </p:cNvSpPr>
          <p:nvPr/>
        </p:nvSpPr>
        <p:spPr bwMode="auto">
          <a:xfrm>
            <a:off x="6427787" y="1834137"/>
            <a:ext cx="533400" cy="304800"/>
          </a:xfrm>
          <a:prstGeom prst="leftRightArrow">
            <a:avLst>
              <a:gd name="adj1" fmla="val 50000"/>
              <a:gd name="adj2" fmla="val 35000"/>
            </a:avLst>
          </a:prstGeom>
          <a:gradFill rotWithShape="1">
            <a:gsLst>
              <a:gs pos="0">
                <a:srgbClr val="FF0000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49" name="Text Box 31"/>
          <p:cNvSpPr txBox="1">
            <a:spLocks noChangeArrowheads="1"/>
          </p:cNvSpPr>
          <p:nvPr/>
        </p:nvSpPr>
        <p:spPr bwMode="auto">
          <a:xfrm>
            <a:off x="7212012" y="1727774"/>
            <a:ext cx="26447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A50021"/>
                </a:solidFill>
              </a:rPr>
              <a:t>x = x+1;</a:t>
            </a:r>
            <a:endParaRPr lang="fr-FR" dirty="0">
              <a:solidFill>
                <a:srgbClr val="A50021"/>
              </a:solidFill>
            </a:endParaRPr>
          </a:p>
        </p:txBody>
      </p:sp>
      <p:grpSp>
        <p:nvGrpSpPr>
          <p:cNvPr id="10" name="Group 32"/>
          <p:cNvGrpSpPr/>
          <p:nvPr/>
        </p:nvGrpSpPr>
        <p:grpSpPr bwMode="auto">
          <a:xfrm>
            <a:off x="1600200" y="5620870"/>
            <a:ext cx="5159375" cy="457200"/>
            <a:chOff x="1008" y="1248"/>
            <a:chExt cx="3250" cy="288"/>
          </a:xfrm>
        </p:grpSpPr>
        <p:sp>
          <p:nvSpPr>
            <p:cNvPr id="51" name="Text Box 33"/>
            <p:cNvSpPr txBox="1">
              <a:spLocks noChangeArrowheads="1"/>
            </p:cNvSpPr>
            <p:nvPr/>
          </p:nvSpPr>
          <p:spPr bwMode="auto">
            <a:xfrm>
              <a:off x="1008" y="1267"/>
              <a:ext cx="8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A50021"/>
                  </a:solidFill>
                </a:rPr>
                <a:t>x--;</a:t>
              </a:r>
              <a:endParaRPr lang="fr-FR" dirty="0">
                <a:solidFill>
                  <a:srgbClr val="A50021"/>
                </a:solidFill>
              </a:endParaRPr>
            </a:p>
          </p:txBody>
        </p:sp>
        <p:sp>
          <p:nvSpPr>
            <p:cNvPr id="52" name="AutoShape 34"/>
            <p:cNvSpPr>
              <a:spLocks noChangeArrowheads="1"/>
            </p:cNvSpPr>
            <p:nvPr/>
          </p:nvSpPr>
          <p:spPr bwMode="auto">
            <a:xfrm>
              <a:off x="2098" y="1315"/>
              <a:ext cx="336" cy="192"/>
            </a:xfrm>
            <a:prstGeom prst="leftRightArrow">
              <a:avLst>
                <a:gd name="adj1" fmla="val 50000"/>
                <a:gd name="adj2" fmla="val 35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fr-FR"/>
            </a:p>
          </p:txBody>
        </p:sp>
        <p:sp>
          <p:nvSpPr>
            <p:cNvPr id="53" name="Text Box 35"/>
            <p:cNvSpPr txBox="1">
              <a:spLocks noChangeArrowheads="1"/>
            </p:cNvSpPr>
            <p:nvPr/>
          </p:nvSpPr>
          <p:spPr bwMode="auto">
            <a:xfrm>
              <a:off x="2592" y="1248"/>
              <a:ext cx="166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A50021"/>
                  </a:solidFill>
                </a:rPr>
                <a:t>x = x-1;</a:t>
              </a:r>
              <a:endParaRPr lang="fr-FR">
                <a:solidFill>
                  <a:srgbClr val="A50021"/>
                </a:solidFill>
              </a:endParaRPr>
            </a:p>
          </p:txBody>
        </p:sp>
      </p:grpSp>
      <p:sp>
        <p:nvSpPr>
          <p:cNvPr id="55" name="Rectangle 37"/>
          <p:cNvSpPr>
            <a:spLocks noChangeArrowheads="1"/>
          </p:cNvSpPr>
          <p:nvPr/>
        </p:nvSpPr>
        <p:spPr bwMode="auto">
          <a:xfrm>
            <a:off x="2133600" y="4280694"/>
            <a:ext cx="6400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dirty="0">
                <a:solidFill>
                  <a:srgbClr val="A50021"/>
                </a:solidFill>
              </a:rPr>
              <a:t>y = ++x  	        x = x + 1; y = x;</a:t>
            </a:r>
          </a:p>
        </p:txBody>
      </p:sp>
      <p:sp>
        <p:nvSpPr>
          <p:cNvPr id="56" name="AutoShape 30"/>
          <p:cNvSpPr>
            <a:spLocks noChangeArrowheads="1"/>
          </p:cNvSpPr>
          <p:nvPr/>
        </p:nvSpPr>
        <p:spPr bwMode="auto">
          <a:xfrm>
            <a:off x="3962400" y="4406106"/>
            <a:ext cx="533400" cy="304800"/>
          </a:xfrm>
          <a:prstGeom prst="leftRightArrow">
            <a:avLst>
              <a:gd name="adj1" fmla="val 50000"/>
              <a:gd name="adj2" fmla="val 35000"/>
            </a:avLst>
          </a:prstGeom>
          <a:gradFill rotWithShape="1">
            <a:gsLst>
              <a:gs pos="0">
                <a:srgbClr val="FF0000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57" name="Line 13"/>
          <p:cNvSpPr>
            <a:spLocks noChangeShapeType="1"/>
          </p:cNvSpPr>
          <p:nvPr/>
        </p:nvSpPr>
        <p:spPr bwMode="auto">
          <a:xfrm>
            <a:off x="7737986" y="4129908"/>
            <a:ext cx="0" cy="746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58" name="Line 14"/>
          <p:cNvSpPr>
            <a:spLocks noChangeShapeType="1"/>
          </p:cNvSpPr>
          <p:nvPr/>
        </p:nvSpPr>
        <p:spPr bwMode="auto">
          <a:xfrm>
            <a:off x="8610600" y="4129908"/>
            <a:ext cx="0" cy="746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59" name="Line 15"/>
          <p:cNvSpPr>
            <a:spLocks noChangeShapeType="1"/>
          </p:cNvSpPr>
          <p:nvPr/>
        </p:nvSpPr>
        <p:spPr bwMode="auto">
          <a:xfrm>
            <a:off x="7737986" y="4884060"/>
            <a:ext cx="87261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60" name="Line 17"/>
          <p:cNvSpPr>
            <a:spLocks noChangeShapeType="1"/>
          </p:cNvSpPr>
          <p:nvPr/>
        </p:nvSpPr>
        <p:spPr bwMode="auto">
          <a:xfrm>
            <a:off x="9598352" y="4129908"/>
            <a:ext cx="0" cy="746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61" name="Line 18"/>
          <p:cNvSpPr>
            <a:spLocks noChangeShapeType="1"/>
          </p:cNvSpPr>
          <p:nvPr/>
        </p:nvSpPr>
        <p:spPr bwMode="auto">
          <a:xfrm>
            <a:off x="10470966" y="4129908"/>
            <a:ext cx="0" cy="746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62" name="Line 19"/>
          <p:cNvSpPr>
            <a:spLocks noChangeShapeType="1"/>
          </p:cNvSpPr>
          <p:nvPr/>
        </p:nvSpPr>
        <p:spPr bwMode="auto">
          <a:xfrm>
            <a:off x="9598352" y="4875948"/>
            <a:ext cx="87261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7339553" y="4282743"/>
            <a:ext cx="3241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</a:rPr>
              <a:t>x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64" name="Text Box 21"/>
          <p:cNvSpPr txBox="1">
            <a:spLocks noChangeArrowheads="1"/>
          </p:cNvSpPr>
          <p:nvPr/>
        </p:nvSpPr>
        <p:spPr bwMode="auto">
          <a:xfrm>
            <a:off x="8071277" y="4316418"/>
            <a:ext cx="33855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</a:rPr>
              <a:t>4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65" name="Text Box 22"/>
          <p:cNvSpPr txBox="1">
            <a:spLocks noChangeArrowheads="1"/>
          </p:cNvSpPr>
          <p:nvPr/>
        </p:nvSpPr>
        <p:spPr bwMode="auto">
          <a:xfrm>
            <a:off x="9246882" y="4267200"/>
            <a:ext cx="32573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</a:rPr>
              <a:t>y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66" name="Text Box 23"/>
          <p:cNvSpPr txBox="1">
            <a:spLocks noChangeArrowheads="1"/>
          </p:cNvSpPr>
          <p:nvPr/>
        </p:nvSpPr>
        <p:spPr bwMode="auto">
          <a:xfrm>
            <a:off x="9889223" y="4316418"/>
            <a:ext cx="337835" cy="431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0" y="3186545"/>
            <a:ext cx="318655" cy="67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/>
          <p:cNvSpPr/>
          <p:nvPr/>
        </p:nvSpPr>
        <p:spPr>
          <a:xfrm>
            <a:off x="7938654" y="3186545"/>
            <a:ext cx="318655" cy="67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8063345" y="4142509"/>
            <a:ext cx="318655" cy="67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/>
          <p:cNvSpPr/>
          <p:nvPr/>
        </p:nvSpPr>
        <p:spPr>
          <a:xfrm>
            <a:off x="9933709" y="4156363"/>
            <a:ext cx="318655" cy="67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0" grpId="0" animBg="1"/>
      <p:bldP spid="54" grpId="0" animBg="1"/>
      <p:bldP spid="67" grpId="0" animBg="1"/>
      <p:bldP spid="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6799" y="351678"/>
            <a:ext cx="10515600" cy="1325563"/>
          </a:xfrm>
        </p:spPr>
        <p:txBody>
          <a:bodyPr/>
          <a:lstStyle/>
          <a:p>
            <a:r>
              <a:rPr lang="fr-FR" b="1" dirty="0"/>
              <a:t>  </a:t>
            </a: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Opérande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6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3376" y="1474711"/>
            <a:ext cx="11062446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 correspond à une quantité acceptée par un opérateur. 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L'opérateur d'addition + accepte deux opérandes : 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4 + 8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quantités 4 et 8 correspondent à deux opérandes de l'opérateur +. 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6799" y="351678"/>
            <a:ext cx="10515600" cy="1325563"/>
          </a:xfrm>
        </p:spPr>
        <p:txBody>
          <a:bodyPr/>
          <a:lstStyle/>
          <a:p>
            <a:r>
              <a:rPr lang="fr-FR" b="1" dirty="0"/>
              <a:t>  </a:t>
            </a: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Expression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7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3376" y="1474711"/>
            <a:ext cx="11062446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 correspond à un calcul de valeur. 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une expression, plusieurs opérateurs (et opérandes) peuvent être mis en relation pour effectuer un calcul complexe.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L'utilisation de parenthèses est de plus possible afin de contrôler la priorité d'évaluation de vos opérateurs. 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 (2 + 3) *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2226</Words>
  <Application>Microsoft Office PowerPoint</Application>
  <PresentationFormat>Grand écran</PresentationFormat>
  <Paragraphs>246</Paragraphs>
  <Slides>7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Office Theme</vt:lpstr>
      <vt:lpstr>Opérateurs de base</vt:lpstr>
      <vt:lpstr>Opérateurs de base</vt:lpstr>
      <vt:lpstr>   Opérateurs ( Opérateurs de comparaison )</vt:lpstr>
      <vt:lpstr>    Opérateurs ( Opérateurs d’affectation )</vt:lpstr>
      <vt:lpstr>    Opérateurs ( Incréments et décréments ) </vt:lpstr>
      <vt:lpstr>  Opérande</vt:lpstr>
      <vt:lpstr>  Expression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270</cp:revision>
  <dcterms:created xsi:type="dcterms:W3CDTF">2015-03-06T15:17:00Z</dcterms:created>
  <dcterms:modified xsi:type="dcterms:W3CDTF">2025-05-13T14:36:08Z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F31DBEE9B86940A1B6EE03BDD65E2B57</vt:lpwstr>
  </property>
</Properties>
</file>