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0" r:id="rId3"/>
    <p:sldId id="285" r:id="rId4"/>
    <p:sldId id="286" r:id="rId6"/>
    <p:sldId id="287" r:id="rId7"/>
    <p:sldId id="28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280"/>
            <p14:sldId id="285"/>
            <p14:sldId id="286"/>
            <p14:sldId id="287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50" y="48"/>
      </p:cViewPr>
      <p:guideLst>
        <p:guide orient="horz" pos="2192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/>
          <p:nvPr>
            <p:ph type="sldImg" idx="2"/>
          </p:nvPr>
        </p:nvSpPr>
        <p:spPr/>
      </p:sp>
      <p:sp>
        <p:nvSpPr>
          <p:cNvPr id="3" name="Espace réservé du texte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192306" y="610629"/>
            <a:ext cx="8229600" cy="762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d’un programme C  (1/4)</a:t>
            </a:r>
            <a:endParaRPr lang="en-US" b="1" dirty="0"/>
          </a:p>
        </p:txBody>
      </p:sp>
      <p:sp>
        <p:nvSpPr>
          <p:cNvPr id="17411" name="Content Placeholder 4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784410" y="1474041"/>
            <a:ext cx="10497671" cy="1354504"/>
          </a:xfrm>
        </p:spPr>
        <p:txBody>
          <a:bodyPr/>
          <a:lstStyle/>
          <a:p>
            <a:pPr>
              <a:defRPr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langage C le </a:t>
            </a:r>
            <a:r>
              <a:rPr lang="fr-FR" sz="20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programme principal</a:t>
            </a:r>
            <a:r>
              <a:rPr lang="fr-FR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les </a:t>
            </a:r>
            <a:r>
              <a:rPr lang="fr-FR" sz="20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sous programmes</a:t>
            </a:r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définies comme des </a:t>
            </a:r>
            <a:r>
              <a:rPr lang="fr-FR" sz="20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fonctions.</a:t>
            </a:r>
            <a:endParaRPr lang="fr-FR" sz="2000" b="1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particulière nommée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sz="20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fonction principale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fr-FR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programme C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»</a:t>
            </a:r>
            <a:endParaRPr lang="fr-FR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9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0962809" y="6275294"/>
            <a:ext cx="99162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fld id="{481BE1E0-DFFA-484D-9FBD-5CD5F660415A}" type="slidenum">
              <a:rPr lang="en-US" sz="1400">
                <a:ea typeface="MS PGothic" panose="020B0600070205080204" pitchFamily="34" charset="-128"/>
              </a:rPr>
            </a:fld>
            <a:endParaRPr lang="en-US" sz="1400" dirty="0">
              <a:ea typeface="MS PGothic" panose="020B0600070205080204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9329" y="3128372"/>
            <a:ext cx="3864077" cy="2510788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fr-F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inclusion</a:t>
            </a: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bibliothèques&gt;</a:t>
            </a:r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fr-FR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&lt; Traitements &gt;;</a:t>
            </a:r>
            <a:endParaRPr lang="fr-FR" sz="2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4" name="Flèche droite 3"/>
          <p:cNvSpPr/>
          <p:nvPr/>
        </p:nvSpPr>
        <p:spPr>
          <a:xfrm>
            <a:off x="4300892" y="4217241"/>
            <a:ext cx="737419" cy="560439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5097302" y="3128372"/>
            <a:ext cx="6857133" cy="2510788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20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Bibliothèque d’entrées-sorties standard */</a:t>
            </a:r>
            <a:endParaRPr lang="fr-FR" sz="20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main()</a:t>
            </a:r>
            <a:r>
              <a:rPr lang="fr-FR" sz="2000" dirty="0"/>
              <a:t> </a:t>
            </a:r>
            <a:r>
              <a:rPr lang="fr-FR" sz="2000" b="1" dirty="0">
                <a:solidFill>
                  <a:schemeClr val="accent6"/>
                </a:solidFill>
              </a:rPr>
              <a:t>/*</a:t>
            </a:r>
            <a:r>
              <a:rPr lang="fr-FR" sz="20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Notre premier programme en C </a:t>
            </a:r>
            <a:r>
              <a:rPr lang="fr-FR" sz="2000" b="1" dirty="0">
                <a:solidFill>
                  <a:schemeClr val="accent6"/>
                </a:solidFill>
              </a:rPr>
              <a:t>*/</a:t>
            </a:r>
            <a:endParaRPr lang="fr-FR" sz="2000" b="1" dirty="0">
              <a:solidFill>
                <a:schemeClr val="accent6"/>
              </a:solidFill>
            </a:endParaRPr>
          </a:p>
          <a:p>
            <a:r>
              <a:rPr lang="fr-FR" sz="2000" b="1" dirty="0">
                <a:solidFill>
                  <a:schemeClr val="tx1"/>
                </a:solidFill>
              </a:rPr>
              <a:t>{</a:t>
            </a:r>
            <a:endParaRPr lang="fr-FR" sz="2000" b="1" dirty="0">
              <a:solidFill>
                <a:schemeClr val="tx1"/>
              </a:solidFill>
            </a:endParaRPr>
          </a:p>
          <a:p>
            <a:r>
              <a:rPr lang="fr-FR" sz="2000" dirty="0"/>
              <a:t>    </a:t>
            </a:r>
            <a:r>
              <a:rPr lang="fr-FR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 Bienvenue à ESPRIT"  );</a:t>
            </a:r>
            <a:endParaRPr lang="fr-FR" sz="2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solidFill>
                  <a:schemeClr val="tx1"/>
                </a:solidFill>
              </a:rPr>
              <a:t>}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329" y="2722160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Syntaxe:</a:t>
            </a:r>
            <a:endParaRPr lang="fr-F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97303" y="2760911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Programme:</a:t>
            </a:r>
            <a:endParaRPr lang="fr-F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15176" y="6100572"/>
            <a:ext cx="3674036" cy="6477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Bienvenue à ESPRIT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lèche vers le bas 11"/>
          <p:cNvSpPr/>
          <p:nvPr/>
        </p:nvSpPr>
        <p:spPr>
          <a:xfrm>
            <a:off x="8259382" y="5612922"/>
            <a:ext cx="398462" cy="4889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6554247" y="5790623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Exécution:</a:t>
            </a:r>
            <a:endParaRPr lang="fr-F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192306" y="610629"/>
            <a:ext cx="8229600" cy="762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d’un programme C  (2/4)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9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0962809" y="6275294"/>
            <a:ext cx="99162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fld id="{481BE1E0-DFFA-484D-9FBD-5CD5F660415A}" type="slidenum">
              <a:rPr lang="en-US" sz="1400">
                <a:ea typeface="MS PGothic" panose="020B0600070205080204" pitchFamily="34" charset="-128"/>
              </a:rPr>
            </a:fld>
            <a:endParaRPr lang="en-US" sz="1400" dirty="0">
              <a:ea typeface="MS PGothic" panose="020B060007020508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41140" y="2315845"/>
            <a:ext cx="6857365" cy="2978150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20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Bibliothèque d’entrées-sorties standard */</a:t>
            </a:r>
            <a:endParaRPr lang="fr-FR" sz="20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 err="1">
                <a:solidFill>
                  <a:schemeClr val="tx1"/>
                </a:solidFill>
              </a:rPr>
              <a:t>void</a:t>
            </a:r>
            <a:r>
              <a:rPr lang="fr-FR" sz="2000" b="1" dirty="0">
                <a:solidFill>
                  <a:schemeClr val="tx1"/>
                </a:solidFill>
              </a:rPr>
              <a:t> main()</a:t>
            </a:r>
            <a:r>
              <a:rPr lang="fr-FR" sz="2000" dirty="0"/>
              <a:t>   </a:t>
            </a:r>
            <a:r>
              <a:rPr lang="fr-FR" sz="2000" b="1" dirty="0">
                <a:solidFill>
                  <a:schemeClr val="accent6"/>
                </a:solidFill>
              </a:rPr>
              <a:t>/* </a:t>
            </a:r>
            <a:r>
              <a:rPr lang="fr-FR" sz="20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Notre premier programme en C </a:t>
            </a:r>
            <a:r>
              <a:rPr lang="fr-FR" sz="2000" b="1" dirty="0">
                <a:solidFill>
                  <a:schemeClr val="accent6"/>
                </a:solidFill>
              </a:rPr>
              <a:t>*/</a:t>
            </a:r>
            <a:endParaRPr lang="fr-FR" sz="2000" b="1" dirty="0">
              <a:solidFill>
                <a:schemeClr val="accent6"/>
              </a:solidFill>
            </a:endParaRPr>
          </a:p>
          <a:p>
            <a:r>
              <a:rPr lang="fr-FR" sz="2000" b="1" dirty="0">
                <a:solidFill>
                  <a:schemeClr val="tx1"/>
                </a:solidFill>
              </a:rPr>
              <a:t>{</a:t>
            </a:r>
            <a:endParaRPr lang="fr-FR" sz="2000" b="1" dirty="0">
              <a:solidFill>
                <a:schemeClr val="tx1"/>
              </a:solidFill>
            </a:endParaRPr>
          </a:p>
          <a:p>
            <a:r>
              <a:rPr lang="fr-FR" sz="2000" dirty="0"/>
              <a:t>    </a:t>
            </a:r>
            <a:r>
              <a:rPr lang="fr-FR" sz="2000" dirty="0" err="1">
                <a:solidFill>
                  <a:srgbClr val="FFC000"/>
                </a:solidFill>
              </a:rPr>
              <a:t>printf</a:t>
            </a:r>
            <a:r>
              <a:rPr lang="fr-FR" sz="2000" dirty="0">
                <a:solidFill>
                  <a:srgbClr val="FFC000"/>
                </a:solidFill>
              </a:rPr>
              <a:t>("</a:t>
            </a:r>
            <a:r>
              <a:rPr lang="fr-BE" sz="2000" dirty="0">
                <a:solidFill>
                  <a:srgbClr val="FFC000"/>
                </a:solidFill>
              </a:rPr>
              <a:t> Bienvenue à ESPRIT</a:t>
            </a:r>
            <a:r>
              <a:rPr lang="fr-FR" sz="2000" dirty="0">
                <a:solidFill>
                  <a:srgbClr val="FFC000"/>
                </a:solidFill>
              </a:rPr>
              <a:t>"</a:t>
            </a:r>
            <a:r>
              <a:rPr lang="fr-BE" sz="2000" dirty="0">
                <a:solidFill>
                  <a:srgbClr val="FFC000"/>
                </a:solidFill>
              </a:rPr>
              <a:t>  );</a:t>
            </a:r>
            <a:endParaRPr lang="fr-BE" sz="2000" dirty="0">
              <a:solidFill>
                <a:srgbClr val="FFC000"/>
              </a:solidFill>
            </a:endParaRPr>
          </a:p>
          <a:p>
            <a:r>
              <a:rPr lang="fr-FR" sz="2000" b="1" dirty="0">
                <a:solidFill>
                  <a:schemeClr val="tx1"/>
                </a:solidFill>
              </a:rPr>
              <a:t>}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41055" y="1767442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Programme:</a:t>
            </a:r>
            <a:endParaRPr lang="fr-F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necteur droit 13"/>
          <p:cNvCxnSpPr/>
          <p:nvPr/>
        </p:nvCxnSpPr>
        <p:spPr>
          <a:xfrm flipH="1" flipV="1">
            <a:off x="3586480" y="3267710"/>
            <a:ext cx="1151890" cy="332740"/>
          </a:xfrm>
          <a:prstGeom prst="line">
            <a:avLst/>
          </a:prstGeom>
          <a:ln w="254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 flipH="1">
            <a:off x="4605020" y="3618230"/>
            <a:ext cx="826135" cy="34480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33375" y="3041015"/>
            <a:ext cx="331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toujours la fonction principale d’un programme C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 flipH="1">
            <a:off x="4028990" y="3882710"/>
            <a:ext cx="433890" cy="3175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 flipH="1">
            <a:off x="4037245" y="4486911"/>
            <a:ext cx="433890" cy="3175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/>
          <p:cNvCxnSpPr>
            <a:stCxn id="35" idx="3"/>
          </p:cNvCxnSpPr>
          <p:nvPr/>
        </p:nvCxnSpPr>
        <p:spPr>
          <a:xfrm flipH="1">
            <a:off x="3395345" y="4041775"/>
            <a:ext cx="633730" cy="130175"/>
          </a:xfrm>
          <a:prstGeom prst="line">
            <a:avLst/>
          </a:prstGeom>
          <a:ln w="254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>
            <a:stCxn id="36" idx="3"/>
          </p:cNvCxnSpPr>
          <p:nvPr/>
        </p:nvCxnSpPr>
        <p:spPr>
          <a:xfrm flipH="1">
            <a:off x="3094990" y="4645660"/>
            <a:ext cx="942340" cy="340360"/>
          </a:xfrm>
          <a:prstGeom prst="line">
            <a:avLst/>
          </a:prstGeom>
          <a:ln w="254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336719" y="4042088"/>
            <a:ext cx="3059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Début du bloc d’instructions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430530" y="4804194"/>
            <a:ext cx="284171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bloc d’instructions</a:t>
            </a:r>
            <a:endParaRPr lang="fr-FR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192306" y="610629"/>
            <a:ext cx="8229600" cy="762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d’un programme C  (3/4)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9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0962809" y="6275294"/>
            <a:ext cx="99162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fld id="{481BE1E0-DFFA-484D-9FBD-5CD5F660415A}" type="slidenum">
              <a:rPr lang="en-US" sz="1400">
                <a:ea typeface="MS PGothic" panose="020B0600070205080204" pitchFamily="34" charset="-128"/>
              </a:rPr>
            </a:fld>
            <a:endParaRPr lang="en-US" sz="1400" dirty="0">
              <a:ea typeface="MS PGothic" panose="020B060007020508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4584" y="2874014"/>
            <a:ext cx="6857133" cy="2510788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20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Bibliothèque d’entrées-sorties standard */</a:t>
            </a:r>
            <a:endParaRPr lang="fr-FR" sz="20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 err="1">
                <a:solidFill>
                  <a:schemeClr val="tx1"/>
                </a:solidFill>
              </a:rPr>
              <a:t>void</a:t>
            </a:r>
            <a:r>
              <a:rPr lang="fr-FR" sz="2000" b="1" dirty="0">
                <a:solidFill>
                  <a:schemeClr val="tx1"/>
                </a:solidFill>
              </a:rPr>
              <a:t> main()</a:t>
            </a:r>
            <a:r>
              <a:rPr lang="fr-FR" sz="2000" dirty="0"/>
              <a:t> </a:t>
            </a:r>
            <a:r>
              <a:rPr lang="fr-FR" sz="2000" b="1" dirty="0">
                <a:solidFill>
                  <a:schemeClr val="accent6"/>
                </a:solidFill>
              </a:rPr>
              <a:t>/* </a:t>
            </a:r>
            <a:r>
              <a:rPr lang="fr-FR" sz="20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Notre premier programme en C *</a:t>
            </a:r>
            <a:r>
              <a:rPr lang="fr-FR" sz="2000" b="1" dirty="0">
                <a:solidFill>
                  <a:schemeClr val="accent6"/>
                </a:solidFill>
              </a:rPr>
              <a:t>/</a:t>
            </a:r>
            <a:endParaRPr lang="fr-FR" sz="2000" b="1" dirty="0">
              <a:solidFill>
                <a:schemeClr val="accent6"/>
              </a:solidFill>
            </a:endParaRPr>
          </a:p>
          <a:p>
            <a:r>
              <a:rPr lang="fr-FR" sz="2000" b="1" dirty="0">
                <a:solidFill>
                  <a:schemeClr val="tx1"/>
                </a:solidFill>
              </a:rPr>
              <a:t>{</a:t>
            </a:r>
            <a:endParaRPr lang="fr-FR" sz="2000" b="1" dirty="0">
              <a:solidFill>
                <a:schemeClr val="tx1"/>
              </a:solidFill>
            </a:endParaRPr>
          </a:p>
          <a:p>
            <a:r>
              <a:rPr lang="fr-FR" sz="2000" dirty="0"/>
              <a:t>    </a:t>
            </a:r>
            <a:r>
              <a:rPr lang="fr-FR" sz="2000" dirty="0" err="1">
                <a:solidFill>
                  <a:srgbClr val="FFC000"/>
                </a:solidFill>
              </a:rPr>
              <a:t>printf</a:t>
            </a:r>
            <a:r>
              <a:rPr lang="fr-FR" sz="2000" dirty="0">
                <a:solidFill>
                  <a:srgbClr val="FFC000"/>
                </a:solidFill>
              </a:rPr>
              <a:t>("</a:t>
            </a:r>
            <a:r>
              <a:rPr lang="fr-BE" sz="2000" dirty="0">
                <a:solidFill>
                  <a:srgbClr val="FFC000"/>
                </a:solidFill>
              </a:rPr>
              <a:t> Bienvenue à ESPRIT</a:t>
            </a:r>
            <a:r>
              <a:rPr lang="fr-FR" sz="2000" dirty="0">
                <a:solidFill>
                  <a:srgbClr val="FFC000"/>
                </a:solidFill>
              </a:rPr>
              <a:t>"</a:t>
            </a:r>
            <a:r>
              <a:rPr lang="fr-BE" sz="2000" dirty="0">
                <a:solidFill>
                  <a:srgbClr val="FFC000"/>
                </a:solidFill>
              </a:rPr>
              <a:t>  );</a:t>
            </a:r>
            <a:endParaRPr lang="fr-BE" sz="2000" dirty="0">
              <a:solidFill>
                <a:srgbClr val="FFC000"/>
              </a:solidFill>
            </a:endParaRPr>
          </a:p>
          <a:p>
            <a:r>
              <a:rPr lang="fr-FR" sz="2000" b="1" dirty="0">
                <a:solidFill>
                  <a:schemeClr val="tx1"/>
                </a:solidFill>
              </a:rPr>
              <a:t>}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4282" y="2333232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Programme:</a:t>
            </a:r>
            <a:endParaRPr lang="fr-F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necteur droit 13"/>
          <p:cNvCxnSpPr/>
          <p:nvPr/>
        </p:nvCxnSpPr>
        <p:spPr>
          <a:xfrm flipV="1">
            <a:off x="6203951" y="3759200"/>
            <a:ext cx="2654299" cy="249558"/>
          </a:xfrm>
          <a:prstGeom prst="line">
            <a:avLst/>
          </a:prstGeom>
          <a:ln w="254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08300" y="3238500"/>
            <a:ext cx="4783417" cy="3175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2159001" y="3850008"/>
            <a:ext cx="4025900" cy="3175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4" name="Connecteur droit 23"/>
          <p:cNvCxnSpPr/>
          <p:nvPr/>
        </p:nvCxnSpPr>
        <p:spPr>
          <a:xfrm>
            <a:off x="7708901" y="3386458"/>
            <a:ext cx="1149349" cy="372742"/>
          </a:xfrm>
          <a:prstGeom prst="line">
            <a:avLst/>
          </a:prstGeom>
          <a:ln w="254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8875434" y="353060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Commentaires</a:t>
            </a: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192306" y="610629"/>
            <a:ext cx="8229600" cy="762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d’un programme C  (4/4)</a:t>
            </a:r>
            <a:endParaRPr lang="en-US" b="1" dirty="0"/>
          </a:p>
        </p:txBody>
      </p:sp>
      <p:sp>
        <p:nvSpPr>
          <p:cNvPr id="6149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0962809" y="6275294"/>
            <a:ext cx="991627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fld id="{481BE1E0-DFFA-484D-9FBD-5CD5F660415A}" type="slidenum">
              <a:rPr lang="en-US" sz="1400">
                <a:ea typeface="MS PGothic" panose="020B0600070205080204" pitchFamily="34" charset="-128"/>
              </a:rPr>
            </a:fld>
            <a:endParaRPr lang="en-US" sz="1400" dirty="0">
              <a:ea typeface="MS PGothic" panose="020B060007020508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4584" y="2874014"/>
            <a:ext cx="6857133" cy="2510788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20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Bibliothèque d’entrées-sorties standard */</a:t>
            </a:r>
            <a:endParaRPr lang="fr-FR" sz="20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 err="1">
                <a:solidFill>
                  <a:schemeClr val="tx1"/>
                </a:solidFill>
              </a:rPr>
              <a:t>void</a:t>
            </a:r>
            <a:r>
              <a:rPr lang="fr-FR" sz="2000" b="1" dirty="0">
                <a:solidFill>
                  <a:schemeClr val="tx1"/>
                </a:solidFill>
              </a:rPr>
              <a:t> main()</a:t>
            </a:r>
            <a:r>
              <a:rPr lang="fr-FR" sz="2000" dirty="0"/>
              <a:t> </a:t>
            </a:r>
            <a:r>
              <a:rPr lang="fr-FR" sz="2000" b="1" dirty="0">
                <a:solidFill>
                  <a:schemeClr val="accent6"/>
                </a:solidFill>
              </a:rPr>
              <a:t>/* </a:t>
            </a:r>
            <a:r>
              <a:rPr lang="fr-FR" sz="20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Notre premier programme en C</a:t>
            </a:r>
            <a:r>
              <a:rPr lang="fr-FR" sz="2000" b="1" dirty="0">
                <a:solidFill>
                  <a:schemeClr val="accent6"/>
                </a:solidFill>
              </a:rPr>
              <a:t> */</a:t>
            </a:r>
            <a:endParaRPr lang="fr-FR" sz="2000" b="1" dirty="0">
              <a:solidFill>
                <a:schemeClr val="accent6"/>
              </a:solidFill>
            </a:endParaRPr>
          </a:p>
          <a:p>
            <a:r>
              <a:rPr lang="fr-FR" sz="2000" b="1" dirty="0">
                <a:solidFill>
                  <a:schemeClr val="tx1"/>
                </a:solidFill>
              </a:rPr>
              <a:t>{</a:t>
            </a:r>
            <a:endParaRPr lang="fr-FR" sz="2000" b="1" dirty="0">
              <a:solidFill>
                <a:schemeClr val="tx1"/>
              </a:solidFill>
            </a:endParaRPr>
          </a:p>
          <a:p>
            <a:r>
              <a:rPr lang="fr-FR" sz="2000" dirty="0"/>
              <a:t>    </a:t>
            </a:r>
            <a:r>
              <a:rPr lang="fr-FR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  </a:t>
            </a:r>
            <a:r>
              <a:rPr lang="fr-FR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fr-BE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Bienvenue à ESPRIT</a:t>
            </a:r>
            <a:r>
              <a:rPr lang="fr-FR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fr-BE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  <a:endParaRPr lang="fr-BE" sz="2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solidFill>
                  <a:schemeClr val="tx1"/>
                </a:solidFill>
              </a:rPr>
              <a:t>}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743" y="2165200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fr-F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Programme:</a:t>
            </a:r>
            <a:endParaRPr lang="fr-F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necteur droit 13"/>
          <p:cNvCxnSpPr>
            <a:endCxn id="20" idx="1"/>
          </p:cNvCxnSpPr>
          <p:nvPr/>
        </p:nvCxnSpPr>
        <p:spPr>
          <a:xfrm flipV="1">
            <a:off x="1652270" y="4694555"/>
            <a:ext cx="6880860" cy="163195"/>
          </a:xfrm>
          <a:prstGeom prst="line">
            <a:avLst/>
          </a:prstGeom>
          <a:ln w="254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92200" y="4446905"/>
            <a:ext cx="691515" cy="40259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8532906" y="4372100"/>
            <a:ext cx="365909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 affichant à l’écran une chaîne de caractères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04555" y="5627594"/>
            <a:ext cx="3674036" cy="6477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BE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Bienvenue à ESPRIT</a:t>
            </a:r>
            <a:endParaRPr lang="fr-BE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lèche vers le bas 7"/>
          <p:cNvSpPr/>
          <p:nvPr/>
        </p:nvSpPr>
        <p:spPr>
          <a:xfrm>
            <a:off x="10142538" y="5092700"/>
            <a:ext cx="398462" cy="4889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834584" y="3220711"/>
            <a:ext cx="2099116" cy="3175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en angle 12"/>
          <p:cNvCxnSpPr/>
          <p:nvPr/>
        </p:nvCxnSpPr>
        <p:spPr>
          <a:xfrm rot="5400000" flipH="1" flipV="1">
            <a:off x="1808979" y="2610338"/>
            <a:ext cx="693412" cy="543085"/>
          </a:xfrm>
          <a:prstGeom prst="bentConnector3">
            <a:avLst>
              <a:gd name="adj1" fmla="val 99451"/>
            </a:avLst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2329436" y="2331334"/>
            <a:ext cx="59188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de la bibliothèque contenant la fonction 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re 1"/>
          <p:cNvSpPr>
            <a:spLocks noGrp="1"/>
          </p:cNvSpPr>
          <p:nvPr>
            <p:ph type="title"/>
          </p:nvPr>
        </p:nvSpPr>
        <p:spPr>
          <a:xfrm>
            <a:off x="1155700" y="352425"/>
            <a:ext cx="10515600" cy="1325563"/>
          </a:xfrm>
        </p:spPr>
        <p:txBody>
          <a:bodyPr/>
          <a:lstStyle/>
          <a:p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Remarques</a:t>
            </a:r>
            <a:endParaRPr lang="fr-FR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Espace réservé du contenu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882650" y="1517015"/>
            <a:ext cx="11061700" cy="44227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commentaires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utilisés pour des raisons de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lisibilité et de compréhension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programme. Un commentaire est une chaîne de caractères comprise entre </a:t>
            </a:r>
            <a:r>
              <a:rPr lang="fr-FR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fr-FR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ou bien </a:t>
            </a:r>
            <a:r>
              <a:rPr lang="fr-FR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endParaRPr lang="fr-FR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Cette chaîne est ignorée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le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compilateur C et peut déborder sur plusieurs lignes.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Char char="ü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langage C distingue les </a:t>
            </a:r>
            <a:r>
              <a:rPr lang="fr-FR" sz="24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minuscules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 </a:t>
            </a:r>
            <a:r>
              <a:rPr lang="fr-FR" sz="24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majuscules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Char char="ü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mots réservés (exemples :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for,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return,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 du langage C doivent être écrits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minuscules.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Char char="ü"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0994465" y="6320118"/>
            <a:ext cx="950259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fld id="{EA1CF714-7D1D-4ED4-BE33-40056386A9C9}" type="slidenum">
              <a:rPr lang="en-US" sz="1400"/>
            </a:fld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1750</Words>
  <Application>WPS Presentation</Application>
  <PresentationFormat>Grand écran</PresentationFormat>
  <Paragraphs>99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Arial</vt:lpstr>
      <vt:lpstr>Times New Roman</vt:lpstr>
      <vt:lpstr>Times New Roman</vt:lpstr>
      <vt:lpstr>Tahoma</vt:lpstr>
      <vt:lpstr>MS PGothic</vt:lpstr>
      <vt:lpstr>Calibri Light</vt:lpstr>
      <vt:lpstr>Calibri</vt:lpstr>
      <vt:lpstr>Microsoft YaHei</vt:lpstr>
      <vt:lpstr>Arial Unicode MS</vt:lpstr>
      <vt:lpstr>Symbol</vt:lpstr>
      <vt:lpstr>Office Theme</vt:lpstr>
      <vt:lpstr>Structure d’un programme C  (1/4)</vt:lpstr>
      <vt:lpstr>Structure d’un programme C  (2/4)</vt:lpstr>
      <vt:lpstr>Structure d’un programme C  (3/4)</vt:lpstr>
      <vt:lpstr>Structure d’un programme C  (4/4)</vt:lpstr>
      <vt:lpstr>Remarques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269</cp:revision>
  <dcterms:created xsi:type="dcterms:W3CDTF">2015-03-06T15:17:00Z</dcterms:created>
  <dcterms:modified xsi:type="dcterms:W3CDTF">2025-04-25T13:10:30Z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1036-12.2.0.20795</vt:lpwstr>
  </property>
  <property fmtid="{D5CDD505-2E9C-101B-9397-08002B2CF9AE}" pid="3" name="ICV">
    <vt:lpwstr>F31DBEE9B86940A1B6EE03BDD65E2B57</vt:lpwstr>
  </property>
</Properties>
</file>