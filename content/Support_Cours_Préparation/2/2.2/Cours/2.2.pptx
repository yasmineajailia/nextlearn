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16" r:id="rId2"/>
    <p:sldId id="344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EE07D4-F84E-4BBE-9AD3-719F4B2C30E8}">
          <p14:sldIdLst>
            <p14:sldId id="316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000F0-5331-4BEE-93CC-6623BA77D340}" type="datetimeFigureOut">
              <a:rPr lang="fr-FR" smtClean="0"/>
              <a:t>15/04/2025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00FF7-A96F-440A-ADD3-2D2A0E0ACFAF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4E13F-3005-4C70-9AB7-32D8A9EE2F34}" type="datetime1">
              <a:rPr lang="fr-FR" smtClean="0"/>
              <a:t>15/04/2025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739-07CB-4FB7-87D4-7BCA90B0A19D}" type="datetime1">
              <a:rPr lang="fr-FR" smtClean="0"/>
              <a:t>15/04/2025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A5EBB-1D59-4910-9C01-2B17A6608A31}" type="datetime1">
              <a:rPr lang="fr-FR" smtClean="0"/>
              <a:t>15/04/2025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15006-23EF-4100-BD19-79883986ACF6}" type="datetime1">
              <a:rPr lang="fr-FR" smtClean="0"/>
              <a:t>15/04/2025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2DEC-66CB-47B4-B940-2D93DB7024E9}" type="datetime1">
              <a:rPr lang="fr-FR" smtClean="0"/>
              <a:t>15/04/2025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5B307-C9BE-4CD1-871A-15067A0DBF83}" type="datetime1">
              <a:rPr lang="fr-FR" smtClean="0"/>
              <a:t>15/04/2025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EC77-3E54-4CFF-919F-4E8556994D27}" type="datetime1">
              <a:rPr lang="fr-FR" smtClean="0"/>
              <a:t>15/04/2025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FB06-CCB7-4729-AC66-47F73FB24BC6}" type="datetime1">
              <a:rPr lang="fr-FR" smtClean="0"/>
              <a:t>15/04/2025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B6D2-B7A0-4E7A-8230-6BB5324B0C39}" type="datetime1">
              <a:rPr lang="fr-FR" smtClean="0"/>
              <a:t>15/04/2025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646B-EEB1-4BED-A4EE-4813EEE5A446}" type="datetime1">
              <a:rPr lang="fr-FR" smtClean="0"/>
              <a:t>15/04/2025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04260-8E4F-44B2-BCE1-2C11D659EED5}" type="datetime1">
              <a:rPr lang="fr-FR" smtClean="0"/>
              <a:t>15/04/2025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F7BBD-E8D9-4C1E-B6E1-C630A1F380F2}" type="datetime1">
              <a:rPr lang="fr-FR" smtClean="0"/>
              <a:t>15/04/2025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3D24BF8-6E5B-463D-9989-C2A95CF08BD8}" type="slidenum">
              <a:rPr lang="en-GB" sz="1400"/>
              <a:t>1</a:t>
            </a:fld>
            <a:endParaRPr lang="en-GB" sz="14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457325" y="307975"/>
            <a:ext cx="10515600" cy="1325563"/>
          </a:xfrm>
        </p:spPr>
        <p:txBody>
          <a:bodyPr/>
          <a:lstStyle/>
          <a:p>
            <a:pPr eaLnBrk="1" hangingPunct="1"/>
            <a:r>
              <a:rPr lang="fr-FR" sz="36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L’instruction switch</a:t>
            </a:r>
          </a:p>
        </p:txBody>
      </p:sp>
      <p:sp>
        <p:nvSpPr>
          <p:cNvPr id="10244" name="Rectangle 1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257299" y="1690688"/>
            <a:ext cx="4411981" cy="4114800"/>
          </a:xfrm>
          <a:noFill/>
        </p:spPr>
        <p:txBody>
          <a:bodyPr>
            <a:noAutofit/>
          </a:bodyPr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fr-FR" sz="2400" b="1" dirty="0">
                <a:solidFill>
                  <a:srgbClr val="A50021"/>
                </a:solidFill>
              </a:rPr>
              <a:t>switch </a:t>
            </a:r>
            <a:r>
              <a:rPr lang="fr-FR" sz="2000" b="1" dirty="0">
                <a:solidFill>
                  <a:srgbClr val="A50021"/>
                </a:solidFill>
              </a:rPr>
              <a:t>(</a:t>
            </a:r>
            <a:r>
              <a:rPr lang="fr-FR" sz="2400" b="1" i="1" u="sng" dirty="0">
                <a:solidFill>
                  <a:srgbClr val="A50021"/>
                </a:solidFill>
              </a:rPr>
              <a:t>Expression</a:t>
            </a:r>
            <a:r>
              <a:rPr lang="fr-FR" sz="2000" b="1" dirty="0">
                <a:solidFill>
                  <a:srgbClr val="A50021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fr-FR" sz="2000" b="1" dirty="0">
                <a:solidFill>
                  <a:srgbClr val="A50021"/>
                </a:solidFill>
              </a:rPr>
              <a:t>{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fr-FR" b="1" dirty="0">
                <a:solidFill>
                  <a:srgbClr val="A50021"/>
                </a:solidFill>
              </a:rPr>
              <a:t>case</a:t>
            </a:r>
            <a:r>
              <a:rPr lang="fr-FR" b="1" dirty="0"/>
              <a:t> val1 :	…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fr-FR" b="1" dirty="0"/>
              <a:t>			…</a:t>
            </a:r>
          </a:p>
          <a:p>
            <a:pPr lvl="4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fr-FR" sz="2000" b="1" dirty="0">
                <a:solidFill>
                  <a:srgbClr val="0070C0"/>
                </a:solidFill>
              </a:rPr>
              <a:t>break</a:t>
            </a:r>
            <a:r>
              <a:rPr lang="fr-FR" sz="2000" b="1" dirty="0">
                <a:solidFill>
                  <a:srgbClr val="A50021"/>
                </a:solidFill>
              </a:rPr>
              <a:t>;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fr-FR" b="1" dirty="0">
                <a:solidFill>
                  <a:srgbClr val="A50021"/>
                </a:solidFill>
              </a:rPr>
              <a:t>case</a:t>
            </a:r>
            <a:r>
              <a:rPr lang="fr-FR" b="1" dirty="0"/>
              <a:t> val2 :	…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fr-FR" b="1" dirty="0"/>
              <a:t>			…</a:t>
            </a:r>
          </a:p>
          <a:p>
            <a:pPr lvl="4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fr-FR" sz="2000" b="1" dirty="0">
                <a:solidFill>
                  <a:srgbClr val="A50021"/>
                </a:solidFill>
              </a:rPr>
              <a:t>break;</a:t>
            </a:r>
          </a:p>
          <a:p>
            <a:pPr lvl="4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fr-FR" sz="2000" b="1" dirty="0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fr-FR" b="1" dirty="0">
                <a:solidFill>
                  <a:srgbClr val="A50021"/>
                </a:solidFill>
              </a:rPr>
              <a:t>case</a:t>
            </a:r>
            <a:r>
              <a:rPr lang="fr-FR" b="1" dirty="0"/>
              <a:t> val3: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fr-FR" b="1" dirty="0"/>
              <a:t>                   …</a:t>
            </a:r>
          </a:p>
          <a:p>
            <a:pPr lvl="4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fr-FR" sz="2000" b="1" dirty="0">
                <a:solidFill>
                  <a:srgbClr val="A50021"/>
                </a:solidFill>
              </a:rPr>
              <a:t>break;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fr-FR" sz="2000" b="1" dirty="0"/>
              <a:t>	 </a:t>
            </a:r>
            <a:r>
              <a:rPr lang="fr-FR" sz="2000" b="1" dirty="0">
                <a:solidFill>
                  <a:srgbClr val="A50021"/>
                </a:solidFill>
              </a:rPr>
              <a:t> </a:t>
            </a:r>
            <a:r>
              <a:rPr lang="fr-FR" sz="2000" b="1" dirty="0">
                <a:solidFill>
                  <a:srgbClr val="00B050"/>
                </a:solidFill>
              </a:rPr>
              <a:t>default</a:t>
            </a:r>
            <a:r>
              <a:rPr lang="fr-FR" sz="2000" b="1" dirty="0"/>
              <a:t>:	…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fr-FR" sz="2000" b="1" dirty="0">
                <a:solidFill>
                  <a:srgbClr val="A50021"/>
                </a:solidFill>
              </a:rPr>
              <a:t>}</a:t>
            </a:r>
          </a:p>
        </p:txBody>
      </p:sp>
      <p:sp>
        <p:nvSpPr>
          <p:cNvPr id="330765" name="AutoShape 13"/>
          <p:cNvSpPr>
            <a:spLocks noChangeArrowheads="1"/>
          </p:cNvSpPr>
          <p:nvPr/>
        </p:nvSpPr>
        <p:spPr bwMode="auto">
          <a:xfrm>
            <a:off x="5562600" y="1633935"/>
            <a:ext cx="4800600" cy="723106"/>
          </a:xfrm>
          <a:prstGeom prst="wedgeRoundRectCallout">
            <a:avLst>
              <a:gd name="adj1" fmla="val -83730"/>
              <a:gd name="adj2" fmla="val -14794"/>
              <a:gd name="adj3" fmla="val 16667"/>
            </a:avLst>
          </a:prstGeom>
          <a:solidFill>
            <a:schemeClr val="lt1"/>
          </a:solidFill>
          <a:ln w="44450" algn="ctr">
            <a:solidFill>
              <a:srgbClr val="C00000"/>
            </a:solidFill>
            <a:miter lim="800000"/>
          </a:ln>
          <a:effectLst/>
        </p:spPr>
        <p:txBody>
          <a:bodyPr/>
          <a:lstStyle/>
          <a:p>
            <a:pPr algn="ctr">
              <a:defRPr/>
            </a:pPr>
            <a:r>
              <a:rPr lang="fr-F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Uniquement les expressions entières sont permises: </a:t>
            </a:r>
            <a:r>
              <a:rPr lang="fr-FR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int</a:t>
            </a:r>
            <a:r>
              <a:rPr lang="fr-F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, short, long ou char.</a:t>
            </a:r>
          </a:p>
        </p:txBody>
      </p:sp>
      <p:sp>
        <p:nvSpPr>
          <p:cNvPr id="330766" name="AutoShape 14"/>
          <p:cNvSpPr>
            <a:spLocks noChangeArrowheads="1"/>
          </p:cNvSpPr>
          <p:nvPr/>
        </p:nvSpPr>
        <p:spPr bwMode="auto">
          <a:xfrm>
            <a:off x="5638800" y="2513807"/>
            <a:ext cx="4724400" cy="661193"/>
          </a:xfrm>
          <a:prstGeom prst="wedgeRoundRectCallout">
            <a:avLst>
              <a:gd name="adj1" fmla="val -93634"/>
              <a:gd name="adj2" fmla="val -46132"/>
              <a:gd name="adj3" fmla="val 16667"/>
            </a:avLst>
          </a:prstGeom>
          <a:solidFill>
            <a:schemeClr val="lt1"/>
          </a:solidFill>
          <a:ln w="38100" algn="ctr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>
              <a:defRPr/>
            </a:pP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Val1, val2, … doivent être des constantes du même type que Expression.</a:t>
            </a:r>
          </a:p>
        </p:txBody>
      </p:sp>
      <p:sp>
        <p:nvSpPr>
          <p:cNvPr id="330767" name="AutoShape 15"/>
          <p:cNvSpPr>
            <a:spLocks noChangeArrowheads="1"/>
          </p:cNvSpPr>
          <p:nvPr/>
        </p:nvSpPr>
        <p:spPr bwMode="auto">
          <a:xfrm>
            <a:off x="5562600" y="5484812"/>
            <a:ext cx="4800600" cy="762000"/>
          </a:xfrm>
          <a:prstGeom prst="wedgeRoundRectCallout">
            <a:avLst>
              <a:gd name="adj1" fmla="val -89812"/>
              <a:gd name="adj2" fmla="val -33959"/>
              <a:gd name="adj3" fmla="val 16667"/>
            </a:avLst>
          </a:prstGeom>
          <a:solidFill>
            <a:schemeClr val="lt1"/>
          </a:solidFill>
          <a:ln w="34925" algn="ctr">
            <a:solidFill>
              <a:srgbClr val="00B050"/>
            </a:solidFill>
            <a:miter lim="800000"/>
          </a:ln>
          <a:effectLst/>
        </p:spPr>
        <p:txBody>
          <a:bodyPr/>
          <a:lstStyle/>
          <a:p>
            <a:pPr algn="ctr">
              <a:defRPr/>
            </a:pPr>
            <a:r>
              <a:rPr lang="fr-FR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Exécuté lorsque aucun des «cases» précédents n’est vrai</a:t>
            </a:r>
          </a:p>
          <a:p>
            <a:pPr algn="ctr">
              <a:defRPr/>
            </a:pPr>
            <a:r>
              <a:rPr lang="fr-FR" dirty="0">
                <a:cs typeface="Arial" panose="020B0604020202020204" pitchFamily="34" charset="0"/>
              </a:rPr>
              <a:t> </a:t>
            </a:r>
          </a:p>
        </p:txBody>
      </p:sp>
      <p:sp>
        <p:nvSpPr>
          <p:cNvPr id="330768" name="AutoShape 16"/>
          <p:cNvSpPr>
            <a:spLocks noChangeArrowheads="1"/>
          </p:cNvSpPr>
          <p:nvPr/>
        </p:nvSpPr>
        <p:spPr bwMode="auto">
          <a:xfrm>
            <a:off x="5638800" y="3342481"/>
            <a:ext cx="4724400" cy="735807"/>
          </a:xfrm>
          <a:prstGeom prst="wedgeRoundRectCallout">
            <a:avLst>
              <a:gd name="adj1" fmla="val -82464"/>
              <a:gd name="adj2" fmla="val -66562"/>
              <a:gd name="adj3" fmla="val 16667"/>
            </a:avLst>
          </a:prstGeom>
          <a:ln w="539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lang="fr-FR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Obligatoire pour ne pas entrer dans le </a:t>
            </a:r>
          </a:p>
          <a:p>
            <a:pPr algn="ctr">
              <a:defRPr/>
            </a:pPr>
            <a:r>
              <a:rPr lang="fr-FR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«case» suivant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40155" y="448310"/>
            <a:ext cx="10328275" cy="1325880"/>
          </a:xfrm>
        </p:spPr>
        <p:txBody>
          <a:bodyPr>
            <a:normAutofit/>
          </a:bodyPr>
          <a:lstStyle/>
          <a:p>
            <a:pPr algn="l"/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Règles d'utilisation de l’instruction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Case</a:t>
            </a:r>
            <a:r>
              <a:rPr lang="fr-FR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 la             programmation 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05902"/>
          </a:xfrm>
        </p:spPr>
        <p:txBody>
          <a:bodyPr>
            <a:normAutofit fontScale="85000" lnSpcReduction="20000"/>
          </a:bodyPr>
          <a:lstStyle/>
          <a:p>
            <a:pPr marL="571500" indent="-457200">
              <a:buClr>
                <a:srgbClr val="FF0000"/>
              </a:buClr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Chaque «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doit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ête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unique.</a:t>
            </a:r>
          </a:p>
          <a:p>
            <a:pPr marL="571500" indent="-457200">
              <a:buClr>
                <a:srgbClr val="FF0000"/>
              </a:buClr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«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être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constante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expression de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constantes.</a:t>
            </a:r>
          </a:p>
          <a:p>
            <a:pPr marL="571500" indent="-457200">
              <a:buClr>
                <a:srgbClr val="FF0000"/>
              </a:buClr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«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être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fr-F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caractère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71500" indent="-457200">
              <a:buClr>
                <a:srgbClr val="FF0000"/>
              </a:buCl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case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doit avoir au maximum un cas par défaut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457200">
              <a:buClr>
                <a:srgbClr val="FF0000"/>
              </a:buClr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»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optionnel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457200">
              <a:buClr>
                <a:srgbClr val="FF0000"/>
              </a:buClr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peut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être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placé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n’importe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l’instruction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switch. </a:t>
            </a:r>
          </a:p>
          <a:p>
            <a:pPr marL="571500" indent="-457200">
              <a:buClr>
                <a:srgbClr val="FF0000"/>
              </a:buClr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L’instruction break;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termine l'exécution de l'instruction 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buClr>
                <a:srgbClr val="FF0000"/>
              </a:buClr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Deux ou plusieurs « cases » peuvent partager une seule instruction break;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457200">
              <a:buClr>
                <a:srgbClr val="FF0000"/>
              </a:buCl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imbriqués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71500" indent="-457200">
              <a:buClr>
                <a:srgbClr val="FF0000"/>
              </a:buClr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opérateurs relationnels ne sont pas autorisés dans l’instruction Switch.</a:t>
            </a:r>
          </a:p>
          <a:p>
            <a:pPr marL="571500" indent="-457200">
              <a:buClr>
                <a:srgbClr val="FF0000"/>
              </a:buCl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fr-F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onst</a:t>
            </a:r>
            <a:r>
              <a:rPr lang="fr-F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autorisées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l’instruction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switch Case.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065-C674-49D7-BAF1-0FA43DACBE06}" type="slidenum">
              <a:rPr lang="fr-FR" smtClean="0"/>
              <a:t>2</a:t>
            </a:fld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3850" y="26814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spc="-100" dirty="0">
                <a:solidFill>
                  <a:schemeClr val="tx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</a:t>
            </a:r>
            <a:r>
              <a:rPr lang="fr-FR" altLang="en-US" sz="2800" b="1" spc="-100" dirty="0">
                <a:solidFill>
                  <a:schemeClr val="tx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ègle</a:t>
            </a:r>
            <a:r>
              <a:rPr lang="en-US" sz="2800" b="1" spc="-100" dirty="0">
                <a:solidFill>
                  <a:schemeClr val="tx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 1: </a:t>
            </a:r>
            <a:r>
              <a:rPr lang="fr-FR" altLang="en-US" sz="2800" b="1" spc="-100" dirty="0">
                <a:solidFill>
                  <a:schemeClr val="tx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L'étiquette 'case' doit être</a:t>
            </a:r>
            <a:r>
              <a:rPr lang="en-US" sz="2800" b="1" spc="-100" dirty="0">
                <a:solidFill>
                  <a:schemeClr val="tx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 unique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026250" y="6231655"/>
            <a:ext cx="2743200" cy="365125"/>
          </a:xfrm>
        </p:spPr>
        <p:txBody>
          <a:bodyPr/>
          <a:lstStyle/>
          <a:p>
            <a:fld id="{C25B0065-C674-49D7-BAF1-0FA43DACBE06}" type="slidenum">
              <a:rPr lang="fr-FR" smtClean="0"/>
              <a:t>3</a:t>
            </a:fld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1254307" y="1708705"/>
            <a:ext cx="9025003" cy="452310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= 3 ; </a:t>
            </a: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(id)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{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case 1: 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case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("C++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case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("Web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default :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("No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</a:t>
            </a:r>
          </a:p>
        </p:txBody>
      </p:sp>
      <p:sp>
        <p:nvSpPr>
          <p:cNvPr id="8" name="Multiplier 7"/>
          <p:cNvSpPr/>
          <p:nvPr/>
        </p:nvSpPr>
        <p:spPr>
          <a:xfrm>
            <a:off x="6359515" y="4073156"/>
            <a:ext cx="1219200" cy="505060"/>
          </a:xfrm>
          <a:prstGeom prst="mathMultiply">
            <a:avLst/>
          </a:prstGeom>
          <a:solidFill>
            <a:srgbClr val="FF0000"/>
          </a:solidFill>
          <a:ln w="25400" cap="flat">
            <a:solidFill>
              <a:srgbClr val="4F81BD"/>
            </a:solidFill>
            <a:prstDash val="solid"/>
            <a:bevel/>
          </a:ln>
          <a:effectLst>
            <a:outerShdw blurRad="50800" dist="25400" rotWithShape="0">
              <a:srgbClr val="000000">
                <a:alpha val="6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109388" y="6231659"/>
            <a:ext cx="2743200" cy="365125"/>
          </a:xfrm>
        </p:spPr>
        <p:txBody>
          <a:bodyPr/>
          <a:lstStyle/>
          <a:p>
            <a:fld id="{C25B0065-C674-49D7-BAF1-0FA43DACBE06}" type="slidenum">
              <a:rPr lang="fr-FR" smtClean="0"/>
              <a:t>4</a:t>
            </a:fld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1250136" y="2028119"/>
            <a:ext cx="10465163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'A'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Symbol" panose="05050102010706020507"/>
              <a:buChar char="Þ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Ces exemples sont autorisés. Cependant les variables ne sont pas autorisées dans les cases label. </a:t>
            </a:r>
          </a:p>
          <a:p>
            <a:pPr>
              <a:buFont typeface="Symbol" panose="05050102010706020507"/>
              <a:buChar char="Þ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num1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n1+n2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ultiplier 4"/>
          <p:cNvSpPr/>
          <p:nvPr/>
        </p:nvSpPr>
        <p:spPr>
          <a:xfrm>
            <a:off x="3756550" y="4614272"/>
            <a:ext cx="931168" cy="519348"/>
          </a:xfrm>
          <a:prstGeom prst="mathMultiply">
            <a:avLst/>
          </a:prstGeom>
          <a:solidFill>
            <a:srgbClr val="FF0000"/>
          </a:solidFill>
          <a:ln w="25400" cap="flat">
            <a:solidFill>
              <a:srgbClr val="4F81BD"/>
            </a:solidFill>
            <a:prstDash val="solid"/>
            <a:bevel/>
          </a:ln>
          <a:effectLst>
            <a:outerShdw blurRad="50800" dist="25400" rotWithShape="0">
              <a:srgbClr val="000000">
                <a:alpha val="6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fr-F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50233" y="706583"/>
            <a:ext cx="6238875" cy="9531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Règle 2 :  'Case' </a:t>
            </a:r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+mn-ea"/>
              </a:rPr>
              <a:t>doit être une constante / </a:t>
            </a:r>
          </a:p>
          <a:p>
            <a:pPr algn="l"/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+mn-ea"/>
              </a:rPr>
              <a:t>                       expression de constantes</a:t>
            </a:r>
            <a:endParaRPr lang="en-US" sz="2800" spc="-100" dirty="0">
              <a:solidFill>
                <a:srgbClr val="1F497D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pic>
        <p:nvPicPr>
          <p:cNvPr id="10242" name="Picture 2" descr="Checkmark Icon Png #420193 - Free Icons Librar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45961" y="2413924"/>
            <a:ext cx="833488" cy="7234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01271" y="464832"/>
            <a:ext cx="9785384" cy="1045308"/>
          </a:xfrm>
        </p:spPr>
        <p:txBody>
          <a:bodyPr>
            <a:normAutofit/>
          </a:bodyPr>
          <a:lstStyle/>
          <a:p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Règle 3 : 'Case' </a:t>
            </a:r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+mn-ea"/>
              </a:rPr>
              <a:t>doit être de type entier (entier ou Caractère)</a:t>
            </a:r>
            <a:endParaRPr lang="fr-FR" altLang="en-US" sz="2800" b="1" spc="-100" dirty="0">
              <a:solidFill>
                <a:schemeClr val="tx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448800" y="6368180"/>
            <a:ext cx="2743200" cy="365125"/>
          </a:xfrm>
        </p:spPr>
        <p:txBody>
          <a:bodyPr/>
          <a:lstStyle/>
          <a:p>
            <a:fld id="{C25B0065-C674-49D7-BAF1-0FA43DACBE06}" type="slidenum">
              <a:rPr lang="fr-FR" smtClean="0"/>
              <a:t>5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>
          <a:xfrm>
            <a:off x="1447800" y="2144686"/>
            <a:ext cx="10160000" cy="1512168"/>
          </a:xfrm>
        </p:spPr>
        <p:txBody>
          <a:bodyPr>
            <a:norm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1383745" y="1365362"/>
            <a:ext cx="8064896" cy="43986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20+20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'A'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  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'a'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2000" spc="-100" dirty="0">
                <a:solidFill>
                  <a:srgbClr val="1F497D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Les nombres à virgule flottante ne sont pas permises </a:t>
            </a:r>
          </a:p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fr-F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10.12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fr-F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7.5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fr-FR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11" name="Multiplier 10"/>
          <p:cNvSpPr/>
          <p:nvPr/>
        </p:nvSpPr>
        <p:spPr>
          <a:xfrm>
            <a:off x="3373064" y="4542832"/>
            <a:ext cx="1219200" cy="497917"/>
          </a:xfrm>
          <a:prstGeom prst="mathMultiply">
            <a:avLst/>
          </a:prstGeom>
          <a:solidFill>
            <a:srgbClr val="FF0000"/>
          </a:solidFill>
          <a:ln w="25400" cap="flat">
            <a:solidFill>
              <a:srgbClr val="4F81BD"/>
            </a:solidFill>
            <a:prstDash val="solid"/>
            <a:bevel/>
          </a:ln>
          <a:effectLst>
            <a:outerShdw blurRad="50800" dist="25400" rotWithShape="0">
              <a:srgbClr val="000000">
                <a:alpha val="6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fr-F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" name="Picture 2" descr="Checkmark Icon Png #420193 - Free Icons Librar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79649" y="2189019"/>
            <a:ext cx="833488" cy="7234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34247" y="319222"/>
            <a:ext cx="10160000" cy="1320700"/>
          </a:xfrm>
        </p:spPr>
        <p:txBody>
          <a:bodyPr>
            <a:normAutofit/>
          </a:bodyPr>
          <a:lstStyle/>
          <a:p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Règle 4 : 'Switch case' d</a:t>
            </a:r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+mn-ea"/>
              </a:rPr>
              <a:t>oit avoir au maximum un cas par défaut</a:t>
            </a:r>
            <a:endParaRPr lang="fr-FR" altLang="en-US" sz="2800" b="1" spc="-1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065-C674-49D7-BAF1-0FA43DACBE06}" type="slidenum">
              <a:rPr lang="fr-FR" smtClean="0"/>
              <a:t>6</a:t>
            </a:fld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996388" y="1489197"/>
            <a:ext cx="9505056" cy="5076190"/>
          </a:xfrm>
          <a:prstGeom prst="rect">
            <a:avLst/>
          </a:prstGeom>
          <a:noFill/>
          <a:ln w="12700" cap="flat">
            <a:solidFill>
              <a:srgbClr val="0070C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(roll)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{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case 1: 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("C Programming Language"); 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case 2: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("C++ Programming Language");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case 3: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("Web Technology");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default :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("Default Version 1");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: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("Default Version 2");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10" name="Multiplier 9"/>
          <p:cNvSpPr/>
          <p:nvPr/>
        </p:nvSpPr>
        <p:spPr>
          <a:xfrm>
            <a:off x="5768283" y="5327306"/>
            <a:ext cx="1291386" cy="497917"/>
          </a:xfrm>
          <a:prstGeom prst="mathMultiply">
            <a:avLst/>
          </a:prstGeom>
          <a:solidFill>
            <a:srgbClr val="FF0000"/>
          </a:solidFill>
          <a:ln w="25400" cap="flat">
            <a:solidFill>
              <a:srgbClr val="4F81BD"/>
            </a:solidFill>
            <a:prstDash val="solid"/>
            <a:bevel/>
          </a:ln>
          <a:effectLst>
            <a:outerShdw blurRad="50800" dist="25400" rotWithShape="0">
              <a:srgbClr val="000000">
                <a:alpha val="6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fr-F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9200" y="235848"/>
            <a:ext cx="10160000" cy="1508125"/>
          </a:xfrm>
        </p:spPr>
        <p:txBody>
          <a:bodyPr>
            <a:normAutofit/>
          </a:bodyPr>
          <a:lstStyle/>
          <a:p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Règle 5 : </a:t>
            </a:r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+mn-ea"/>
              </a:rPr>
              <a:t>« Default » est optionnel</a:t>
            </a:r>
            <a:endParaRPr lang="fr-FR" altLang="en-US" sz="2800" b="1" spc="-1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065-C674-49D7-BAF1-0FA43DACBE06}" type="slidenum">
              <a:rPr lang="fr-FR" smtClean="0"/>
              <a:t>7</a:t>
            </a:fld>
            <a:endParaRPr lang="fr-FR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8"/>
            <a:ext cx="10160000" cy="5256584"/>
          </a:xfrm>
          <a:ln>
            <a:solidFill>
              <a:srgbClr val="0070C0"/>
            </a:solidFill>
          </a:ln>
        </p:spPr>
        <p:txBody>
          <a:bodyPr>
            <a:normAutofit fontScale="40000" lnSpcReduction="20000"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(roll) </a:t>
            </a:r>
          </a:p>
          <a:p>
            <a:pPr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{ </a:t>
            </a:r>
          </a:p>
          <a:p>
            <a:pPr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case 1 : </a:t>
            </a:r>
          </a:p>
          <a:p>
            <a:pPr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 Programming Language"); </a:t>
            </a:r>
          </a:p>
          <a:p>
            <a:pPr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pPr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case 2 : </a:t>
            </a:r>
          </a:p>
          <a:p>
            <a:pPr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("C++ Programming Language"); </a:t>
            </a:r>
          </a:p>
          <a:p>
            <a:pPr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pPr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case 3 : </a:t>
            </a:r>
          </a:p>
          <a:p>
            <a:pPr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("Web Technology"); </a:t>
            </a:r>
          </a:p>
          <a:p>
            <a:pPr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pPr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algn="l" rtl="0">
              <a:buNone/>
            </a:pP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buNone/>
            </a:pP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altLang="en-US" sz="45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--&gt; </a:t>
            </a:r>
            <a:r>
              <a:rPr lang="en-US" sz="45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L’instruction</a:t>
            </a:r>
            <a:r>
              <a:rPr lang="en-US" sz="4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default </a:t>
            </a:r>
            <a:r>
              <a:rPr lang="fr-FR" sz="4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facultative. Elle peut être omise.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Checkmark Icon Png #420193 - Free Icons Librar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40522" y="3243199"/>
            <a:ext cx="1147769" cy="9962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9220" y="238595"/>
            <a:ext cx="10160000" cy="1508125"/>
          </a:xfrm>
        </p:spPr>
        <p:txBody>
          <a:bodyPr>
            <a:normAutofit/>
          </a:bodyPr>
          <a:lstStyle/>
          <a:p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Règle 6 : </a:t>
            </a:r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+mn-ea"/>
              </a:rPr>
              <a:t>« Default » peut être placé n’importe où dans </a:t>
            </a:r>
            <a:b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+mn-ea"/>
              </a:rPr>
            </a:br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+mn-ea"/>
              </a:rPr>
              <a:t>                     l’instruction switch. </a:t>
            </a:r>
            <a:endParaRPr lang="fr-FR" altLang="en-US" sz="2800" b="1" spc="-1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065-C674-49D7-BAF1-0FA43DACBE06}" type="slidenum">
              <a:rPr lang="fr-FR" smtClean="0"/>
              <a:t>8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>
          <a:xfrm>
            <a:off x="1016000" y="1463862"/>
            <a:ext cx="10160000" cy="5257800"/>
          </a:xfrm>
          <a:ln>
            <a:solidFill>
              <a:srgbClr val="0070C0"/>
            </a:solidFill>
          </a:ln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(roll)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{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case 1 :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 Programming Language");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break;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default: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("No Student Found"); </a:t>
            </a:r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break;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case 2 :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("C++ Programming Language");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case 3 :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("Web Technology");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Checkmark Icon Png #420193 - Free Icons Librar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55129" y="3205308"/>
            <a:ext cx="833488" cy="7234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065-C674-49D7-BAF1-0FA43DACBE06}" type="slidenum">
              <a:rPr lang="fr-FR" smtClean="0"/>
              <a:t>9</a:t>
            </a:fld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1180515" y="706741"/>
            <a:ext cx="11521280" cy="18903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Règle 7 : </a:t>
            </a:r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+mn-ea"/>
              </a:rPr>
              <a:t>L’instruction break;  termine l'exécution de </a:t>
            </a:r>
          </a:p>
          <a:p>
            <a:pPr>
              <a:spcAft>
                <a:spcPts val="600"/>
              </a:spcAft>
              <a:buNone/>
            </a:pPr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+mn-ea"/>
              </a:rPr>
              <a:t>                   l'instruction switch.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buNone/>
            </a:pPr>
            <a:endParaRPr lang="fr-FR" altLang="en-US" sz="2800" b="1" spc="-1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7649" y="1702449"/>
            <a:ext cx="6096000" cy="4985385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( 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	char grade 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("Enter your current letter grade\n") 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grade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getchar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) ;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(grade)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	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('a') : case ('A') 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("Good Job!\n") 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('b') : case ('B')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("Pretty good.\n") 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case ('c') : case ('C') :</a:t>
            </a:r>
          </a:p>
          <a:p>
            <a:pPr>
              <a:buFont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("Better get to work.\n") ;</a:t>
            </a:r>
          </a:p>
          <a:p>
            <a:pPr>
              <a:buFont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('d') : case ('D') :</a:t>
            </a:r>
          </a:p>
          <a:p>
            <a:pPr>
              <a:buFont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("You are in trouble.\n") ;</a:t>
            </a:r>
          </a:p>
          <a:p>
            <a:pPr>
              <a:buFontTx/>
              <a:buNone/>
            </a:pPr>
            <a:r>
              <a:rPr 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default :</a:t>
            </a:r>
          </a:p>
          <a:p>
            <a:pPr>
              <a:buFont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("You are failing!!\n") ; </a:t>
            </a:r>
          </a:p>
          <a:p>
            <a:pPr>
              <a:lnSpc>
                <a:spcPct val="30000"/>
              </a:lnSpc>
              <a:buFontTx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    /* End of switch-case structure */</a:t>
            </a:r>
          </a:p>
          <a:p>
            <a:pPr>
              <a:buFont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       /* End of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6980" y="2597150"/>
            <a:ext cx="4216400" cy="36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fr-FR" altLang="en-US" dirty="0">
                <a:cs typeface="Times New Roman" panose="02020603050405020304" pitchFamily="18" charset="0"/>
              </a:rPr>
              <a:t>Si la valeur saisie de grade = </a:t>
            </a:r>
            <a:r>
              <a:rPr lang="en-US" b="1" dirty="0"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‘A’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 </a:t>
            </a:r>
            <a:r>
              <a:rPr lang="fr-FR" altLang="en-US" b="1" i="1" dirty="0">
                <a:cs typeface="Times New Roman" panose="02020603050405020304" pitchFamily="18" charset="0"/>
              </a:rPr>
              <a:t>Sortie</a:t>
            </a:r>
            <a:r>
              <a:rPr lang="en-US" b="1" i="1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:</a:t>
            </a:r>
          </a:p>
          <a:p>
            <a:pPr>
              <a:buFontTx/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Job!</a:t>
            </a:r>
          </a:p>
          <a:p>
            <a:pPr>
              <a:buFontTx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Pretty good.</a:t>
            </a:r>
          </a:p>
          <a:p>
            <a:pPr>
              <a:buFontTx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get to work.</a:t>
            </a:r>
          </a:p>
          <a:p>
            <a:pPr>
              <a:buFontTx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in trouble.</a:t>
            </a:r>
          </a:p>
          <a:p>
            <a:pPr>
              <a:buFontTx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failing! </a:t>
            </a:r>
          </a:p>
          <a:p>
            <a:pPr>
              <a:buFontTx/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L'entrée saisie ( 'A')  correspond au premier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mais toutes les instructions du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sont exécutées.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Multiplier 11"/>
          <p:cNvSpPr/>
          <p:nvPr/>
        </p:nvSpPr>
        <p:spPr>
          <a:xfrm>
            <a:off x="5571760" y="3948421"/>
            <a:ext cx="1342466" cy="494345"/>
          </a:xfrm>
          <a:prstGeom prst="mathMultiply">
            <a:avLst/>
          </a:prstGeom>
          <a:solidFill>
            <a:srgbClr val="FF0000"/>
          </a:solidFill>
          <a:ln w="25400" cap="flat">
            <a:solidFill>
              <a:srgbClr val="4F81BD"/>
            </a:solidFill>
            <a:prstDash val="solid"/>
            <a:bevel/>
          </a:ln>
          <a:effectLst>
            <a:outerShdw blurRad="50800" dist="25400" rotWithShape="0">
              <a:srgbClr val="000000">
                <a:alpha val="6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fr-F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7190" y="1833704"/>
            <a:ext cx="10177131" cy="4699604"/>
          </a:xfrm>
          <a:ln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Cambria" panose="02040503050406030204"/>
              </a:rPr>
              <a:t>switch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mbria" panose="02040503050406030204"/>
              </a:rPr>
              <a:t>(alpha) </a:t>
            </a:r>
          </a:p>
          <a:p>
            <a:pPr>
              <a:lnSpc>
                <a:spcPct val="90000"/>
              </a:lnSpc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mbria" panose="02040503050406030204"/>
              </a:rPr>
              <a:t>       { </a:t>
            </a:r>
          </a:p>
          <a:p>
            <a:pPr>
              <a:lnSpc>
                <a:spcPct val="90000"/>
              </a:lnSpc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mbria" panose="02040503050406030204"/>
              </a:rPr>
              <a:t>       case 'a': </a:t>
            </a:r>
          </a:p>
          <a:p>
            <a:pPr>
              <a:lnSpc>
                <a:spcPct val="90000"/>
              </a:lnSpc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mbria" panose="02040503050406030204"/>
              </a:rPr>
              <a:t>       case 'A': </a:t>
            </a:r>
          </a:p>
          <a:p>
            <a:pPr>
              <a:lnSpc>
                <a:spcPct val="90000"/>
              </a:lnSpc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mbria" panose="02040503050406030204"/>
              </a:rPr>
              <a:t>              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Cambria" panose="02040503050406030204"/>
              </a:rPr>
              <a:t>printf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mbria" panose="02040503050406030204"/>
              </a:rPr>
              <a:t>("Alphabet A"); </a:t>
            </a:r>
          </a:p>
          <a:p>
            <a:pPr>
              <a:lnSpc>
                <a:spcPct val="90000"/>
              </a:lnSpc>
              <a:buNone/>
            </a:pPr>
            <a:r>
              <a:rPr lang="fr-FR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mbria" panose="02040503050406030204"/>
              </a:rPr>
              <a:t>               </a:t>
            </a:r>
            <a:r>
              <a:rPr lang="fr-FR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mbria" panose="02040503050406030204"/>
              </a:rPr>
              <a:t>break; </a:t>
            </a:r>
          </a:p>
          <a:p>
            <a:pPr>
              <a:lnSpc>
                <a:spcPct val="90000"/>
              </a:lnSpc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mbria" panose="02040503050406030204"/>
              </a:rPr>
              <a:t>       case 'b': </a:t>
            </a:r>
          </a:p>
          <a:p>
            <a:pPr>
              <a:lnSpc>
                <a:spcPct val="90000"/>
              </a:lnSpc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mbria" panose="02040503050406030204"/>
              </a:rPr>
              <a:t>       case 'B': </a:t>
            </a:r>
          </a:p>
          <a:p>
            <a:pPr>
              <a:lnSpc>
                <a:spcPct val="90000"/>
              </a:lnSpc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mbria" panose="02040503050406030204"/>
              </a:rPr>
              <a:t>              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Cambria" panose="02040503050406030204"/>
              </a:rPr>
              <a:t>printf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mbria" panose="02040503050406030204"/>
              </a:rPr>
              <a:t>("Alphabet B"); </a:t>
            </a:r>
          </a:p>
          <a:p>
            <a:pPr>
              <a:lnSpc>
                <a:spcPct val="90000"/>
              </a:lnSpc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mbria" panose="02040503050406030204"/>
              </a:rPr>
              <a:t>               break; </a:t>
            </a:r>
          </a:p>
          <a:p>
            <a:pPr>
              <a:lnSpc>
                <a:spcPct val="90000"/>
              </a:lnSpc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mbria" panose="02040503050406030204"/>
              </a:rPr>
              <a:t>        }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065-C674-49D7-BAF1-0FA43DACBE06}" type="slidenum">
              <a:rPr lang="fr-FR" smtClean="0"/>
              <a:t>10</a:t>
            </a:fld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1180515" y="706741"/>
            <a:ext cx="11521280" cy="122872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buNone/>
            </a:pPr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Règle 8 : </a:t>
            </a:r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+mn-ea"/>
              </a:rPr>
              <a:t>Deux ou plusieurs « cases » peuvent partager une </a:t>
            </a:r>
          </a:p>
          <a:p>
            <a:pPr>
              <a:buNone/>
            </a:pPr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+mn-ea"/>
              </a:rPr>
              <a:t>                     seule instruction break; </a:t>
            </a:r>
            <a:endParaRPr lang="fr-FR" altLang="en-US" sz="2800" b="1" spc="-1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2" descr="Checkmark Icon Png #420193 - Free Icons Librar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31730" y="3422419"/>
            <a:ext cx="833488" cy="7234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92421" y="526817"/>
            <a:ext cx="9129237" cy="886366"/>
          </a:xfrm>
        </p:spPr>
        <p:txBody>
          <a:bodyPr>
            <a:normAutofit/>
          </a:bodyPr>
          <a:lstStyle/>
          <a:p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Règle 9 : </a:t>
            </a:r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+mn-ea"/>
              </a:rPr>
              <a:t>Les switchs imbriqués sont permises</a:t>
            </a:r>
            <a:endParaRPr lang="fr-FR" altLang="en-US" sz="2800" b="1" spc="-1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94006" y="1413793"/>
            <a:ext cx="10160000" cy="5257800"/>
          </a:xfrm>
          <a:ln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fr-FR" dirty="0">
                <a:solidFill>
                  <a:srgbClr val="00B050"/>
                </a:solidFill>
              </a:rPr>
              <a:t> </a:t>
            </a:r>
            <a:r>
              <a:rPr lang="fr-FR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</a:t>
            </a:r>
            <a:r>
              <a:rPr lang="fr-FR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(alpha) </a:t>
            </a:r>
          </a:p>
          <a:p>
            <a:pPr>
              <a:buNone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{case 'a': </a:t>
            </a:r>
          </a:p>
          <a:p>
            <a:pPr>
              <a:buNone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case 'A': </a:t>
            </a:r>
          </a:p>
          <a:p>
            <a:pPr>
              <a:buNone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("Alphabet A"); </a:t>
            </a:r>
          </a:p>
          <a:p>
            <a:pPr>
              <a:buNone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pPr>
              <a:buNone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case 'b': </a:t>
            </a:r>
          </a:p>
          <a:p>
            <a:pPr>
              <a:buNone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case 'B': </a:t>
            </a:r>
          </a:p>
          <a:p>
            <a:pPr>
              <a:buNone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</a:t>
            </a:r>
            <a:r>
              <a:rPr lang="fr-FR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(beta) </a:t>
            </a:r>
          </a:p>
          <a:p>
            <a:pPr>
              <a:buNone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{  …</a:t>
            </a:r>
          </a:p>
          <a:p>
            <a:pPr>
              <a:buNone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} </a:t>
            </a:r>
          </a:p>
          <a:p>
            <a:pPr>
              <a:buNone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pPr>
              <a:buNone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065-C674-49D7-BAF1-0FA43DACBE06}" type="slidenum">
              <a:rPr lang="fr-FR" smtClean="0"/>
              <a:t>11</a:t>
            </a:fld>
            <a:endParaRPr lang="fr-FR"/>
          </a:p>
        </p:txBody>
      </p:sp>
      <p:pic>
        <p:nvPicPr>
          <p:cNvPr id="6" name="Picture 2" descr="Checkmark Icon Png #420193 - Free Icons Librar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55233" y="4643524"/>
            <a:ext cx="833488" cy="7234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05230" y="410845"/>
            <a:ext cx="9370060" cy="1508125"/>
          </a:xfrm>
        </p:spPr>
        <p:txBody>
          <a:bodyPr>
            <a:normAutofit/>
          </a:bodyPr>
          <a:lstStyle/>
          <a:p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Règle 10 : </a:t>
            </a:r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+mn-ea"/>
              </a:rPr>
              <a:t>Les opérateurs relationnels ne sont pas autorisés dans l’instruction Switch</a:t>
            </a:r>
            <a:endParaRPr lang="fr-FR" altLang="en-US" sz="2800" b="1" spc="-1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05230" y="1796415"/>
            <a:ext cx="10160000" cy="4925144"/>
          </a:xfrm>
          <a:ln>
            <a:solidFill>
              <a:srgbClr val="0070C0"/>
            </a:solidFill>
          </a:ln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(num)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{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case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15: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("Number &gt; 15");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case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15: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("Number = 15");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case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15: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("Number &lt; 15");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065-C674-49D7-BAF1-0FA43DACBE06}" type="slidenum">
              <a:rPr lang="fr-FR" smtClean="0"/>
              <a:t>12</a:t>
            </a:fld>
            <a:endParaRPr lang="fr-FR"/>
          </a:p>
        </p:txBody>
      </p:sp>
      <p:sp>
        <p:nvSpPr>
          <p:cNvPr id="5" name="Multiplier 4"/>
          <p:cNvSpPr/>
          <p:nvPr/>
        </p:nvSpPr>
        <p:spPr>
          <a:xfrm>
            <a:off x="6613622" y="3657245"/>
            <a:ext cx="1342466" cy="494345"/>
          </a:xfrm>
          <a:prstGeom prst="mathMultiply">
            <a:avLst/>
          </a:prstGeom>
          <a:solidFill>
            <a:srgbClr val="FF0000"/>
          </a:solidFill>
          <a:ln w="25400" cap="flat">
            <a:solidFill>
              <a:srgbClr val="4F81BD"/>
            </a:solidFill>
            <a:prstDash val="solid"/>
            <a:bevel/>
          </a:ln>
          <a:effectLst>
            <a:outerShdw blurRad="50800" dist="25400" rotWithShape="0">
              <a:srgbClr val="000000">
                <a:alpha val="6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fr-F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3010" y="323560"/>
            <a:ext cx="9455727" cy="1325563"/>
          </a:xfrm>
        </p:spPr>
        <p:txBody>
          <a:bodyPr>
            <a:normAutofit/>
          </a:bodyPr>
          <a:lstStyle/>
          <a:p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Règle 11 : </a:t>
            </a:r>
            <a:r>
              <a:rPr lang="fr-FR" altLang="en-US" sz="2800" b="1" spc="-100" dirty="0">
                <a:latin typeface="Cambria" panose="02040503050406030204"/>
                <a:ea typeface="Cambria" panose="02040503050406030204"/>
                <a:cs typeface="Cambria" panose="02040503050406030204"/>
                <a:sym typeface="+mn-ea"/>
              </a:rPr>
              <a:t>Les constantes  sont autorisées dans l’instruction switch Case.</a:t>
            </a:r>
            <a:endParaRPr lang="fr-FR" altLang="en-US" sz="2800" b="1" spc="-1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19480" y="1841500"/>
            <a:ext cx="9902891" cy="4061048"/>
          </a:xfrm>
          <a:ln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const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2; 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switch(num) 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{ 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case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("Number = 2"); 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break; 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065-C674-49D7-BAF1-0FA43DACBE06}" type="slidenum">
              <a:rPr lang="fr-FR" smtClean="0"/>
              <a:t>13</a:t>
            </a:fld>
            <a:endParaRPr lang="fr-FR"/>
          </a:p>
        </p:txBody>
      </p:sp>
      <p:pic>
        <p:nvPicPr>
          <p:cNvPr id="6" name="Picture 2" descr="Checkmark Icon Png #420193 - Free Icons Librar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12565" y="3510166"/>
            <a:ext cx="833488" cy="7234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1093</Words>
  <Application>Microsoft Office PowerPoint</Application>
  <PresentationFormat>Widescreen</PresentationFormat>
  <Paragraphs>231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Symbol</vt:lpstr>
      <vt:lpstr>Times New Roman</vt:lpstr>
      <vt:lpstr>Wingdings</vt:lpstr>
      <vt:lpstr>Office Theme</vt:lpstr>
      <vt:lpstr>L’instruction switch</vt:lpstr>
      <vt:lpstr>Règles d'utilisation de l’instruction 'Switch Case' dans la             programmation C</vt:lpstr>
      <vt:lpstr>Règle 1: L'étiquette 'case' doit être unique </vt:lpstr>
      <vt:lpstr>PowerPoint Presentation</vt:lpstr>
      <vt:lpstr>Règle 3 : 'Case' doit être de type entier (entier ou Caractère)</vt:lpstr>
      <vt:lpstr>Règle 4 : 'Switch case' doit avoir au maximum un cas par défaut</vt:lpstr>
      <vt:lpstr>Règle 5 : « Default » est optionnel</vt:lpstr>
      <vt:lpstr>Règle 6 : « Default » peut être placé n’importe où dans                       l’instruction switch. </vt:lpstr>
      <vt:lpstr>PowerPoint Presentation</vt:lpstr>
      <vt:lpstr>PowerPoint Presentation</vt:lpstr>
      <vt:lpstr>Règle 9 : Les switchs imbriqués sont permises</vt:lpstr>
      <vt:lpstr>Règle 10 : Les opérateurs relationnels ne sont pas autorisés dans l’instruction Switch</vt:lpstr>
      <vt:lpstr>Règle 11 : Les constantes  sont autorisées dans l’instruction switch Case.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Halim</dc:creator>
  <cp:lastModifiedBy>naouel boughattas</cp:lastModifiedBy>
  <cp:revision>174</cp:revision>
  <dcterms:created xsi:type="dcterms:W3CDTF">2015-03-06T15:17:00Z</dcterms:created>
  <dcterms:modified xsi:type="dcterms:W3CDTF">2025-04-15T13:32:54Z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1036-11.2.0.11254</vt:lpwstr>
  </property>
  <property fmtid="{D5CDD505-2E9C-101B-9397-08002B2CF9AE}" pid="3" name="ICV">
    <vt:lpwstr>08F5769C689244FE9E014F73EB5D6BBB</vt:lpwstr>
  </property>
</Properties>
</file>