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10" r:id="rId2"/>
    <p:sldId id="311" r:id="rId3"/>
    <p:sldId id="312" r:id="rId4"/>
    <p:sldId id="317" r:id="rId5"/>
    <p:sldId id="313" r:id="rId6"/>
    <p:sldId id="322" r:id="rId7"/>
    <p:sldId id="338" r:id="rId8"/>
    <p:sldId id="314" r:id="rId9"/>
    <p:sldId id="31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10"/>
            <p14:sldId id="311"/>
            <p14:sldId id="312"/>
            <p14:sldId id="317"/>
            <p14:sldId id="313"/>
            <p14:sldId id="322"/>
            <p14:sldId id="338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  <a:t>15/04/2025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  <a:t>15/04/2025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  <a:t>15/04/2025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  <a:t>15/04/2025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  <a:t>15/04/2025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  <a:t>15/04/2025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  <a:t>15/04/2025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881C3B5-459A-4B47-8963-06646C9F9A14}" type="slidenum">
              <a:rPr lang="en-GB" sz="1400"/>
              <a:t>1</a:t>
            </a:fld>
            <a:endParaRPr lang="en-GB" sz="1400"/>
          </a:p>
        </p:txBody>
      </p:sp>
      <p:sp>
        <p:nvSpPr>
          <p:cNvPr id="4099" name="Rectangle 13"/>
          <p:cNvSpPr>
            <a:spLocks noGrp="1" noChangeArrowheads="1"/>
          </p:cNvSpPr>
          <p:nvPr>
            <p:ph type="title"/>
          </p:nvPr>
        </p:nvSpPr>
        <p:spPr>
          <a:xfrm>
            <a:off x="1310005" y="743585"/>
            <a:ext cx="8229600" cy="533400"/>
          </a:xfrm>
          <a:noFill/>
        </p:spPr>
        <p:txBody>
          <a:bodyPr anchor="ctr">
            <a:normAutofit fontScale="90000"/>
          </a:bodyPr>
          <a:lstStyle/>
          <a:p>
            <a:pPr eaLnBrk="1" hangingPunct="1"/>
            <a:r>
              <a:rPr lang="de-CH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L‘instruction</a:t>
            </a:r>
            <a:r>
              <a:rPr lang="de-CH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CH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de-CH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 </a:t>
            </a:r>
            <a:r>
              <a:rPr lang="de-CH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de-CH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</p:txBody>
      </p:sp>
      <p:sp>
        <p:nvSpPr>
          <p:cNvPr id="4100" name="AutoShape 14"/>
          <p:cNvSpPr>
            <a:spLocks noChangeArrowheads="1"/>
          </p:cNvSpPr>
          <p:nvPr/>
        </p:nvSpPr>
        <p:spPr bwMode="auto">
          <a:xfrm>
            <a:off x="2362200" y="3733800"/>
            <a:ext cx="2514600" cy="19812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4101" name="Rectangle 1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14600" y="1905000"/>
            <a:ext cx="3886200" cy="3765550"/>
          </a:xfrm>
          <a:noFill/>
        </p:spPr>
        <p:txBody>
          <a:bodyPr>
            <a:normAutofit fontScale="77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if (</a:t>
            </a:r>
            <a:r>
              <a:rPr lang="fr-FR" b="1" i="1" dirty="0"/>
              <a:t>Condition</a:t>
            </a:r>
            <a:r>
              <a:rPr lang="fr-FR" b="1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    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    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 err="1"/>
              <a:t>else</a:t>
            </a:r>
            <a:r>
              <a:rPr lang="fr-FR" b="1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	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    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b="1" dirty="0"/>
              <a:t>}</a:t>
            </a:r>
          </a:p>
        </p:txBody>
      </p:sp>
      <p:sp>
        <p:nvSpPr>
          <p:cNvPr id="301072" name="AutoShape 16"/>
          <p:cNvSpPr>
            <a:spLocks noChangeArrowheads="1"/>
          </p:cNvSpPr>
          <p:nvPr/>
        </p:nvSpPr>
        <p:spPr bwMode="auto">
          <a:xfrm>
            <a:off x="5638800" y="1609724"/>
            <a:ext cx="4876800" cy="1447800"/>
          </a:xfrm>
          <a:prstGeom prst="wedgeRoundRectCallout">
            <a:avLst>
              <a:gd name="adj1" fmla="val -79689"/>
              <a:gd name="adj2" fmla="val -18419"/>
              <a:gd name="adj3" fmla="val 16667"/>
            </a:avLst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r>
              <a:rPr lang="fr-FR" b="1">
                <a:cs typeface="Arial" panose="020B0604020202020204" pitchFamily="34" charset="0"/>
              </a:rPr>
              <a:t>Condition=Expression logique</a:t>
            </a:r>
            <a:r>
              <a:rPr lang="fr-FR">
                <a:cs typeface="Arial" panose="020B0604020202020204" pitchFamily="34" charset="0"/>
              </a:rPr>
              <a:t>  </a:t>
            </a:r>
          </a:p>
          <a:p>
            <a:pPr algn="ctr">
              <a:defRPr/>
            </a:pPr>
            <a:r>
              <a:rPr lang="fr-FR">
                <a:cs typeface="Arial" panose="020B0604020202020204" pitchFamily="34" charset="0"/>
              </a:rPr>
              <a:t>simple ou combinée.</a:t>
            </a:r>
          </a:p>
          <a:p>
            <a:pPr algn="ctr">
              <a:defRPr/>
            </a:pPr>
            <a:r>
              <a:rPr lang="fr-FR" b="1">
                <a:cs typeface="Arial" panose="020B0604020202020204" pitchFamily="34" charset="0"/>
              </a:rPr>
              <a:t>Exemples:</a:t>
            </a:r>
            <a:r>
              <a:rPr lang="fr-FR">
                <a:cs typeface="Arial" panose="020B0604020202020204" pitchFamily="34" charset="0"/>
              </a:rPr>
              <a:t> (A&lt;B), (M&gt;10.0), (Delta &lt;=0),</a:t>
            </a:r>
          </a:p>
          <a:p>
            <a:pPr algn="ctr">
              <a:defRPr/>
            </a:pPr>
            <a:r>
              <a:rPr lang="fr-FR">
                <a:cs typeface="Arial" panose="020B0604020202020204" pitchFamily="34" charset="0"/>
              </a:rPr>
              <a:t>((Age &gt; 18) &amp;&amp; (Moy&gt;= 14.0))</a:t>
            </a:r>
          </a:p>
        </p:txBody>
      </p:sp>
      <p:sp>
        <p:nvSpPr>
          <p:cNvPr id="301073" name="AutoShape 17"/>
          <p:cNvSpPr>
            <a:spLocks noChangeArrowheads="1"/>
          </p:cNvSpPr>
          <p:nvPr/>
        </p:nvSpPr>
        <p:spPr bwMode="auto">
          <a:xfrm>
            <a:off x="5334000" y="3221037"/>
            <a:ext cx="4800600" cy="990600"/>
          </a:xfrm>
          <a:prstGeom prst="wedgeRoundRectCallout">
            <a:avLst>
              <a:gd name="adj1" fmla="val -93157"/>
              <a:gd name="adj2" fmla="val -65223"/>
              <a:gd name="adj3" fmla="val 16667"/>
            </a:avLst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r>
              <a:rPr lang="fr-FR">
                <a:cs typeface="Arial" panose="020B0604020202020204" pitchFamily="34" charset="0"/>
              </a:rPr>
              <a:t>Traitement à effectuer </a:t>
            </a:r>
            <a:r>
              <a:rPr lang="fr-FR" b="1">
                <a:solidFill>
                  <a:srgbClr val="A50021"/>
                </a:solidFill>
                <a:cs typeface="Arial" panose="020B0604020202020204" pitchFamily="34" charset="0"/>
              </a:rPr>
              <a:t>si la condition est vraie</a:t>
            </a:r>
            <a:r>
              <a:rPr lang="fr-FR">
                <a:cs typeface="Arial" panose="020B0604020202020204" pitchFamily="34" charset="0"/>
              </a:rPr>
              <a:t> (toute valeur ≠ 0). À la fin du traitement, il y a un saut après la partie else.</a:t>
            </a:r>
          </a:p>
        </p:txBody>
      </p:sp>
      <p:sp>
        <p:nvSpPr>
          <p:cNvPr id="301074" name="AutoShape 18"/>
          <p:cNvSpPr>
            <a:spLocks noChangeArrowheads="1"/>
          </p:cNvSpPr>
          <p:nvPr/>
        </p:nvSpPr>
        <p:spPr bwMode="auto">
          <a:xfrm>
            <a:off x="5257800" y="4699000"/>
            <a:ext cx="4800600" cy="685800"/>
          </a:xfrm>
          <a:prstGeom prst="wedgeRoundRectCallout">
            <a:avLst>
              <a:gd name="adj1" fmla="val -93619"/>
              <a:gd name="adj2" fmla="val -32871"/>
              <a:gd name="adj3" fmla="val 16667"/>
            </a:avLst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r>
              <a:rPr lang="fr-FR">
                <a:cs typeface="Arial" panose="020B0604020202020204" pitchFamily="34" charset="0"/>
              </a:rPr>
              <a:t>Traitement à effectuer </a:t>
            </a:r>
            <a:r>
              <a:rPr lang="fr-FR" b="1">
                <a:solidFill>
                  <a:srgbClr val="A50021"/>
                </a:solidFill>
                <a:cs typeface="Arial" panose="020B0604020202020204" pitchFamily="34" charset="0"/>
              </a:rPr>
              <a:t>si la condition est fausse</a:t>
            </a:r>
            <a:r>
              <a:rPr lang="fr-FR">
                <a:cs typeface="Arial" panose="020B0604020202020204" pitchFamily="34" charset="0"/>
              </a:rPr>
              <a:t> (valeur = 0).</a:t>
            </a:r>
          </a:p>
        </p:txBody>
      </p:sp>
      <p:sp>
        <p:nvSpPr>
          <p:cNvPr id="4105" name="AutoShape 19"/>
          <p:cNvSpPr>
            <a:spLocks noChangeArrowheads="1"/>
          </p:cNvSpPr>
          <p:nvPr/>
        </p:nvSpPr>
        <p:spPr bwMode="auto">
          <a:xfrm>
            <a:off x="228600" y="5997575"/>
            <a:ext cx="3022600" cy="739775"/>
          </a:xfrm>
          <a:prstGeom prst="wedgeEllipseCallout">
            <a:avLst>
              <a:gd name="adj1" fmla="val 19928"/>
              <a:gd name="adj2" fmla="val -110267"/>
            </a:avLst>
          </a:prstGeom>
          <a:noFill/>
          <a:ln w="9525">
            <a:solidFill>
              <a:srgbClr val="00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sz="2000" b="1" dirty="0">
                <a:solidFill>
                  <a:srgbClr val="A50021"/>
                </a:solidFill>
                <a:cs typeface="Arial" panose="020B0604020202020204" pitchFamily="34" charset="0"/>
              </a:rPr>
              <a:t>Bloc «</a:t>
            </a:r>
            <a:r>
              <a:rPr lang="fr-FR" sz="2000" b="1" dirty="0" err="1">
                <a:solidFill>
                  <a:srgbClr val="A50021"/>
                </a:solidFill>
                <a:cs typeface="Arial" panose="020B0604020202020204" pitchFamily="34" charset="0"/>
              </a:rPr>
              <a:t>else</a:t>
            </a:r>
            <a:r>
              <a:rPr lang="fr-FR" sz="2000" b="1" dirty="0">
                <a:solidFill>
                  <a:srgbClr val="A50021"/>
                </a:solidFill>
                <a:cs typeface="Arial" panose="020B0604020202020204" pitchFamily="34" charset="0"/>
              </a:rPr>
              <a:t>» Optionnel</a:t>
            </a:r>
          </a:p>
        </p:txBody>
      </p:sp>
      <p:sp>
        <p:nvSpPr>
          <p:cNvPr id="4106" name="AutoShape 21"/>
          <p:cNvSpPr>
            <a:spLocks noChangeArrowheads="1"/>
          </p:cNvSpPr>
          <p:nvPr/>
        </p:nvSpPr>
        <p:spPr bwMode="auto">
          <a:xfrm>
            <a:off x="2362200" y="1905000"/>
            <a:ext cx="2514600" cy="17843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3399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4107" name="AutoShape 22"/>
          <p:cNvSpPr>
            <a:spLocks noChangeArrowheads="1"/>
          </p:cNvSpPr>
          <p:nvPr/>
        </p:nvSpPr>
        <p:spPr bwMode="auto">
          <a:xfrm>
            <a:off x="228600" y="2678112"/>
            <a:ext cx="1828800" cy="914400"/>
          </a:xfrm>
          <a:prstGeom prst="wedgeEllipseCallout">
            <a:avLst>
              <a:gd name="adj1" fmla="val 63107"/>
              <a:gd name="adj2" fmla="val -92537"/>
            </a:avLst>
          </a:prstGeom>
          <a:noFill/>
          <a:ln w="9525">
            <a:solidFill>
              <a:srgbClr val="00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sz="2000" b="1" dirty="0">
                <a:solidFill>
                  <a:srgbClr val="A50021"/>
                </a:solidFill>
                <a:cs typeface="Arial" panose="020B0604020202020204" pitchFamily="34" charset="0"/>
              </a:rPr>
              <a:t>Bloc «if»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731D2B-74C6-4C89-82ED-6F2FDC3C7418}" type="slidenum">
              <a:rPr lang="en-GB" sz="1400"/>
              <a:t>2</a:t>
            </a:fld>
            <a:endParaRPr lang="en-GB" sz="140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>
          <a:xfrm>
            <a:off x="1290320" y="365125"/>
            <a:ext cx="10515600" cy="1325563"/>
          </a:xfrm>
        </p:spPr>
        <p:txBody>
          <a:bodyPr/>
          <a:lstStyle/>
          <a:p>
            <a:pPr eaLnBrk="1" hangingPunct="1"/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1</a:t>
            </a:r>
          </a:p>
        </p:txBody>
      </p:sp>
      <p:pic>
        <p:nvPicPr>
          <p:cNvPr id="5124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1" t="33333" r="37270" b="16667"/>
          <a:stretch>
            <a:fillRect/>
          </a:stretch>
        </p:blipFill>
        <p:spPr>
          <a:xfrm>
            <a:off x="1290321" y="1691005"/>
            <a:ext cx="8391524" cy="4294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F758E00-9696-4AD0-88C3-83BBFDCA5EC8}" type="slidenum">
              <a:rPr lang="en-GB" sz="1400"/>
              <a:t>3</a:t>
            </a:fld>
            <a:endParaRPr lang="en-GB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    </a:t>
            </a:r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2</a:t>
            </a:r>
          </a:p>
        </p:txBody>
      </p:sp>
      <p:sp>
        <p:nvSpPr>
          <p:cNvPr id="6148" name="Rectangle 6"/>
          <p:cNvSpPr>
            <a:spLocks noChangeArrowheads="1"/>
          </p:cNvSpPr>
          <p:nvPr/>
        </p:nvSpPr>
        <p:spPr bwMode="auto">
          <a:xfrm>
            <a:off x="762454" y="2544712"/>
            <a:ext cx="1105117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Écrire un programme qui permet d’afficher le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entre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deux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entiers donnés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9044F41-2E84-4D7C-A060-B1ECDF1E7B5E}" type="slidenum">
              <a:rPr lang="en-GB" sz="1400"/>
              <a:t>4</a:t>
            </a:fld>
            <a:endParaRPr lang="en-GB" sz="14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6825" y="353060"/>
            <a:ext cx="10515600" cy="1325563"/>
          </a:xfrm>
        </p:spPr>
        <p:txBody>
          <a:bodyPr/>
          <a:lstStyle/>
          <a:p>
            <a:pPr eaLnBrk="1" hangingPunct="1"/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2 (solution)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266826" y="1678624"/>
            <a:ext cx="646271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b="1" i="1" u="sng" dirty="0"/>
              <a:t>Première méthode :</a:t>
            </a:r>
            <a:endParaRPr lang="en-GB" b="1" dirty="0"/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50000" r="43750" b="14000"/>
          <a:stretch>
            <a:fillRect/>
          </a:stretch>
        </p:blipFill>
        <p:spPr bwMode="auto">
          <a:xfrm>
            <a:off x="2816702" y="2576512"/>
            <a:ext cx="8102600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22"/>
          <p:cNvSpPr>
            <a:spLocks noChangeArrowheads="1"/>
          </p:cNvSpPr>
          <p:nvPr/>
        </p:nvSpPr>
        <p:spPr bwMode="auto">
          <a:xfrm>
            <a:off x="206375" y="3962399"/>
            <a:ext cx="1828800" cy="914400"/>
          </a:xfrm>
          <a:prstGeom prst="wedgeEllipseCallout">
            <a:avLst>
              <a:gd name="adj1" fmla="val 159635"/>
              <a:gd name="adj2" fmla="val 40796"/>
            </a:avLst>
          </a:prstGeom>
          <a:noFill/>
          <a:ln w="9525">
            <a:solidFill>
              <a:srgbClr val="00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sz="2000" b="1" dirty="0">
                <a:solidFill>
                  <a:srgbClr val="0070C0"/>
                </a:solidFill>
                <a:cs typeface="Arial" panose="020B0604020202020204" pitchFamily="34" charset="0"/>
              </a:rPr>
              <a:t>Bloc «if»</a:t>
            </a:r>
          </a:p>
        </p:txBody>
      </p:sp>
      <p:sp>
        <p:nvSpPr>
          <p:cNvPr id="9" name="AutoShape 19"/>
          <p:cNvSpPr>
            <a:spLocks noChangeArrowheads="1"/>
          </p:cNvSpPr>
          <p:nvPr/>
        </p:nvSpPr>
        <p:spPr bwMode="auto">
          <a:xfrm>
            <a:off x="206375" y="5189537"/>
            <a:ext cx="2133600" cy="739775"/>
          </a:xfrm>
          <a:prstGeom prst="wedgeEllipseCallout">
            <a:avLst>
              <a:gd name="adj1" fmla="val 135404"/>
              <a:gd name="adj2" fmla="val -51897"/>
            </a:avLst>
          </a:prstGeom>
          <a:noFill/>
          <a:ln w="9525">
            <a:solidFill>
              <a:srgbClr val="00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sz="2000" b="1" dirty="0">
                <a:solidFill>
                  <a:srgbClr val="A50021"/>
                </a:solidFill>
                <a:cs typeface="Arial" panose="020B0604020202020204" pitchFamily="34" charset="0"/>
              </a:rPr>
              <a:t>Bloc «</a:t>
            </a:r>
            <a:r>
              <a:rPr lang="fr-FR" sz="2000" b="1" dirty="0" err="1">
                <a:solidFill>
                  <a:srgbClr val="A50021"/>
                </a:solidFill>
                <a:cs typeface="Arial" panose="020B0604020202020204" pitchFamily="34" charset="0"/>
              </a:rPr>
              <a:t>else</a:t>
            </a:r>
            <a:r>
              <a:rPr lang="fr-FR" sz="2000" b="1" dirty="0">
                <a:solidFill>
                  <a:srgbClr val="A50021"/>
                </a:solidFill>
                <a:cs typeface="Arial" panose="020B0604020202020204" pitchFamily="34" charset="0"/>
              </a:rPr>
              <a:t>» </a:t>
            </a:r>
          </a:p>
        </p:txBody>
      </p:sp>
      <p:sp>
        <p:nvSpPr>
          <p:cNvPr id="2" name="Rectangle 1"/>
          <p:cNvSpPr/>
          <p:nvPr/>
        </p:nvSpPr>
        <p:spPr>
          <a:xfrm>
            <a:off x="4292600" y="4673600"/>
            <a:ext cx="3263900" cy="288924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92600" y="5021262"/>
            <a:ext cx="3263900" cy="288924"/>
          </a:xfrm>
          <a:prstGeom prst="rect">
            <a:avLst/>
          </a:pr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48000" r="43750" b="14999"/>
          <a:stretch>
            <a:fillRect/>
          </a:stretch>
        </p:blipFill>
        <p:spPr bwMode="auto">
          <a:xfrm>
            <a:off x="2738438" y="2335212"/>
            <a:ext cx="8240712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9044F41-2E84-4D7C-A060-B1ECDF1E7B5E}" type="slidenum">
              <a:rPr lang="en-GB" sz="1400"/>
              <a:t>5</a:t>
            </a:fld>
            <a:endParaRPr lang="en-GB" sz="1400" dirty="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389255"/>
            <a:ext cx="10515600" cy="1325563"/>
          </a:xfrm>
        </p:spPr>
        <p:txBody>
          <a:bodyPr/>
          <a:lstStyle/>
          <a:p>
            <a:pPr eaLnBrk="1" hangingPunct="1"/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2 (solution)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362076" y="1592263"/>
            <a:ext cx="646271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b="1" i="1" u="sng" dirty="0"/>
              <a:t>Deuxième méthode :</a:t>
            </a:r>
            <a:endParaRPr lang="en-GB" b="1" dirty="0"/>
          </a:p>
        </p:txBody>
      </p:sp>
      <p:sp>
        <p:nvSpPr>
          <p:cNvPr id="327686" name="AutoShape 6"/>
          <p:cNvSpPr>
            <a:spLocks noChangeArrowheads="1"/>
          </p:cNvSpPr>
          <p:nvPr/>
        </p:nvSpPr>
        <p:spPr bwMode="auto">
          <a:xfrm>
            <a:off x="121285" y="4730750"/>
            <a:ext cx="1752600" cy="457200"/>
          </a:xfrm>
          <a:prstGeom prst="wedgeRoundRectCallout">
            <a:avLst>
              <a:gd name="adj1" fmla="val 175089"/>
              <a:gd name="adj2" fmla="val -3055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sans </a:t>
            </a:r>
            <a:r>
              <a:rPr lang="fr-FR" sz="2000" b="1" u="sng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</a:t>
            </a:r>
            <a:endParaRPr lang="fr-FR" sz="1800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6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</a:t>
            </a:r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L’instruction if …else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6</a:t>
            </a:fld>
            <a:endParaRPr lang="fr-FR"/>
          </a:p>
        </p:txBody>
      </p:sp>
      <p:sp>
        <p:nvSpPr>
          <p:cNvPr id="6" name="Espace réservé du contenu 4"/>
          <p:cNvSpPr>
            <a:spLocks noGrp="1"/>
          </p:cNvSpPr>
          <p:nvPr>
            <p:ph idx="1"/>
          </p:nvPr>
        </p:nvSpPr>
        <p:spPr>
          <a:xfrm>
            <a:off x="785786" y="1898072"/>
            <a:ext cx="10699632" cy="4602761"/>
          </a:xfrm>
        </p:spPr>
        <p:txBody>
          <a:bodyPr>
            <a:normAutofit/>
          </a:bodyPr>
          <a:lstStyle/>
          <a:p>
            <a:pPr marL="914400" lvl="1" indent="-457200" algn="just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condition doit être entre  parenthèses</a:t>
            </a:r>
          </a:p>
          <a:p>
            <a:pPr marL="914400" lvl="1" indent="-457200" algn="just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possible de définir plusieurs conditions à remplir avec les opérateurs ET </a:t>
            </a:r>
            <a:r>
              <a:rPr lang="fr-B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OU (&amp;&amp; et ||)</a:t>
            </a:r>
          </a:p>
          <a:p>
            <a:pPr marL="914400" lvl="1" indent="-457200" algn="just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exemple l'instruction suivante teste si les deux conditions sont vraies :  </a:t>
            </a:r>
          </a:p>
          <a:p>
            <a:pPr marL="914400" lvl="1" indent="-457200" algn="just">
              <a:lnSpc>
                <a:spcPct val="120000"/>
              </a:lnSpc>
              <a:buClr>
                <a:srgbClr val="C00000"/>
              </a:buClr>
              <a:buNone/>
            </a:pP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B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((condition1)</a:t>
            </a:r>
            <a:r>
              <a:rPr lang="fr-BE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&amp;&amp;</a:t>
            </a:r>
            <a:r>
              <a:rPr lang="fr-B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(condition2))</a:t>
            </a:r>
          </a:p>
          <a:p>
            <a:pPr marL="914400" lvl="1" indent="-457200" algn="just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L'instruction suivante exécutera les instructions si l'une ou l'autre des deux conditions est vraie : </a:t>
            </a:r>
          </a:p>
          <a:p>
            <a:pPr marL="457200" lvl="1" indent="0" algn="just">
              <a:lnSpc>
                <a:spcPct val="120000"/>
              </a:lnSpc>
              <a:buClr>
                <a:srgbClr val="C00000"/>
              </a:buClr>
              <a:buNone/>
            </a:pP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fr-B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((condition1)</a:t>
            </a:r>
            <a:r>
              <a:rPr lang="fr-BE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fr-B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(condition2))</a:t>
            </a:r>
          </a:p>
          <a:p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</a:t>
            </a:r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L’instruction if …else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7</a:t>
            </a:fld>
            <a:endParaRPr lang="fr-FR"/>
          </a:p>
        </p:txBody>
      </p:sp>
      <p:sp>
        <p:nvSpPr>
          <p:cNvPr id="6" name="Espace réservé du contenu 4"/>
          <p:cNvSpPr>
            <a:spLocks noGrp="1"/>
          </p:cNvSpPr>
          <p:nvPr>
            <p:ph idx="1"/>
          </p:nvPr>
        </p:nvSpPr>
        <p:spPr>
          <a:xfrm>
            <a:off x="1229016" y="2119052"/>
            <a:ext cx="10699632" cy="4602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Exercices 1 et 2 de la série d'exercices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302B60B-1FF9-4484-8508-1BE6DA51F371}" type="slidenum">
              <a:rPr lang="en-GB" sz="1400"/>
              <a:t>8</a:t>
            </a:fld>
            <a:endParaRPr lang="en-GB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230630" y="340995"/>
            <a:ext cx="10515600" cy="1325563"/>
          </a:xfrm>
        </p:spPr>
        <p:txBody>
          <a:bodyPr/>
          <a:lstStyle/>
          <a:p>
            <a:pPr eaLnBrk="1" hangingPunct="1"/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« If imbriqués »</a:t>
            </a: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2172335" y="1666776"/>
            <a:ext cx="5905500" cy="412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 sz="2000" b="1" dirty="0"/>
              <a:t>if (</a:t>
            </a:r>
            <a:r>
              <a:rPr lang="en-GB" sz="2000" b="1" dirty="0">
                <a:solidFill>
                  <a:srgbClr val="A50021"/>
                </a:solidFill>
              </a:rPr>
              <a:t>condition1</a:t>
            </a:r>
            <a:r>
              <a:rPr lang="en-GB" sz="2000" b="1" dirty="0"/>
              <a:t>) </a:t>
            </a:r>
          </a:p>
          <a:p>
            <a:pPr eaLnBrk="1" hangingPunct="1"/>
            <a:r>
              <a:rPr lang="en-GB" sz="2000" b="1" dirty="0"/>
              <a:t>	</a:t>
            </a:r>
            <a:r>
              <a:rPr lang="en-GB" sz="2000" b="1" i="1" dirty="0" err="1"/>
              <a:t>liste</a:t>
            </a:r>
            <a:r>
              <a:rPr lang="en-GB" sz="2000" b="1" i="1" dirty="0"/>
              <a:t> </a:t>
            </a:r>
            <a:r>
              <a:rPr lang="en-GB" sz="2000" b="1" i="1" dirty="0" err="1"/>
              <a:t>d’instructions</a:t>
            </a:r>
            <a:r>
              <a:rPr lang="en-GB" sz="2000" b="1" i="1" dirty="0"/>
              <a:t> 1</a:t>
            </a:r>
          </a:p>
          <a:p>
            <a:pPr eaLnBrk="1" hangingPunct="1"/>
            <a:r>
              <a:rPr lang="en-GB" sz="2000" b="1" dirty="0"/>
              <a:t>else </a:t>
            </a:r>
          </a:p>
          <a:p>
            <a:pPr eaLnBrk="1" hangingPunct="1"/>
            <a:r>
              <a:rPr lang="en-GB" sz="2000" b="1" dirty="0"/>
              <a:t>     if ( </a:t>
            </a:r>
            <a:r>
              <a:rPr lang="en-GB" sz="2000" b="1" dirty="0">
                <a:solidFill>
                  <a:schemeClr val="tx2"/>
                </a:solidFill>
              </a:rPr>
              <a:t>condition2</a:t>
            </a:r>
            <a:r>
              <a:rPr lang="en-GB" sz="2000" b="1" dirty="0"/>
              <a:t>) </a:t>
            </a:r>
          </a:p>
          <a:p>
            <a:pPr eaLnBrk="1" hangingPunct="1"/>
            <a:r>
              <a:rPr lang="en-GB" sz="2000" b="1" dirty="0"/>
              <a:t>	 </a:t>
            </a:r>
            <a:r>
              <a:rPr lang="en-GB" sz="2000" b="1" i="1" dirty="0" err="1"/>
              <a:t>liste</a:t>
            </a:r>
            <a:r>
              <a:rPr lang="en-GB" sz="2000" b="1" i="1" dirty="0"/>
              <a:t> </a:t>
            </a:r>
            <a:r>
              <a:rPr lang="en-GB" sz="2000" b="1" i="1" dirty="0" err="1"/>
              <a:t>d’instructions</a:t>
            </a:r>
            <a:r>
              <a:rPr lang="en-GB" sz="2000" b="1" i="1" dirty="0"/>
              <a:t> 2 </a:t>
            </a:r>
          </a:p>
          <a:p>
            <a:pPr eaLnBrk="1" hangingPunct="1"/>
            <a:r>
              <a:rPr lang="en-GB" sz="2000" b="1" dirty="0"/>
              <a:t>     else</a:t>
            </a:r>
          </a:p>
          <a:p>
            <a:pPr eaLnBrk="1" hangingPunct="1"/>
            <a:r>
              <a:rPr lang="en-GB" sz="2000" b="1" dirty="0"/>
              <a:t>          if (</a:t>
            </a:r>
            <a:r>
              <a:rPr lang="en-GB" sz="2000" b="1" dirty="0">
                <a:solidFill>
                  <a:srgbClr val="006666"/>
                </a:solidFill>
              </a:rPr>
              <a:t>condition3</a:t>
            </a:r>
            <a:r>
              <a:rPr lang="en-GB" sz="2000" b="1" dirty="0"/>
              <a:t>) </a:t>
            </a:r>
          </a:p>
          <a:p>
            <a:pPr eaLnBrk="1" hangingPunct="1"/>
            <a:r>
              <a:rPr lang="en-GB" sz="2000" b="1" dirty="0"/>
              <a:t>                 </a:t>
            </a:r>
            <a:r>
              <a:rPr lang="en-GB" sz="2000" b="1" i="1" dirty="0" err="1"/>
              <a:t>liste</a:t>
            </a:r>
            <a:r>
              <a:rPr lang="en-GB" sz="2000" b="1" i="1" dirty="0"/>
              <a:t> </a:t>
            </a:r>
            <a:r>
              <a:rPr lang="en-GB" sz="2000" b="1" i="1" dirty="0" err="1"/>
              <a:t>d’instructions</a:t>
            </a:r>
            <a:r>
              <a:rPr lang="en-GB" sz="2000" b="1" i="1" dirty="0"/>
              <a:t> 3</a:t>
            </a:r>
          </a:p>
          <a:p>
            <a:pPr eaLnBrk="1" hangingPunct="1"/>
            <a:r>
              <a:rPr lang="en-GB" sz="2000" b="1" dirty="0"/>
              <a:t>          else </a:t>
            </a:r>
          </a:p>
          <a:p>
            <a:pPr eaLnBrk="1" hangingPunct="1"/>
            <a:r>
              <a:rPr lang="en-GB" sz="2000" b="1" dirty="0"/>
              <a:t>               if (</a:t>
            </a:r>
            <a:r>
              <a:rPr lang="en-GB" sz="2000" b="1" dirty="0">
                <a:solidFill>
                  <a:schemeClr val="hlink"/>
                </a:solidFill>
              </a:rPr>
              <a:t>condition N</a:t>
            </a:r>
            <a:r>
              <a:rPr lang="en-GB" sz="2000" b="1" dirty="0"/>
              <a:t>) </a:t>
            </a:r>
          </a:p>
          <a:p>
            <a:pPr eaLnBrk="1" hangingPunct="1"/>
            <a:r>
              <a:rPr lang="en-GB" sz="2000" b="1" dirty="0"/>
              <a:t>		 </a:t>
            </a:r>
            <a:r>
              <a:rPr lang="en-GB" sz="2000" b="1" i="1" dirty="0" err="1"/>
              <a:t>liste</a:t>
            </a:r>
            <a:r>
              <a:rPr lang="en-GB" sz="2000" b="1" i="1" dirty="0"/>
              <a:t> </a:t>
            </a:r>
            <a:r>
              <a:rPr lang="en-GB" sz="2000" b="1" i="1" dirty="0" err="1"/>
              <a:t>d’instructions</a:t>
            </a:r>
            <a:r>
              <a:rPr lang="en-GB" sz="2000" b="1" i="1" dirty="0"/>
              <a:t> N</a:t>
            </a:r>
          </a:p>
          <a:p>
            <a:pPr eaLnBrk="1" hangingPunct="1"/>
            <a:r>
              <a:rPr lang="en-GB" sz="2000" b="1" dirty="0"/>
              <a:t>	    else </a:t>
            </a:r>
          </a:p>
          <a:p>
            <a:pPr eaLnBrk="1" hangingPunct="1"/>
            <a:r>
              <a:rPr lang="en-GB" sz="2000" b="1" dirty="0"/>
              <a:t>                       </a:t>
            </a:r>
            <a:r>
              <a:rPr lang="en-GB" sz="2000" b="1" i="1" dirty="0" err="1"/>
              <a:t>liste</a:t>
            </a:r>
            <a:r>
              <a:rPr lang="en-GB" sz="2000" b="1" i="1" dirty="0"/>
              <a:t> </a:t>
            </a:r>
            <a:r>
              <a:rPr lang="en-GB" sz="2000" b="1" i="1" dirty="0" err="1"/>
              <a:t>d’instructions</a:t>
            </a:r>
            <a:r>
              <a:rPr lang="en-GB" sz="2000" b="1" i="1" dirty="0"/>
              <a:t> N+1</a:t>
            </a:r>
            <a:r>
              <a:rPr lang="en-GB" sz="2000" i="1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C1FB85C-575D-4434-8416-16563546C0A0}" type="slidenum">
              <a:rPr lang="en-GB" sz="1400"/>
              <a:t>9</a:t>
            </a:fld>
            <a:endParaRPr lang="en-GB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41630"/>
            <a:ext cx="10515600" cy="1325563"/>
          </a:xfrm>
        </p:spPr>
        <p:txBody>
          <a:bodyPr/>
          <a:lstStyle/>
          <a:p>
            <a:pPr eaLnBrk="1" hangingPunct="1"/>
            <a:r>
              <a:rPr lang="fr-FR" dirty="0"/>
              <a:t>   </a:t>
            </a:r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3</a:t>
            </a:r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00" r="35625" b="17000"/>
          <a:stretch>
            <a:fillRect/>
          </a:stretch>
        </p:blipFill>
        <p:spPr bwMode="auto">
          <a:xfrm>
            <a:off x="1359535" y="1667510"/>
            <a:ext cx="8782050" cy="434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313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L‘instruction if .... else ...</vt:lpstr>
      <vt:lpstr>Exemple 1</vt:lpstr>
      <vt:lpstr>    Exemple 2</vt:lpstr>
      <vt:lpstr>Exemple 2 (solution)</vt:lpstr>
      <vt:lpstr>Exemple 2 (solution)</vt:lpstr>
      <vt:lpstr>   L’instruction if …else</vt:lpstr>
      <vt:lpstr>   L’instruction if …else</vt:lpstr>
      <vt:lpstr>Des « If imbriqués »</vt:lpstr>
      <vt:lpstr>   Exemple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naouel boughattas</cp:lastModifiedBy>
  <cp:revision>174</cp:revision>
  <dcterms:created xsi:type="dcterms:W3CDTF">2015-03-06T15:17:00Z</dcterms:created>
  <dcterms:modified xsi:type="dcterms:W3CDTF">2025-04-15T13:28:28Z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1036-11.2.0.11254</vt:lpwstr>
  </property>
  <property fmtid="{D5CDD505-2E9C-101B-9397-08002B2CF9AE}" pid="3" name="ICV">
    <vt:lpwstr>08F5769C689244FE9E014F73EB5D6BBB</vt:lpwstr>
  </property>
</Properties>
</file>