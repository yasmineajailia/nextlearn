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27" r:id="rId3"/>
    <p:sldId id="330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27"/>
            <p14:sldId id="3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4" y="52"/>
      </p:cViewPr>
      <p:guideLst>
        <p:guide orient="horz" pos="2104"/>
        <p:guide pos="3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942369D-E019-4EC7-83D8-C5662530F7B2}" type="slidenum">
              <a:rPr lang="en-GB" sz="1400"/>
            </a:fld>
            <a:endParaRPr lang="en-GB" sz="1400"/>
          </a:p>
        </p:txBody>
      </p:sp>
      <p:sp>
        <p:nvSpPr>
          <p:cNvPr id="329730" name="Text Box 2"/>
          <p:cNvSpPr txBox="1">
            <a:spLocks noChangeArrowheads="1"/>
          </p:cNvSpPr>
          <p:nvPr/>
        </p:nvSpPr>
        <p:spPr bwMode="auto">
          <a:xfrm>
            <a:off x="1450556" y="2732038"/>
            <a:ext cx="77819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sz="2400" b="1" dirty="0" err="1">
                <a:solidFill>
                  <a:srgbClr val="C00000"/>
                </a:solidFill>
              </a:rPr>
              <a:t>while</a:t>
            </a:r>
            <a:r>
              <a:rPr lang="fr-FR" sz="2400" b="1" dirty="0">
                <a:solidFill>
                  <a:srgbClr val="C00000"/>
                </a:solidFill>
              </a:rPr>
              <a:t> </a:t>
            </a:r>
            <a:r>
              <a:rPr lang="fr-FR" sz="2400" b="1" dirty="0">
                <a:solidFill>
                  <a:srgbClr val="006666"/>
                </a:solidFill>
              </a:rPr>
              <a:t>(</a:t>
            </a:r>
            <a:r>
              <a:rPr lang="fr-FR" sz="2400" b="1" dirty="0">
                <a:solidFill>
                  <a:schemeClr val="hlink"/>
                </a:solidFill>
              </a:rPr>
              <a:t>condition</a:t>
            </a:r>
            <a:r>
              <a:rPr lang="fr-FR" sz="2400" b="1" dirty="0">
                <a:solidFill>
                  <a:srgbClr val="006666"/>
                </a:solidFill>
              </a:rPr>
              <a:t>) </a:t>
            </a:r>
            <a:endParaRPr lang="fr-FR" sz="2400" b="1" dirty="0">
              <a:solidFill>
                <a:srgbClr val="006666"/>
              </a:solidFill>
            </a:endParaRPr>
          </a:p>
          <a:p>
            <a:pPr eaLnBrk="1" hangingPunct="1"/>
            <a:r>
              <a:rPr lang="fr-FR" sz="2400" b="1" dirty="0">
                <a:solidFill>
                  <a:srgbClr val="006666"/>
                </a:solidFill>
              </a:rPr>
              <a:t>{</a:t>
            </a:r>
            <a:endParaRPr lang="fr-FR" sz="2400" b="1" dirty="0">
              <a:solidFill>
                <a:srgbClr val="006666"/>
              </a:solidFill>
            </a:endParaRPr>
          </a:p>
          <a:p>
            <a:pPr lvl="1" eaLnBrk="1" hangingPunct="1"/>
            <a:r>
              <a:rPr lang="fr-FR" sz="2400" b="1" dirty="0">
                <a:solidFill>
                  <a:srgbClr val="006666"/>
                </a:solidFill>
              </a:rPr>
              <a:t>…</a:t>
            </a:r>
            <a:endParaRPr lang="fr-FR" sz="2400" b="1" dirty="0">
              <a:solidFill>
                <a:srgbClr val="006666"/>
              </a:solidFill>
            </a:endParaRPr>
          </a:p>
          <a:p>
            <a:pPr lvl="1" eaLnBrk="1" hangingPunct="1"/>
            <a:r>
              <a:rPr lang="fr-FR" sz="2400" b="1" dirty="0">
                <a:solidFill>
                  <a:srgbClr val="006666"/>
                </a:solidFill>
              </a:rPr>
              <a:t>bloc d'instructions</a:t>
            </a:r>
            <a:endParaRPr lang="fr-FR" sz="2400" b="1" dirty="0">
              <a:solidFill>
                <a:srgbClr val="006666"/>
              </a:solidFill>
            </a:endParaRPr>
          </a:p>
          <a:p>
            <a:pPr lvl="1" eaLnBrk="1" hangingPunct="1"/>
            <a:r>
              <a:rPr lang="fr-FR" sz="2400" b="1" dirty="0">
                <a:solidFill>
                  <a:srgbClr val="006666"/>
                </a:solidFill>
              </a:rPr>
              <a:t>…</a:t>
            </a:r>
            <a:endParaRPr lang="fr-FR" sz="2400" b="1" dirty="0">
              <a:solidFill>
                <a:srgbClr val="006666"/>
              </a:solidFill>
            </a:endParaRPr>
          </a:p>
          <a:p>
            <a:pPr eaLnBrk="1" hangingPunct="1"/>
            <a:r>
              <a:rPr lang="en-US" sz="2400" b="1" dirty="0">
                <a:solidFill>
                  <a:srgbClr val="006666"/>
                </a:solidFill>
              </a:rPr>
              <a:t>}</a:t>
            </a:r>
            <a:endParaRPr lang="fr-FR" sz="2400" dirty="0"/>
          </a:p>
        </p:txBody>
      </p:sp>
      <p:sp>
        <p:nvSpPr>
          <p:cNvPr id="329731" name="AutoShape 3"/>
          <p:cNvSpPr>
            <a:spLocks noChangeArrowheads="1"/>
          </p:cNvSpPr>
          <p:nvPr/>
        </p:nvSpPr>
        <p:spPr bwMode="auto">
          <a:xfrm>
            <a:off x="6347012" y="2106563"/>
            <a:ext cx="4800600" cy="1235075"/>
          </a:xfrm>
          <a:prstGeom prst="wedgeRoundRectCallout">
            <a:avLst>
              <a:gd name="adj1" fmla="val -93167"/>
              <a:gd name="adj2" fmla="val 2426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endParaRPr lang="fr-FR" sz="800" dirty="0"/>
          </a:p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</a:rPr>
              <a:t>Expression logique </a:t>
            </a:r>
            <a:endParaRPr lang="fr-FR" sz="2000" b="1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</a:rPr>
              <a:t>simple ou combinée. Cette condition </a:t>
            </a:r>
            <a:endParaRPr lang="fr-FR" sz="2000" b="1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</a:rPr>
              <a:t>est testée </a:t>
            </a:r>
            <a:r>
              <a:rPr lang="fr-FR" sz="2000" b="1" u="sng" dirty="0">
                <a:solidFill>
                  <a:schemeClr val="bg1"/>
                </a:solidFill>
              </a:rPr>
              <a:t>avant</a:t>
            </a:r>
            <a:r>
              <a:rPr lang="fr-FR" sz="2000" b="1" dirty="0">
                <a:solidFill>
                  <a:schemeClr val="bg1"/>
                </a:solidFill>
              </a:rPr>
              <a:t> chaque itération.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329732" name="AutoShape 4"/>
          <p:cNvSpPr>
            <a:spLocks noChangeArrowheads="1"/>
          </p:cNvSpPr>
          <p:nvPr/>
        </p:nvSpPr>
        <p:spPr bwMode="auto">
          <a:xfrm>
            <a:off x="5791200" y="3886200"/>
            <a:ext cx="4800600" cy="990600"/>
          </a:xfrm>
          <a:prstGeom prst="wedgeRoundRectCallout">
            <a:avLst>
              <a:gd name="adj1" fmla="val -68170"/>
              <a:gd name="adj2" fmla="val -25960"/>
              <a:gd name="adj3" fmla="val 16667"/>
            </a:avLst>
          </a:prstGeom>
          <a:solidFill>
            <a:schemeClr val="accent6">
              <a:lumMod val="5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endParaRPr lang="fr-FR" sz="900" b="1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</a:rPr>
              <a:t>bloc d’instructions exécuté si la condition est vraie (0 ou n fois)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222" name="Rectangle 5"/>
          <p:cNvSpPr>
            <a:spLocks noGrp="1" noChangeArrowheads="1"/>
          </p:cNvSpPr>
          <p:nvPr>
            <p:ph type="title"/>
          </p:nvPr>
        </p:nvSpPr>
        <p:spPr>
          <a:xfrm>
            <a:off x="1169894" y="669925"/>
            <a:ext cx="7772400" cy="6858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 smtClean="0"/>
              <a:t>La boucle </a:t>
            </a:r>
            <a:r>
              <a:rPr lang="fr-FR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endParaRPr lang="en-GB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9734" name="Rectangle 6"/>
          <p:cNvSpPr>
            <a:spLocks noChangeArrowheads="1"/>
          </p:cNvSpPr>
          <p:nvPr/>
        </p:nvSpPr>
        <p:spPr bwMode="auto">
          <a:xfrm>
            <a:off x="981394" y="1441451"/>
            <a:ext cx="744156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fr-FR" i="1"/>
              <a:t>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Tant qu’une condition est vraie, répéter un bloc d’instructions.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9735" name="Text Box 7"/>
          <p:cNvSpPr txBox="1">
            <a:spLocks noChangeArrowheads="1"/>
          </p:cNvSpPr>
          <p:nvPr/>
        </p:nvSpPr>
        <p:spPr bwMode="auto">
          <a:xfrm>
            <a:off x="1169894" y="5791200"/>
            <a:ext cx="8619565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 la boucle ne comporte qu’une instruction, les accolades ne sont plus  nécessaires.</a:t>
            </a:r>
            <a:endParaRPr lang="fr-F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3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754495" y="1998345"/>
            <a:ext cx="3187700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0" grpId="0"/>
      <p:bldP spid="329731" grpId="0" animBg="1" autoUpdateAnimBg="0"/>
      <p:bldP spid="329731" grpId="2" animBg="1"/>
      <p:bldP spid="329731" grpId="3" animBg="1"/>
      <p:bldP spid="329731" grpId="4" animBg="1"/>
      <p:bldP spid="329731" grpId="5" animBg="1"/>
      <p:bldP spid="329731" grpId="6" animBg="1"/>
      <p:bldP spid="329731" grpId="7" animBg="1"/>
      <p:bldP spid="329731" grpId="8" animBg="1"/>
      <p:bldP spid="329731" grpId="9" animBg="1"/>
      <p:bldP spid="329731" grpId="10" animBg="1"/>
      <p:bldP spid="329731" grpId="11" animBg="1"/>
      <p:bldP spid="329732" grpId="0" animBg="1" autoUpdateAnimBg="0"/>
      <p:bldP spid="329732" grpId="1" animBg="1"/>
      <p:bldP spid="329734" grpId="0"/>
      <p:bldP spid="329735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AF2E3AB-01B1-4774-8374-D0606FC9A24C}" type="slidenum">
              <a:rPr lang="en-GB" sz="1400"/>
            </a:fld>
            <a:endParaRPr lang="en-GB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599042" y="482974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fait ce programme ?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2415858" y="1582183"/>
            <a:ext cx="7904162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 dirty="0">
                <a:solidFill>
                  <a:srgbClr val="003366"/>
                </a:solidFill>
              </a:rPr>
              <a:t>#include</a:t>
            </a:r>
            <a:r>
              <a:rPr lang="fr-FR" dirty="0">
                <a:solidFill>
                  <a:srgbClr val="003366"/>
                </a:solidFill>
              </a:rPr>
              <a:t> </a:t>
            </a:r>
            <a:r>
              <a:rPr lang="en-GB" dirty="0">
                <a:solidFill>
                  <a:srgbClr val="003366"/>
                </a:solidFill>
              </a:rPr>
              <a:t>&lt;</a:t>
            </a:r>
            <a:r>
              <a:rPr lang="en-GB" dirty="0" err="1">
                <a:solidFill>
                  <a:srgbClr val="003366"/>
                </a:solidFill>
              </a:rPr>
              <a:t>stdio.h</a:t>
            </a:r>
            <a:r>
              <a:rPr lang="en-GB" dirty="0">
                <a:solidFill>
                  <a:srgbClr val="003366"/>
                </a:solidFill>
              </a:rPr>
              <a:t>&gt;</a:t>
            </a:r>
            <a:endParaRPr lang="en-GB" dirty="0">
              <a:solidFill>
                <a:srgbClr val="003366"/>
              </a:solidFill>
            </a:endParaRPr>
          </a:p>
          <a:p>
            <a:pPr eaLnBrk="1" hangingPunct="1"/>
            <a:r>
              <a:rPr lang="en-GB" dirty="0">
                <a:solidFill>
                  <a:srgbClr val="003366"/>
                </a:solidFill>
              </a:rPr>
              <a:t>void main</a:t>
            </a:r>
            <a:r>
              <a:rPr lang="fr-FR" dirty="0">
                <a:solidFill>
                  <a:srgbClr val="003366"/>
                </a:solidFill>
              </a:rPr>
              <a:t> </a:t>
            </a:r>
            <a:r>
              <a:rPr lang="en-GB" dirty="0">
                <a:solidFill>
                  <a:srgbClr val="003366"/>
                </a:solidFill>
              </a:rPr>
              <a:t>()</a:t>
            </a:r>
            <a:endParaRPr lang="en-GB" dirty="0">
              <a:solidFill>
                <a:srgbClr val="003366"/>
              </a:solidFill>
            </a:endParaRPr>
          </a:p>
          <a:p>
            <a:pPr eaLnBrk="1" hangingPunct="1"/>
            <a:r>
              <a:rPr lang="en-GB" dirty="0">
                <a:solidFill>
                  <a:srgbClr val="003366"/>
                </a:solidFill>
              </a:rPr>
              <a:t>{</a:t>
            </a:r>
            <a:endParaRPr lang="en-GB" dirty="0">
              <a:solidFill>
                <a:srgbClr val="003366"/>
              </a:solidFill>
            </a:endParaRPr>
          </a:p>
          <a:p>
            <a:pPr eaLnBrk="1" hangingPunct="1"/>
            <a:r>
              <a:rPr lang="ar-SA" sz="2400" dirty="0"/>
              <a:t>   </a:t>
            </a:r>
            <a:r>
              <a:rPr lang="en-GB" sz="2400" dirty="0" err="1"/>
              <a:t>int</a:t>
            </a:r>
            <a:r>
              <a:rPr lang="en-GB" sz="2400" dirty="0"/>
              <a:t> n = 2;</a:t>
            </a:r>
            <a:endParaRPr lang="en-GB" sz="2400" dirty="0"/>
          </a:p>
          <a:p>
            <a:pPr eaLnBrk="1" hangingPunct="1"/>
            <a:r>
              <a:rPr lang="ar-SA" sz="2400" b="1" dirty="0">
                <a:solidFill>
                  <a:srgbClr val="A50021"/>
                </a:solidFill>
              </a:rPr>
              <a:t>   </a:t>
            </a:r>
            <a:r>
              <a:rPr lang="en-GB" sz="2400" b="1" dirty="0">
                <a:solidFill>
                  <a:srgbClr val="A50021"/>
                </a:solidFill>
              </a:rPr>
              <a:t>while</a:t>
            </a:r>
            <a:r>
              <a:rPr lang="en-GB" sz="2400" dirty="0"/>
              <a:t> ( (n%2)</a:t>
            </a:r>
            <a:r>
              <a:rPr lang="fr-FR" sz="2400" dirty="0"/>
              <a:t> == 0)</a:t>
            </a:r>
            <a:r>
              <a:rPr lang="en-GB" sz="2400" dirty="0"/>
              <a:t> &amp;&amp; </a:t>
            </a:r>
            <a:r>
              <a:rPr lang="fr-FR" sz="2400" dirty="0"/>
              <a:t>(</a:t>
            </a:r>
            <a:r>
              <a:rPr lang="en-GB" sz="2400" dirty="0"/>
              <a:t>n</a:t>
            </a:r>
            <a:r>
              <a:rPr lang="fr-FR" sz="2400" dirty="0"/>
              <a:t> != 0) </a:t>
            </a:r>
            <a:r>
              <a:rPr lang="en-GB" sz="2400" dirty="0"/>
              <a:t>)</a:t>
            </a:r>
            <a:endParaRPr lang="en-GB" sz="2400" dirty="0"/>
          </a:p>
          <a:p>
            <a:pPr eaLnBrk="1" hangingPunct="1"/>
            <a:r>
              <a:rPr lang="ar-SA" sz="2400" dirty="0">
                <a:solidFill>
                  <a:srgbClr val="A50021"/>
                </a:solidFill>
              </a:rPr>
              <a:t>   </a:t>
            </a:r>
            <a:r>
              <a:rPr lang="en-GB" sz="2400" dirty="0">
                <a:solidFill>
                  <a:srgbClr val="A50021"/>
                </a:solidFill>
              </a:rPr>
              <a:t>{</a:t>
            </a:r>
            <a:r>
              <a:rPr lang="en-GB" sz="2400" dirty="0"/>
              <a:t> </a:t>
            </a:r>
            <a:endParaRPr lang="en-GB" sz="2400" dirty="0"/>
          </a:p>
          <a:p>
            <a:pPr eaLnBrk="1" hangingPunct="1"/>
            <a:r>
              <a:rPr lang="en-GB" sz="2400" dirty="0"/>
              <a:t>       </a:t>
            </a:r>
            <a:r>
              <a:rPr lang="en-GB" sz="2400" dirty="0" err="1"/>
              <a:t>printf</a:t>
            </a:r>
            <a:r>
              <a:rPr lang="fr-FR" sz="2400" dirty="0"/>
              <a:t> </a:t>
            </a:r>
            <a:r>
              <a:rPr lang="en-GB" sz="2400" dirty="0"/>
              <a:t>(“Donner un </a:t>
            </a:r>
            <a:r>
              <a:rPr lang="en-GB" sz="2400" dirty="0" err="1"/>
              <a:t>entier</a:t>
            </a:r>
            <a:r>
              <a:rPr lang="en-GB" sz="2400" dirty="0"/>
              <a:t> : “);</a:t>
            </a:r>
            <a:endParaRPr lang="en-GB" sz="2400" dirty="0"/>
          </a:p>
          <a:p>
            <a:pPr eaLnBrk="1" hangingPunct="1"/>
            <a:r>
              <a:rPr lang="en-GB" sz="2400" dirty="0"/>
              <a:t>       </a:t>
            </a:r>
            <a:r>
              <a:rPr lang="en-GB" sz="2400" dirty="0" err="1"/>
              <a:t>scanf</a:t>
            </a:r>
            <a:r>
              <a:rPr lang="fr-FR" sz="2400" dirty="0"/>
              <a:t> </a:t>
            </a:r>
            <a:r>
              <a:rPr lang="en-GB" sz="2400" dirty="0"/>
              <a:t>(“%d”, &amp;n);</a:t>
            </a:r>
            <a:endParaRPr lang="en-GB" sz="2400" dirty="0"/>
          </a:p>
          <a:p>
            <a:pPr eaLnBrk="1" hangingPunct="1"/>
            <a:r>
              <a:rPr lang="ar-SA" sz="2400" dirty="0">
                <a:solidFill>
                  <a:srgbClr val="A50021"/>
                </a:solidFill>
              </a:rPr>
              <a:t>   </a:t>
            </a:r>
            <a:r>
              <a:rPr lang="en-GB" sz="2400" dirty="0">
                <a:solidFill>
                  <a:srgbClr val="A50021"/>
                </a:solidFill>
              </a:rPr>
              <a:t>}</a:t>
            </a:r>
            <a:endParaRPr lang="en-GB" sz="2400" dirty="0">
              <a:solidFill>
                <a:srgbClr val="A50021"/>
              </a:solidFill>
            </a:endParaRPr>
          </a:p>
          <a:p>
            <a:pPr eaLnBrk="1" hangingPunct="1"/>
            <a:r>
              <a:rPr lang="en-GB" sz="2400" dirty="0">
                <a:solidFill>
                  <a:srgbClr val="003366"/>
                </a:solidFill>
              </a:rPr>
              <a:t>}</a:t>
            </a:r>
            <a:endParaRPr lang="en-GB" sz="2400" dirty="0">
              <a:solidFill>
                <a:srgbClr val="003366"/>
              </a:solidFill>
            </a:endParaRPr>
          </a:p>
        </p:txBody>
      </p:sp>
      <p:sp>
        <p:nvSpPr>
          <p:cNvPr id="332804" name="AutoShape 4"/>
          <p:cNvSpPr>
            <a:spLocks noChangeArrowheads="1"/>
          </p:cNvSpPr>
          <p:nvPr/>
        </p:nvSpPr>
        <p:spPr bwMode="auto">
          <a:xfrm>
            <a:off x="1714500" y="5441950"/>
            <a:ext cx="8763000" cy="914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hlink"/>
              </a:gs>
              <a:gs pos="50000">
                <a:srgbClr val="FFFFFF"/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sort de la boucle quand l’utilisateur saisit un entier impair ou nul</a:t>
            </a:r>
            <a:r>
              <a:rPr lang="fr-FR" dirty="0"/>
              <a:t>.</a:t>
            </a:r>
            <a:endParaRPr lang="fr-F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4" grpId="0" bldLvl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WPS Presentation</Application>
  <PresentationFormat>Grand écran</PresentationFormat>
  <Paragraphs>38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SimSun</vt:lpstr>
      <vt:lpstr>Wingdings</vt:lpstr>
      <vt:lpstr>Arial</vt:lpstr>
      <vt:lpstr>Times New Roman</vt:lpstr>
      <vt:lpstr>Times New Roman</vt:lpstr>
      <vt:lpstr>Tahoma</vt:lpstr>
      <vt:lpstr>Calibri</vt:lpstr>
      <vt:lpstr>Microsoft YaHei</vt:lpstr>
      <vt:lpstr>Arial Unicode MS</vt:lpstr>
      <vt:lpstr>Calibri Light</vt:lpstr>
      <vt:lpstr>Office Theme</vt:lpstr>
      <vt:lpstr>La boucle while</vt:lpstr>
      <vt:lpstr>Que fait ce programme 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181</cp:revision>
  <dcterms:created xsi:type="dcterms:W3CDTF">2015-03-06T15:17:00Z</dcterms:created>
  <dcterms:modified xsi:type="dcterms:W3CDTF">2025-04-25T13:34:50Z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6C0B6EC9BDB14B989532B5ABC9FF51F2</vt:lpwstr>
  </property>
</Properties>
</file>