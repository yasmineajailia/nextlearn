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31" r:id="rId3"/>
    <p:sldId id="332" r:id="rId4"/>
    <p:sldId id="333" r:id="rId5"/>
    <p:sldId id="366" r:id="rId6"/>
    <p:sldId id="36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EE07D4-F84E-4BBE-9AD3-719F4B2C30E8}">
          <p14:sldIdLst>
            <p14:sldId id="331"/>
            <p14:sldId id="332"/>
            <p14:sldId id="333"/>
            <p14:sldId id="366"/>
            <p14:sldId id="3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4" y="52"/>
      </p:cViewPr>
      <p:guideLst>
        <p:guide orient="horz" pos="2073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00F0-5331-4BEE-93CC-6623BA77D340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0FF7-A96F-440A-ADD3-2D2A0E0ACFAF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oleObject" Target="../embeddings/oleObject1.bin"/><Relationship Id="rId2" Type="http://schemas.openxmlformats.org/officeDocument/2006/relationships/image" Target="../media/image3.wmf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EF82082-3D22-4441-8596-07ACF143BFC8}" type="slidenum">
              <a:rPr lang="en-GB" sz="1400"/>
            </a:fld>
            <a:endParaRPr lang="en-GB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247140" y="317500"/>
            <a:ext cx="10515600" cy="1325563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boucle </a:t>
            </a:r>
            <a:r>
              <a:rPr lang="fr-FR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do..</a:t>
            </a:r>
            <a:r>
              <a:rPr lang="fr-FR" sz="40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fr-FR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572012" y="3857350"/>
            <a:ext cx="83978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en-US" dirty="0"/>
              <a:t> La structure </a:t>
            </a:r>
            <a:r>
              <a:rPr lang="en-US" dirty="0" err="1">
                <a:solidFill>
                  <a:srgbClr val="A50021"/>
                </a:solidFill>
              </a:rPr>
              <a:t>do..while</a:t>
            </a:r>
            <a:r>
              <a:rPr lang="en-US" dirty="0"/>
              <a:t> </a:t>
            </a:r>
            <a:r>
              <a:rPr lang="en-US" dirty="0" err="1"/>
              <a:t>ressemble</a:t>
            </a:r>
            <a:r>
              <a:rPr lang="en-US" dirty="0"/>
              <a:t> à la structure </a:t>
            </a:r>
            <a:r>
              <a:rPr lang="en-US" dirty="0">
                <a:solidFill>
                  <a:srgbClr val="A50021"/>
                </a:solidFill>
              </a:rPr>
              <a:t>while, </a:t>
            </a:r>
            <a:r>
              <a:rPr lang="en-US" dirty="0" err="1"/>
              <a:t>sauf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>
                <a:solidFill>
                  <a:srgbClr val="003366"/>
                </a:solidFill>
              </a:rPr>
              <a:t>…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572012" y="4363763"/>
            <a:ext cx="8709179" cy="120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fr-FR" dirty="0"/>
              <a:t> La structure </a:t>
            </a:r>
            <a:r>
              <a:rPr lang="fr-FR" dirty="0" err="1">
                <a:solidFill>
                  <a:srgbClr val="A50021"/>
                </a:solidFill>
              </a:rPr>
              <a:t>while</a:t>
            </a:r>
            <a:r>
              <a:rPr lang="fr-FR" dirty="0"/>
              <a:t> évalue la condition </a:t>
            </a:r>
            <a:r>
              <a:rPr lang="fr-FR" sz="2800" b="1" u="sng" dirty="0">
                <a:solidFill>
                  <a:schemeClr val="tx2"/>
                </a:solidFill>
              </a:rPr>
              <a:t>avant</a:t>
            </a:r>
            <a:r>
              <a:rPr lang="fr-FR" sz="2800" dirty="0"/>
              <a:t> </a:t>
            </a:r>
            <a:r>
              <a:rPr lang="fr-FR" dirty="0"/>
              <a:t>d’exécuter le bloc</a:t>
            </a:r>
            <a:endParaRPr lang="fr-FR" dirty="0"/>
          </a:p>
          <a:p>
            <a:pPr eaLnBrk="1" hangingPunct="1"/>
            <a:r>
              <a:rPr lang="fr-FR" dirty="0"/>
              <a:t>   d’instructions, alors que la structure </a:t>
            </a:r>
            <a:r>
              <a:rPr lang="fr-FR" dirty="0">
                <a:solidFill>
                  <a:srgbClr val="A50021"/>
                </a:solidFill>
              </a:rPr>
              <a:t>do..</a:t>
            </a:r>
            <a:r>
              <a:rPr lang="fr-FR" dirty="0" err="1">
                <a:solidFill>
                  <a:srgbClr val="A50021"/>
                </a:solidFill>
              </a:rPr>
              <a:t>while</a:t>
            </a:r>
            <a:r>
              <a:rPr lang="fr-FR" dirty="0"/>
              <a:t> évalue la condition</a:t>
            </a:r>
            <a:endParaRPr lang="fr-FR" dirty="0"/>
          </a:p>
          <a:p>
            <a:pPr eaLnBrk="1" hangingPunct="1"/>
            <a:r>
              <a:rPr lang="fr-FR" dirty="0"/>
              <a:t>   </a:t>
            </a:r>
            <a:r>
              <a:rPr lang="fr-FR" sz="2800" b="1" u="sng" dirty="0">
                <a:solidFill>
                  <a:schemeClr val="tx2"/>
                </a:solidFill>
              </a:rPr>
              <a:t>après</a:t>
            </a:r>
            <a:r>
              <a:rPr lang="fr-FR" sz="2800" dirty="0"/>
              <a:t> </a:t>
            </a:r>
            <a:r>
              <a:rPr lang="fr-FR" dirty="0"/>
              <a:t>avoir exécuté le bloc d’instructions (à la fin de l’itération).</a:t>
            </a:r>
            <a:endParaRPr lang="fr-FR" dirty="0"/>
          </a:p>
        </p:txBody>
      </p:sp>
      <p:sp>
        <p:nvSpPr>
          <p:cNvPr id="13318" name="AutoShape 5"/>
          <p:cNvSpPr>
            <a:spLocks noChangeArrowheads="1"/>
          </p:cNvSpPr>
          <p:nvPr/>
        </p:nvSpPr>
        <p:spPr bwMode="auto">
          <a:xfrm>
            <a:off x="5943600" y="5503309"/>
            <a:ext cx="381000" cy="473441"/>
          </a:xfrm>
          <a:prstGeom prst="downArrow">
            <a:avLst>
              <a:gd name="adj1" fmla="val 50000"/>
              <a:gd name="adj2" fmla="val 45000"/>
            </a:avLst>
          </a:prstGeom>
          <a:gradFill rotWithShape="1">
            <a:gsLst>
              <a:gs pos="0">
                <a:srgbClr val="A50021"/>
              </a:gs>
              <a:gs pos="50000">
                <a:srgbClr val="FFFFFF"/>
              </a:gs>
              <a:gs pos="100000">
                <a:srgbClr val="A5002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2243137" y="1643160"/>
            <a:ext cx="77819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2400" b="1" i="1" dirty="0">
                <a:solidFill>
                  <a:srgbClr val="006666"/>
                </a:solidFill>
              </a:rPr>
              <a:t>do {</a:t>
            </a:r>
            <a:endParaRPr lang="fr-FR" sz="2400" b="1" i="1" dirty="0">
              <a:solidFill>
                <a:srgbClr val="006666"/>
              </a:solidFill>
            </a:endParaRPr>
          </a:p>
          <a:p>
            <a:pPr eaLnBrk="1" hangingPunct="1"/>
            <a:r>
              <a:rPr lang="fr-FR" sz="2400" b="1" i="1" dirty="0">
                <a:solidFill>
                  <a:srgbClr val="006666"/>
                </a:solidFill>
              </a:rPr>
              <a:t>	bloc d'instructions</a:t>
            </a:r>
            <a:endParaRPr lang="fr-FR" sz="2400" b="1" i="1" dirty="0">
              <a:solidFill>
                <a:srgbClr val="006666"/>
              </a:solidFill>
            </a:endParaRPr>
          </a:p>
          <a:p>
            <a:pPr eaLnBrk="1" hangingPunct="1"/>
            <a:r>
              <a:rPr lang="en-US" sz="2400" b="1" i="1" dirty="0">
                <a:solidFill>
                  <a:srgbClr val="006666"/>
                </a:solidFill>
              </a:rPr>
              <a:t>       } 	</a:t>
            </a:r>
            <a:endParaRPr lang="fr-FR" sz="2400" b="1" i="1" dirty="0">
              <a:solidFill>
                <a:srgbClr val="006666"/>
              </a:solidFill>
            </a:endParaRPr>
          </a:p>
          <a:p>
            <a:pPr eaLnBrk="1" hangingPunct="1"/>
            <a:r>
              <a:rPr lang="fr-FR" sz="2400" b="1" i="1" dirty="0">
                <a:solidFill>
                  <a:srgbClr val="006666"/>
                </a:solidFill>
              </a:rPr>
              <a:t>	</a:t>
            </a:r>
            <a:r>
              <a:rPr lang="fr-FR" sz="2400" b="1" i="1" dirty="0" err="1">
                <a:solidFill>
                  <a:srgbClr val="006666"/>
                </a:solidFill>
              </a:rPr>
              <a:t>while</a:t>
            </a:r>
            <a:r>
              <a:rPr lang="fr-FR" sz="2400" b="1" i="1" dirty="0">
                <a:solidFill>
                  <a:srgbClr val="006666"/>
                </a:solidFill>
              </a:rPr>
              <a:t> (condition) </a:t>
            </a:r>
            <a:endParaRPr lang="fr-FR" sz="2400" b="1" i="1" dirty="0">
              <a:solidFill>
                <a:srgbClr val="006666"/>
              </a:solidFill>
            </a:endParaRPr>
          </a:p>
        </p:txBody>
      </p:sp>
      <p:pic>
        <p:nvPicPr>
          <p:cNvPr id="344071" name="Picture 7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177441">
            <a:off x="6123923" y="2071686"/>
            <a:ext cx="762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 Box 8"/>
          <p:cNvSpPr txBox="1">
            <a:spLocks noChangeArrowheads="1"/>
          </p:cNvSpPr>
          <p:nvPr/>
        </p:nvSpPr>
        <p:spPr bwMode="auto">
          <a:xfrm>
            <a:off x="6209648" y="2732553"/>
            <a:ext cx="29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rgbClr val="006666"/>
                </a:solidFill>
              </a:rPr>
              <a:t>;</a:t>
            </a:r>
            <a:endParaRPr lang="fr-FR" sz="2400" b="1" dirty="0">
              <a:solidFill>
                <a:srgbClr val="006666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2438400" y="5999164"/>
            <a:ext cx="7848600" cy="771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algn="ctr" eaLnBrk="1" hangingPunct="1"/>
            <a:r>
              <a:rPr kumimoji="1" lang="fr-FR" b="1" i="1" dirty="0">
                <a:solidFill>
                  <a:srgbClr val="006666"/>
                </a:solidFill>
              </a:rPr>
              <a:t>Avec la boucle </a:t>
            </a:r>
            <a:r>
              <a:rPr kumimoji="1" lang="fr-FR" b="1" i="1" dirty="0">
                <a:solidFill>
                  <a:srgbClr val="A50021"/>
                </a:solidFill>
              </a:rPr>
              <a:t>do..</a:t>
            </a:r>
            <a:r>
              <a:rPr kumimoji="1" lang="fr-FR" b="1" i="1" dirty="0" err="1">
                <a:solidFill>
                  <a:srgbClr val="A50021"/>
                </a:solidFill>
              </a:rPr>
              <a:t>while</a:t>
            </a:r>
            <a:r>
              <a:rPr kumimoji="1" lang="fr-FR" b="1" i="1" dirty="0">
                <a:solidFill>
                  <a:srgbClr val="A50021"/>
                </a:solidFill>
              </a:rPr>
              <a:t> </a:t>
            </a:r>
            <a:r>
              <a:rPr kumimoji="1" lang="fr-FR" b="1" i="1" dirty="0">
                <a:solidFill>
                  <a:srgbClr val="006666"/>
                </a:solidFill>
              </a:rPr>
              <a:t>le bloc d’instructions est ex</a:t>
            </a:r>
            <a:r>
              <a:rPr kumimoji="1" lang="en-US" b="1" i="1" dirty="0">
                <a:solidFill>
                  <a:srgbClr val="006666"/>
                </a:solidFill>
              </a:rPr>
              <a:t>é</a:t>
            </a:r>
            <a:r>
              <a:rPr kumimoji="1" lang="fr-FR" b="1" i="1" dirty="0" err="1">
                <a:solidFill>
                  <a:srgbClr val="006666"/>
                </a:solidFill>
              </a:rPr>
              <a:t>cut</a:t>
            </a:r>
            <a:r>
              <a:rPr kumimoji="1" lang="en-US" b="1" i="1" dirty="0">
                <a:solidFill>
                  <a:srgbClr val="006666"/>
                </a:solidFill>
              </a:rPr>
              <a:t>é</a:t>
            </a:r>
            <a:r>
              <a:rPr kumimoji="1" lang="fr-FR" dirty="0"/>
              <a:t> </a:t>
            </a:r>
            <a:r>
              <a:rPr kumimoji="1" lang="fr-FR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moins une fois</a:t>
            </a:r>
            <a:r>
              <a:rPr kumimoji="1" lang="fr-FR" b="1" i="1" dirty="0">
                <a:solidFill>
                  <a:srgbClr val="006666"/>
                </a:solidFill>
              </a:rPr>
              <a:t>.</a:t>
            </a:r>
            <a:endParaRPr kumimoji="1" lang="fr-FR" b="1" i="1" dirty="0">
              <a:solidFill>
                <a:srgbClr val="006666"/>
              </a:solidFill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9199880" y="1690370"/>
          <a:ext cx="2740025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" r:id="rId3" imgW="2305050" imgH="2908300" progId="PBrush">
                  <p:embed/>
                </p:oleObj>
              </mc:Choice>
              <mc:Fallback>
                <p:oleObj name="" r:id="rId3" imgW="2305050" imgH="2908300" progId="PBrush">
                  <p:embed/>
                  <p:pic>
                    <p:nvPicPr>
                      <p:cNvPr id="0" name="Picture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880" y="1690370"/>
                        <a:ext cx="2740025" cy="363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56DA5B3-3A9C-411C-84F3-88845DF5B8C5}" type="slidenum">
              <a:rPr lang="en-GB" sz="1400"/>
            </a:fld>
            <a:endParaRPr lang="en-GB" sz="1400"/>
          </a:p>
        </p:txBody>
      </p:sp>
      <p:sp>
        <p:nvSpPr>
          <p:cNvPr id="347138" name="Rectangle 2"/>
          <p:cNvSpPr>
            <a:spLocks noChangeArrowheads="1"/>
          </p:cNvSpPr>
          <p:nvPr/>
        </p:nvSpPr>
        <p:spPr bwMode="auto">
          <a:xfrm>
            <a:off x="2209800" y="1394011"/>
            <a:ext cx="7945438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sz="2100">
                <a:solidFill>
                  <a:srgbClr val="003366"/>
                </a:solidFill>
              </a:rPr>
              <a:t>int i;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printf(“Combien il vous reste de s</a:t>
            </a:r>
            <a:r>
              <a:rPr lang="en-US" sz="2100">
                <a:solidFill>
                  <a:srgbClr val="003366"/>
                </a:solidFill>
              </a:rPr>
              <a:t>éances de cours aujourd’hui?</a:t>
            </a:r>
            <a:r>
              <a:rPr lang="en-GB" sz="2100">
                <a:solidFill>
                  <a:srgbClr val="003366"/>
                </a:solidFill>
              </a:rPr>
              <a:t>” 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scanf(“%d”, &amp;i);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 b="1">
                <a:solidFill>
                  <a:srgbClr val="A50021"/>
                </a:solidFill>
              </a:rPr>
              <a:t>do</a:t>
            </a:r>
            <a:endParaRPr lang="en-GB" sz="2100" b="1">
              <a:solidFill>
                <a:srgbClr val="A50021"/>
              </a:solidFill>
            </a:endParaRPr>
          </a:p>
          <a:p>
            <a:pPr eaLnBrk="1" hangingPunct="1"/>
            <a:r>
              <a:rPr lang="en-GB" sz="2100">
                <a:solidFill>
                  <a:srgbClr val="A50021"/>
                </a:solidFill>
              </a:rPr>
              <a:t>{</a:t>
            </a:r>
            <a:r>
              <a:rPr lang="en-GB" sz="2100">
                <a:solidFill>
                  <a:srgbClr val="003366"/>
                </a:solidFill>
              </a:rPr>
              <a:t>	printf(“Il reste %d s</a:t>
            </a:r>
            <a:r>
              <a:rPr lang="en-US" sz="2100">
                <a:solidFill>
                  <a:srgbClr val="003366"/>
                </a:solidFill>
              </a:rPr>
              <a:t>éances</a:t>
            </a:r>
            <a:r>
              <a:rPr lang="en-US" sz="2100"/>
              <a:t> </a:t>
            </a:r>
            <a:r>
              <a:rPr lang="en-GB" sz="2100">
                <a:solidFill>
                  <a:srgbClr val="003366"/>
                </a:solidFill>
              </a:rPr>
              <a:t>”, i 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	i--;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A50021"/>
                </a:solidFill>
              </a:rPr>
              <a:t>}</a:t>
            </a:r>
            <a:endParaRPr lang="en-GB" sz="2100">
              <a:solidFill>
                <a:srgbClr val="A50021"/>
              </a:solidFill>
            </a:endParaRPr>
          </a:p>
          <a:p>
            <a:pPr eaLnBrk="1" hangingPunct="1"/>
            <a:r>
              <a:rPr lang="en-GB" sz="2100" b="1">
                <a:solidFill>
                  <a:srgbClr val="A50021"/>
                </a:solidFill>
              </a:rPr>
              <a:t>while</a:t>
            </a:r>
            <a:r>
              <a:rPr lang="en-GB" sz="2100">
                <a:solidFill>
                  <a:srgbClr val="003366"/>
                </a:solidFill>
              </a:rPr>
              <a:t> (i &gt; 0);</a:t>
            </a:r>
            <a:endParaRPr lang="en-GB" sz="2100">
              <a:solidFill>
                <a:srgbClr val="003366"/>
              </a:solidFill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fr-FR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do..</a:t>
            </a:r>
            <a:r>
              <a:rPr lang="fr-FR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 (1)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140" name="Rectangle 4"/>
          <p:cNvSpPr>
            <a:spLocks noChangeArrowheads="1"/>
          </p:cNvSpPr>
          <p:nvPr/>
        </p:nvSpPr>
        <p:spPr bwMode="auto">
          <a:xfrm>
            <a:off x="2206812" y="4213412"/>
            <a:ext cx="7945438" cy="2346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sz="2100">
                <a:solidFill>
                  <a:srgbClr val="003366"/>
                </a:solidFill>
              </a:rPr>
              <a:t>int i;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printf(“Combien il vous reste de s</a:t>
            </a:r>
            <a:r>
              <a:rPr lang="en-US" sz="2100">
                <a:solidFill>
                  <a:srgbClr val="003366"/>
                </a:solidFill>
              </a:rPr>
              <a:t>éances de cours aujourd’hui?</a:t>
            </a:r>
            <a:r>
              <a:rPr lang="en-GB" sz="2100">
                <a:solidFill>
                  <a:srgbClr val="003366"/>
                </a:solidFill>
              </a:rPr>
              <a:t>” 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scanf(“%d”, &amp;i);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 b="1">
                <a:solidFill>
                  <a:srgbClr val="A50021"/>
                </a:solidFill>
              </a:rPr>
              <a:t>while</a:t>
            </a:r>
            <a:r>
              <a:rPr lang="en-GB" sz="2100">
                <a:solidFill>
                  <a:srgbClr val="003366"/>
                </a:solidFill>
              </a:rPr>
              <a:t> (i &gt; 0)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A50021"/>
                </a:solidFill>
              </a:rPr>
              <a:t>{</a:t>
            </a:r>
            <a:r>
              <a:rPr lang="en-GB" sz="2100">
                <a:solidFill>
                  <a:srgbClr val="003366"/>
                </a:solidFill>
              </a:rPr>
              <a:t>	printf(“Il reste %d s</a:t>
            </a:r>
            <a:r>
              <a:rPr lang="en-US" sz="2100">
                <a:solidFill>
                  <a:srgbClr val="003366"/>
                </a:solidFill>
              </a:rPr>
              <a:t>éances</a:t>
            </a:r>
            <a:r>
              <a:rPr lang="en-US" sz="2100"/>
              <a:t> </a:t>
            </a:r>
            <a:r>
              <a:rPr lang="en-GB" sz="2100">
                <a:solidFill>
                  <a:srgbClr val="003366"/>
                </a:solidFill>
              </a:rPr>
              <a:t>”, i );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003366"/>
                </a:solidFill>
              </a:rPr>
              <a:t>	i--;</a:t>
            </a:r>
            <a:endParaRPr lang="en-GB" sz="2100">
              <a:solidFill>
                <a:srgbClr val="003366"/>
              </a:solidFill>
            </a:endParaRPr>
          </a:p>
          <a:p>
            <a:pPr eaLnBrk="1" hangingPunct="1"/>
            <a:r>
              <a:rPr lang="en-GB" sz="2100">
                <a:solidFill>
                  <a:srgbClr val="A50021"/>
                </a:solidFill>
              </a:rPr>
              <a:t>}</a:t>
            </a:r>
            <a:endParaRPr lang="en-GB" sz="2100">
              <a:solidFill>
                <a:srgbClr val="003366"/>
              </a:solidFill>
            </a:endParaRPr>
          </a:p>
        </p:txBody>
      </p:sp>
      <p:sp>
        <p:nvSpPr>
          <p:cNvPr id="347141" name="AutoShape 5"/>
          <p:cNvSpPr>
            <a:spLocks noChangeArrowheads="1"/>
          </p:cNvSpPr>
          <p:nvPr/>
        </p:nvSpPr>
        <p:spPr bwMode="auto">
          <a:xfrm>
            <a:off x="8305800" y="3146611"/>
            <a:ext cx="2286000" cy="1447800"/>
          </a:xfrm>
          <a:prstGeom prst="irregularSeal2">
            <a:avLst/>
          </a:prstGeom>
          <a:gradFill rotWithShape="1">
            <a:gsLst>
              <a:gs pos="0">
                <a:schemeClr val="hlink"/>
              </a:gs>
              <a:gs pos="50000">
                <a:schemeClr val="bg1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chemeClr val="tx2"/>
                </a:solidFill>
              </a:rPr>
              <a:t>while</a:t>
            </a:r>
            <a:endParaRPr lang="fr-FR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7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 animBg="1"/>
      <p:bldP spid="347140" grpId="0" animBg="1"/>
      <p:bldP spid="3471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7B758CB-CCB5-431A-83A6-F8F4791EEE95}" type="slidenum">
              <a:rPr lang="en-GB" sz="1400"/>
            </a:fld>
            <a:endParaRPr lang="en-GB" sz="1400"/>
          </a:p>
        </p:txBody>
      </p:sp>
      <p:sp>
        <p:nvSpPr>
          <p:cNvPr id="348162" name="Rectangle 2"/>
          <p:cNvSpPr>
            <a:spLocks noChangeArrowheads="1"/>
          </p:cNvSpPr>
          <p:nvPr/>
        </p:nvSpPr>
        <p:spPr bwMode="auto">
          <a:xfrm>
            <a:off x="2257425" y="1470025"/>
            <a:ext cx="6127750" cy="2446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 dirty="0">
                <a:solidFill>
                  <a:srgbClr val="003366"/>
                </a:solidFill>
              </a:rPr>
              <a:t>float note;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b="1" dirty="0">
                <a:solidFill>
                  <a:srgbClr val="A50021"/>
                </a:solidFill>
              </a:rPr>
              <a:t>do</a:t>
            </a:r>
            <a:endParaRPr lang="en-GB" b="1" dirty="0">
              <a:solidFill>
                <a:srgbClr val="A50021"/>
              </a:solidFill>
            </a:endParaRPr>
          </a:p>
          <a:p>
            <a:pPr eaLnBrk="1" hangingPunct="1"/>
            <a:r>
              <a:rPr lang="en-GB" dirty="0">
                <a:solidFill>
                  <a:srgbClr val="A50021"/>
                </a:solidFill>
              </a:rPr>
              <a:t>{</a:t>
            </a:r>
            <a:r>
              <a:rPr lang="en-GB" dirty="0">
                <a:solidFill>
                  <a:srgbClr val="003366"/>
                </a:solidFill>
              </a:rPr>
              <a:t>	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dirty="0">
                <a:solidFill>
                  <a:srgbClr val="003366"/>
                </a:solidFill>
              </a:rPr>
              <a:t>        </a:t>
            </a:r>
            <a:r>
              <a:rPr lang="en-GB" dirty="0" err="1">
                <a:solidFill>
                  <a:srgbClr val="003366"/>
                </a:solidFill>
              </a:rPr>
              <a:t>printf</a:t>
            </a:r>
            <a:r>
              <a:rPr lang="en-GB" dirty="0">
                <a:solidFill>
                  <a:srgbClr val="003366"/>
                </a:solidFill>
              </a:rPr>
              <a:t>(“</a:t>
            </a:r>
            <a:r>
              <a:rPr lang="en-GB" dirty="0" err="1">
                <a:solidFill>
                  <a:srgbClr val="003366"/>
                </a:solidFill>
              </a:rPr>
              <a:t>Entrer</a:t>
            </a:r>
            <a:r>
              <a:rPr lang="en-GB" dirty="0">
                <a:solidFill>
                  <a:srgbClr val="003366"/>
                </a:solidFill>
              </a:rPr>
              <a:t> </a:t>
            </a:r>
            <a:r>
              <a:rPr lang="en-GB" dirty="0" err="1">
                <a:solidFill>
                  <a:srgbClr val="003366"/>
                </a:solidFill>
              </a:rPr>
              <a:t>votre</a:t>
            </a:r>
            <a:r>
              <a:rPr lang="en-GB" dirty="0">
                <a:solidFill>
                  <a:srgbClr val="003366"/>
                </a:solidFill>
              </a:rPr>
              <a:t> note:” );                    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dirty="0">
                <a:solidFill>
                  <a:srgbClr val="003366"/>
                </a:solidFill>
              </a:rPr>
              <a:t>        </a:t>
            </a:r>
            <a:r>
              <a:rPr lang="en-GB" dirty="0" err="1">
                <a:solidFill>
                  <a:srgbClr val="003366"/>
                </a:solidFill>
              </a:rPr>
              <a:t>scanf</a:t>
            </a:r>
            <a:r>
              <a:rPr lang="en-GB" dirty="0">
                <a:solidFill>
                  <a:srgbClr val="003366"/>
                </a:solidFill>
              </a:rPr>
              <a:t>(“%f”, &amp;note);</a:t>
            </a:r>
            <a:endParaRPr lang="en-GB" dirty="0">
              <a:solidFill>
                <a:srgbClr val="003366"/>
              </a:solidFill>
            </a:endParaRPr>
          </a:p>
          <a:p>
            <a:pPr eaLnBrk="1" hangingPunct="1"/>
            <a:r>
              <a:rPr lang="en-GB" dirty="0">
                <a:solidFill>
                  <a:srgbClr val="A50021"/>
                </a:solidFill>
              </a:rPr>
              <a:t>}</a:t>
            </a:r>
            <a:endParaRPr lang="en-GB" dirty="0">
              <a:solidFill>
                <a:srgbClr val="A50021"/>
              </a:solidFill>
            </a:endParaRPr>
          </a:p>
          <a:p>
            <a:pPr eaLnBrk="1" hangingPunct="1"/>
            <a:r>
              <a:rPr lang="en-GB" b="1" dirty="0">
                <a:solidFill>
                  <a:srgbClr val="A50021"/>
                </a:solidFill>
              </a:rPr>
              <a:t>while</a:t>
            </a:r>
            <a:r>
              <a:rPr lang="en-GB" dirty="0">
                <a:solidFill>
                  <a:srgbClr val="003366"/>
                </a:solidFill>
              </a:rPr>
              <a:t> (note&lt;0) || (note&gt;20);</a:t>
            </a:r>
            <a:endParaRPr lang="en-GB" dirty="0">
              <a:solidFill>
                <a:srgbClr val="003366"/>
              </a:solidFill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title"/>
          </p:nvPr>
        </p:nvSpPr>
        <p:spPr>
          <a:xfrm>
            <a:off x="1345089" y="327025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ou do..while (2)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64" name="Rectangle 4"/>
          <p:cNvSpPr>
            <a:spLocks noChangeArrowheads="1"/>
          </p:cNvSpPr>
          <p:nvPr/>
        </p:nvSpPr>
        <p:spPr bwMode="auto">
          <a:xfrm>
            <a:off x="2286000" y="4289425"/>
            <a:ext cx="6091238" cy="2446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GB">
                <a:solidFill>
                  <a:srgbClr val="003366"/>
                </a:solidFill>
              </a:rPr>
              <a:t>printf(“Entrer votre note</a:t>
            </a:r>
            <a:r>
              <a:rPr lang="en-US">
                <a:solidFill>
                  <a:srgbClr val="003366"/>
                </a:solidFill>
              </a:rPr>
              <a:t>: ”</a:t>
            </a:r>
            <a:r>
              <a:rPr lang="en-GB">
                <a:solidFill>
                  <a:srgbClr val="003366"/>
                </a:solidFill>
              </a:rPr>
              <a:t> );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>
                <a:solidFill>
                  <a:srgbClr val="003366"/>
                </a:solidFill>
              </a:rPr>
              <a:t>scanf(“%f”, &amp;note);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 b="1">
                <a:solidFill>
                  <a:srgbClr val="A50021"/>
                </a:solidFill>
              </a:rPr>
              <a:t>while</a:t>
            </a:r>
            <a:r>
              <a:rPr lang="en-GB">
                <a:solidFill>
                  <a:srgbClr val="003366"/>
                </a:solidFill>
              </a:rPr>
              <a:t> (note&lt;0) || (note&gt;20)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>
                <a:solidFill>
                  <a:srgbClr val="A50021"/>
                </a:solidFill>
              </a:rPr>
              <a:t>{</a:t>
            </a:r>
            <a:r>
              <a:rPr lang="en-GB">
                <a:solidFill>
                  <a:srgbClr val="003366"/>
                </a:solidFill>
              </a:rPr>
              <a:t>	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>
                <a:solidFill>
                  <a:srgbClr val="003366"/>
                </a:solidFill>
              </a:rPr>
              <a:t>       printf(“Entrer une note:” );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>
                <a:solidFill>
                  <a:srgbClr val="003366"/>
                </a:solidFill>
              </a:rPr>
              <a:t>       scanf(“%note”, &amp;note);</a:t>
            </a:r>
            <a:endParaRPr lang="en-GB">
              <a:solidFill>
                <a:srgbClr val="003366"/>
              </a:solidFill>
            </a:endParaRPr>
          </a:p>
          <a:p>
            <a:pPr eaLnBrk="1" hangingPunct="1"/>
            <a:r>
              <a:rPr lang="en-GB">
                <a:solidFill>
                  <a:srgbClr val="A50021"/>
                </a:solidFill>
              </a:rPr>
              <a:t>}                                                                  </a:t>
            </a:r>
            <a:endParaRPr lang="en-GB">
              <a:solidFill>
                <a:srgbClr val="A50021"/>
              </a:solidFill>
            </a:endParaRPr>
          </a:p>
        </p:txBody>
      </p:sp>
      <p:sp>
        <p:nvSpPr>
          <p:cNvPr id="348165" name="AutoShape 5"/>
          <p:cNvSpPr>
            <a:spLocks noChangeArrowheads="1"/>
          </p:cNvSpPr>
          <p:nvPr/>
        </p:nvSpPr>
        <p:spPr bwMode="auto">
          <a:xfrm>
            <a:off x="8001000" y="3276600"/>
            <a:ext cx="2286000" cy="1447800"/>
          </a:xfrm>
          <a:prstGeom prst="irregularSeal2">
            <a:avLst/>
          </a:prstGeom>
          <a:gradFill rotWithShape="1">
            <a:gsLst>
              <a:gs pos="0">
                <a:schemeClr val="hlink"/>
              </a:gs>
              <a:gs pos="50000">
                <a:schemeClr val="bg1"/>
              </a:gs>
              <a:gs pos="100000">
                <a:schemeClr val="hlink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006666"/>
                </a:solidFill>
              </a:rPr>
              <a:t>do..while</a:t>
            </a:r>
            <a:endParaRPr lang="fr-FR" b="1">
              <a:solidFill>
                <a:srgbClr val="0066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8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 animBg="1"/>
      <p:bldP spid="348164" grpId="0" animBg="1"/>
      <p:bldP spid="34816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69B1A5-4ECB-489A-9A54-046713A43D3E}" type="slidenum">
              <a:rPr lang="en-GB" sz="1400"/>
            </a:fld>
            <a:endParaRPr lang="en-GB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425612" y="676873"/>
            <a:ext cx="8458200" cy="762000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Problème ?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425575" y="1908175"/>
            <a:ext cx="959104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calculer la moyenne de plusieurs étudiants sachant qu’on ne connaît pas leur nombre?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59A2183-BB9A-4E24-8E48-78B217C57FBE}" type="slidenum">
              <a:rPr lang="en-GB" sz="1400"/>
            </a:fld>
            <a:endParaRPr lang="en-GB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325059" y="571342"/>
            <a:ext cx="8458200" cy="762000"/>
          </a:xfrm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solution</a:t>
            </a:r>
            <a:endParaRPr lang="fr-FR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1780" name="Rectangle 4"/>
          <p:cNvSpPr>
            <a:spLocks noChangeArrowheads="1"/>
          </p:cNvSpPr>
          <p:nvPr/>
        </p:nvSpPr>
        <p:spPr bwMode="auto">
          <a:xfrm>
            <a:off x="700405" y="1336358"/>
            <a:ext cx="11258550" cy="5507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36068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fr-FR" sz="1600">
                <a:solidFill>
                  <a:schemeClr val="tx1"/>
                </a:solidFill>
              </a:rPr>
              <a:t>#include &lt;stdio.h&gt;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int main()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{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float Note1, Note2, Moyenne;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char reponse;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</a:t>
            </a:r>
            <a:r>
              <a:rPr lang="fr-FR" sz="1600" b="1">
                <a:solidFill>
                  <a:srgbClr val="00B050"/>
                </a:solidFill>
              </a:rPr>
              <a:t>do</a:t>
            </a:r>
            <a:endParaRPr lang="fr-FR" sz="1600" b="1">
              <a:solidFill>
                <a:srgbClr val="00B050"/>
              </a:solidFill>
            </a:endParaRPr>
          </a:p>
          <a:p>
            <a:pPr eaLnBrk="1" hangingPunct="1"/>
            <a:r>
              <a:rPr lang="fr-FR" sz="1600" b="1">
                <a:solidFill>
                  <a:srgbClr val="00B050"/>
                </a:solidFill>
              </a:rPr>
              <a:t>   {</a:t>
            </a:r>
            <a:endParaRPr lang="fr-FR" sz="1600" b="1">
              <a:solidFill>
                <a:srgbClr val="00B050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printf ("Donner la note 1: "); 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scanf ("%f", &amp;Note1);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printf ("Donner la note 2: ");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scanf ("%f", &amp;Note2);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Moyenne = (Note1 * 0.8) + (Note2 * 0.2);             //  possibilité de saisir les coefficients 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printf ("Moyenne de l’étudiant: %.2f \n", Moyenne);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printf ("Voulez-vous calculer la moyenne d’un autre étudiant (O/N)?");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fflush(stdin);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   scanf ("%c", &amp;reponse);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</a:t>
            </a:r>
            <a:r>
              <a:rPr lang="fr-FR" sz="1600">
                <a:solidFill>
                  <a:srgbClr val="00B050"/>
                </a:solidFill>
              </a:rPr>
              <a:t> </a:t>
            </a:r>
            <a:r>
              <a:rPr lang="fr-FR" sz="1600" b="1">
                <a:solidFill>
                  <a:srgbClr val="00B050"/>
                </a:solidFill>
              </a:rPr>
              <a:t>}</a:t>
            </a:r>
            <a:endParaRPr lang="fr-FR" sz="1600" b="1">
              <a:solidFill>
                <a:srgbClr val="00B050"/>
              </a:solidFill>
            </a:endParaRPr>
          </a:p>
          <a:p>
            <a:pPr eaLnBrk="1" hangingPunct="1"/>
            <a:r>
              <a:rPr lang="fr-FR" sz="1600" b="1">
                <a:solidFill>
                  <a:srgbClr val="00B050"/>
                </a:solidFill>
              </a:rPr>
              <a:t>   while ((reponse == 'O') || (reponse == 'o'));</a:t>
            </a:r>
            <a:endParaRPr lang="fr-FR" sz="1600" b="1">
              <a:solidFill>
                <a:srgbClr val="00B050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   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return 0;</a:t>
            </a:r>
            <a:endParaRPr lang="fr-FR" sz="1600">
              <a:solidFill>
                <a:schemeClr val="tx1"/>
              </a:solidFill>
            </a:endParaRPr>
          </a:p>
          <a:p>
            <a:pPr eaLnBrk="1" hangingPunct="1"/>
            <a:r>
              <a:rPr lang="fr-FR" sz="1600">
                <a:solidFill>
                  <a:schemeClr val="tx1"/>
                </a:solidFill>
              </a:rPr>
              <a:t>}</a:t>
            </a:r>
            <a:endParaRPr lang="fr-FR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WPS Presentation</Application>
  <PresentationFormat>Grand écran</PresentationFormat>
  <Paragraphs>97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Times New Roman</vt:lpstr>
      <vt:lpstr>Tahoma</vt:lpstr>
      <vt:lpstr>Calibri</vt:lpstr>
      <vt:lpstr>Microsoft YaHei</vt:lpstr>
      <vt:lpstr>Arial Unicode MS</vt:lpstr>
      <vt:lpstr>Calibri Light</vt:lpstr>
      <vt:lpstr>Office Theme</vt:lpstr>
      <vt:lpstr>PBrush</vt:lpstr>
      <vt:lpstr>La boucle do..while</vt:lpstr>
      <vt:lpstr>while ou do..while ? (1)</vt:lpstr>
      <vt:lpstr>while ou do..while (2)</vt:lpstr>
      <vt:lpstr>Problème ?</vt:lpstr>
      <vt:lpstr>La 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FATEN</cp:lastModifiedBy>
  <cp:revision>181</cp:revision>
  <dcterms:created xsi:type="dcterms:W3CDTF">2015-03-06T15:17:00Z</dcterms:created>
  <dcterms:modified xsi:type="dcterms:W3CDTF">2025-04-25T13:35:46Z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1036-12.2.0.20795</vt:lpwstr>
  </property>
  <property fmtid="{D5CDD505-2E9C-101B-9397-08002B2CF9AE}" pid="3" name="ICV">
    <vt:lpwstr>6C0B6EC9BDB14B989532B5ABC9FF51F2</vt:lpwstr>
  </property>
</Properties>
</file>