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23" r:id="rId3"/>
    <p:sldId id="324" r:id="rId4"/>
    <p:sldId id="335" r:id="rId5"/>
    <p:sldId id="325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23"/>
            <p14:sldId id="324"/>
            <p14:sldId id="335"/>
            <p14:sldId id="3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4" y="52"/>
      </p:cViewPr>
      <p:guideLst>
        <p:guide orient="horz" pos="213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27030B4-7BDB-4287-B5DF-E09B1F6B8490}" type="slidenum">
              <a:rPr lang="en-GB" sz="1400"/>
            </a:fld>
            <a:endParaRPr lang="en-GB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313366" y="324784"/>
            <a:ext cx="10515600" cy="1325563"/>
          </a:xfrm>
        </p:spPr>
        <p:txBody>
          <a:bodyPr/>
          <a:lstStyle/>
          <a:p>
            <a:pPr eaLnBrk="1" hangingPunct="1"/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boucle « for »</a:t>
            </a:r>
            <a:endParaRPr lang="fr-FR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1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389380" y="4800600"/>
            <a:ext cx="9791065" cy="2057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Cette boucle permet d’exécuter un bloc d’instructions un certain nombre de fois (ce nombre est connu à l’avance). </a:t>
            </a:r>
            <a:endParaRPr lang="fr-F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Une variable d’itération (appelée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Compteur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servira à compter le nombre de répétitions effectuées</a:t>
            </a:r>
            <a:endParaRPr lang="fr-F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 le bloc contient une seule instruction, les accolades ne sont plus nécessaires.</a:t>
            </a:r>
            <a:endParaRPr lang="fr-F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5" name="Rectangle 10"/>
          <p:cNvSpPr>
            <a:spLocks noChangeArrowheads="1"/>
          </p:cNvSpPr>
          <p:nvPr/>
        </p:nvSpPr>
        <p:spPr bwMode="auto">
          <a:xfrm>
            <a:off x="1313180" y="15240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fr-FR" sz="2400"/>
              <a:t>Syntaxe de la boucle </a:t>
            </a:r>
            <a:r>
              <a:rPr lang="fr-FR" sz="2400" b="1">
                <a:solidFill>
                  <a:srgbClr val="003366"/>
                </a:solidFill>
              </a:rPr>
              <a:t>For</a:t>
            </a:r>
            <a:r>
              <a:rPr lang="fr-FR" sz="2400"/>
              <a:t>:</a:t>
            </a:r>
            <a:endParaRPr lang="fr-FR" sz="2400"/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fr-FR" sz="2400"/>
          </a:p>
        </p:txBody>
      </p:sp>
      <p:sp>
        <p:nvSpPr>
          <p:cNvPr id="5126" name="Rectangle 11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538605" y="2133600"/>
            <a:ext cx="8382000" cy="24384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f</a:t>
            </a:r>
            <a:r>
              <a:rPr lang="fr-FR" sz="2000" b="1" dirty="0" smtClean="0">
                <a:solidFill>
                  <a:srgbClr val="000000"/>
                </a:solidFill>
                <a:cs typeface="Arial" panose="020B0604020202020204" pitchFamily="34" charset="0"/>
              </a:rPr>
              <a:t>or </a:t>
            </a: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fr-FR" sz="2000" b="1" dirty="0" err="1">
                <a:solidFill>
                  <a:srgbClr val="A50021"/>
                </a:solidFill>
                <a:cs typeface="Arial" panose="020B0604020202020204" pitchFamily="34" charset="0"/>
              </a:rPr>
              <a:t>Init_compteur</a:t>
            </a:r>
            <a:r>
              <a:rPr lang="fr-FR" sz="2000" b="1" dirty="0" err="1">
                <a:solidFill>
                  <a:srgbClr val="000000"/>
                </a:solidFill>
                <a:cs typeface="Arial" panose="020B0604020202020204" pitchFamily="34" charset="0"/>
              </a:rPr>
              <a:t>;</a:t>
            </a:r>
            <a:r>
              <a:rPr lang="fr-FR" sz="2000" b="1" dirty="0" err="1">
                <a:solidFill>
                  <a:srgbClr val="006666"/>
                </a:solidFill>
                <a:cs typeface="Arial" panose="020B0604020202020204" pitchFamily="34" charset="0"/>
              </a:rPr>
              <a:t>Condition</a:t>
            </a:r>
            <a:r>
              <a:rPr lang="fr-FR" sz="2000" b="1" dirty="0" err="1">
                <a:solidFill>
                  <a:srgbClr val="000000"/>
                </a:solidFill>
                <a:cs typeface="Arial" panose="020B0604020202020204" pitchFamily="34" charset="0"/>
              </a:rPr>
              <a:t>;</a:t>
            </a:r>
            <a:r>
              <a:rPr lang="fr-FR" sz="2000" b="1" dirty="0" err="1">
                <a:solidFill>
                  <a:srgbClr val="800080"/>
                </a:solidFill>
                <a:cs typeface="Arial" panose="020B0604020202020204" pitchFamily="34" charset="0"/>
              </a:rPr>
              <a:t>Inc</a:t>
            </a:r>
            <a:r>
              <a:rPr lang="fr-FR" sz="2000" b="1" dirty="0">
                <a:solidFill>
                  <a:srgbClr val="800080"/>
                </a:solidFill>
                <a:cs typeface="Arial" panose="020B0604020202020204" pitchFamily="34" charset="0"/>
              </a:rPr>
              <a:t>(</a:t>
            </a:r>
            <a:r>
              <a:rPr lang="fr-FR" sz="2000" b="1" dirty="0" err="1">
                <a:solidFill>
                  <a:srgbClr val="800080"/>
                </a:solidFill>
                <a:cs typeface="Arial" panose="020B0604020202020204" pitchFamily="34" charset="0"/>
              </a:rPr>
              <a:t>Déc</a:t>
            </a:r>
            <a:r>
              <a:rPr lang="fr-FR" sz="2000" b="1" dirty="0">
                <a:solidFill>
                  <a:srgbClr val="800080"/>
                </a:solidFill>
                <a:cs typeface="Arial" panose="020B0604020202020204" pitchFamily="34" charset="0"/>
              </a:rPr>
              <a:t>)</a:t>
            </a:r>
            <a:r>
              <a:rPr lang="fr-FR" sz="2000" b="1" dirty="0" err="1">
                <a:solidFill>
                  <a:srgbClr val="800080"/>
                </a:solidFill>
                <a:cs typeface="Arial" panose="020B0604020202020204" pitchFamily="34" charset="0"/>
              </a:rPr>
              <a:t>rémentation_compteur</a:t>
            </a: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{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     	…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     	…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     	…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}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05164" name="AutoShape 12"/>
          <p:cNvSpPr>
            <a:spLocks noChangeArrowheads="1"/>
          </p:cNvSpPr>
          <p:nvPr/>
        </p:nvSpPr>
        <p:spPr bwMode="auto">
          <a:xfrm>
            <a:off x="5105400" y="3429000"/>
            <a:ext cx="2438400" cy="685800"/>
          </a:xfrm>
          <a:prstGeom prst="wedgeRoundRectCallout">
            <a:avLst>
              <a:gd name="adj1" fmla="val -101630"/>
              <a:gd name="adj2" fmla="val -59491"/>
              <a:gd name="adj3" fmla="val 16667"/>
            </a:avLst>
          </a:prstGeom>
          <a:gradFill rotWithShape="1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>
              <a:defRPr/>
            </a:pPr>
            <a:r>
              <a:rPr lang="fr-FR" b="1">
                <a:cs typeface="Arial" panose="020B0604020202020204" pitchFamily="34" charset="0"/>
              </a:rPr>
              <a:t>Bloc d’instructions</a:t>
            </a:r>
            <a:endParaRPr lang="fr-FR" b="1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FC616FF-2C37-4D49-8881-25FB99A60B2E}" type="slidenum">
              <a:rPr lang="en-GB" sz="1400"/>
            </a:fld>
            <a:endParaRPr lang="en-GB" sz="1400"/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>
          <a:xfrm>
            <a:off x="1266825" y="351155"/>
            <a:ext cx="10515600" cy="1325563"/>
          </a:xfrm>
          <a:noFill/>
        </p:spPr>
        <p:txBody>
          <a:bodyPr/>
          <a:lstStyle/>
          <a:p>
            <a:pPr eaLnBrk="1" hangingPunct="1"/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Schéma de la boucle "For"</a:t>
            </a:r>
            <a:endParaRPr lang="fr-FR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972235" y="2927349"/>
            <a:ext cx="83820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f</a:t>
            </a:r>
            <a:r>
              <a:rPr lang="fr-FR" sz="2000" b="1" smtClean="0">
                <a:solidFill>
                  <a:srgbClr val="000000"/>
                </a:solidFill>
                <a:cs typeface="Arial" panose="020B0604020202020204" pitchFamily="34" charset="0"/>
              </a:rPr>
              <a:t>or </a:t>
            </a: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fr-FR" sz="2000" b="1" dirty="0" err="1">
                <a:solidFill>
                  <a:srgbClr val="A50021"/>
                </a:solidFill>
                <a:cs typeface="Arial" panose="020B0604020202020204" pitchFamily="34" charset="0"/>
              </a:rPr>
              <a:t>Init_compteur</a:t>
            </a:r>
            <a:r>
              <a:rPr lang="fr-FR" sz="2000" b="1" dirty="0" err="1">
                <a:solidFill>
                  <a:srgbClr val="000000"/>
                </a:solidFill>
                <a:cs typeface="Arial" panose="020B0604020202020204" pitchFamily="34" charset="0"/>
              </a:rPr>
              <a:t>;</a:t>
            </a:r>
            <a:r>
              <a:rPr lang="fr-FR" sz="2000" b="1" dirty="0" err="1">
                <a:solidFill>
                  <a:srgbClr val="006666"/>
                </a:solidFill>
                <a:cs typeface="Arial" panose="020B0604020202020204" pitchFamily="34" charset="0"/>
              </a:rPr>
              <a:t>Condition</a:t>
            </a:r>
            <a:r>
              <a:rPr lang="fr-FR" sz="2000" b="1" dirty="0" err="1">
                <a:solidFill>
                  <a:srgbClr val="000000"/>
                </a:solidFill>
                <a:cs typeface="Arial" panose="020B0604020202020204" pitchFamily="34" charset="0"/>
              </a:rPr>
              <a:t>;</a:t>
            </a:r>
            <a:r>
              <a:rPr lang="fr-FR" sz="2000" b="1" dirty="0" err="1">
                <a:solidFill>
                  <a:srgbClr val="800080"/>
                </a:solidFill>
                <a:cs typeface="Arial" panose="020B0604020202020204" pitchFamily="34" charset="0"/>
              </a:rPr>
              <a:t>Inc</a:t>
            </a:r>
            <a:r>
              <a:rPr lang="fr-FR" sz="2000" b="1" dirty="0">
                <a:solidFill>
                  <a:srgbClr val="800080"/>
                </a:solidFill>
                <a:cs typeface="Arial" panose="020B0604020202020204" pitchFamily="34" charset="0"/>
              </a:rPr>
              <a:t>(</a:t>
            </a:r>
            <a:r>
              <a:rPr lang="fr-FR" sz="2000" b="1" dirty="0" err="1">
                <a:solidFill>
                  <a:srgbClr val="800080"/>
                </a:solidFill>
                <a:cs typeface="Arial" panose="020B0604020202020204" pitchFamily="34" charset="0"/>
              </a:rPr>
              <a:t>Déc</a:t>
            </a:r>
            <a:r>
              <a:rPr lang="fr-FR" sz="2000" b="1" dirty="0">
                <a:solidFill>
                  <a:srgbClr val="800080"/>
                </a:solidFill>
                <a:cs typeface="Arial" panose="020B0604020202020204" pitchFamily="34" charset="0"/>
              </a:rPr>
              <a:t>)</a:t>
            </a:r>
            <a:r>
              <a:rPr lang="fr-FR" sz="2000" b="1" dirty="0" err="1">
                <a:solidFill>
                  <a:srgbClr val="800080"/>
                </a:solidFill>
                <a:cs typeface="Arial" panose="020B0604020202020204" pitchFamily="34" charset="0"/>
              </a:rPr>
              <a:t>rémentation_compteur</a:t>
            </a: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{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     	…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     	…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     	…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}</a:t>
            </a:r>
            <a:endParaRPr lang="fr-FR" sz="2000" b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25638" name="Oval 6"/>
          <p:cNvSpPr>
            <a:spLocks noChangeArrowheads="1"/>
          </p:cNvSpPr>
          <p:nvPr/>
        </p:nvSpPr>
        <p:spPr bwMode="auto">
          <a:xfrm>
            <a:off x="3191435" y="2470149"/>
            <a:ext cx="533400" cy="457200"/>
          </a:xfrm>
          <a:prstGeom prst="ellipse">
            <a:avLst/>
          </a:prstGeom>
          <a:solidFill>
            <a:srgbClr val="A50021"/>
          </a:solidFill>
          <a:ln w="38100">
            <a:solidFill>
              <a:srgbClr val="000000"/>
            </a:solidFill>
            <a:rou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b="1">
                <a:solidFill>
                  <a:schemeClr val="bg1"/>
                </a:solidFill>
              </a:rPr>
              <a:t>A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6150" name="Text Box 8"/>
          <p:cNvSpPr txBox="1">
            <a:spLocks noChangeArrowheads="1"/>
          </p:cNvSpPr>
          <p:nvPr/>
        </p:nvSpPr>
        <p:spPr bwMode="auto">
          <a:xfrm>
            <a:off x="1972235" y="1860550"/>
            <a:ext cx="42672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b="1">
                <a:solidFill>
                  <a:srgbClr val="000000"/>
                </a:solidFill>
              </a:rPr>
              <a:t>…</a:t>
            </a:r>
            <a:endParaRPr lang="fr-FR" b="1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fr-FR" b="1">
                <a:solidFill>
                  <a:srgbClr val="000000"/>
                </a:solidFill>
              </a:rPr>
              <a:t>…</a:t>
            </a:r>
            <a:endParaRPr lang="fr-FR" b="1">
              <a:solidFill>
                <a:srgbClr val="000000"/>
              </a:solidFill>
            </a:endParaRPr>
          </a:p>
        </p:txBody>
      </p:sp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1972235" y="5426075"/>
            <a:ext cx="42672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b="1">
                <a:solidFill>
                  <a:srgbClr val="000000"/>
                </a:solidFill>
              </a:rPr>
              <a:t>…</a:t>
            </a:r>
            <a:endParaRPr lang="fr-FR" b="1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fr-FR" b="1">
                <a:solidFill>
                  <a:srgbClr val="000000"/>
                </a:solidFill>
              </a:rPr>
              <a:t>…</a:t>
            </a:r>
            <a:endParaRPr lang="fr-FR" b="1">
              <a:solidFill>
                <a:srgbClr val="000000"/>
              </a:solidFill>
            </a:endParaRPr>
          </a:p>
        </p:txBody>
      </p:sp>
      <p:sp>
        <p:nvSpPr>
          <p:cNvPr id="325642" name="Oval 10"/>
          <p:cNvSpPr>
            <a:spLocks noChangeArrowheads="1"/>
          </p:cNvSpPr>
          <p:nvPr/>
        </p:nvSpPr>
        <p:spPr bwMode="auto">
          <a:xfrm>
            <a:off x="5248835" y="2470149"/>
            <a:ext cx="533400" cy="457200"/>
          </a:xfrm>
          <a:prstGeom prst="ellipse">
            <a:avLst/>
          </a:prstGeom>
          <a:solidFill>
            <a:srgbClr val="006666"/>
          </a:solidFill>
          <a:ln w="38100">
            <a:solidFill>
              <a:srgbClr val="000000"/>
            </a:solidFill>
            <a:rou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b="1">
                <a:solidFill>
                  <a:schemeClr val="bg1"/>
                </a:solidFill>
              </a:rPr>
              <a:t>B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25643" name="Oval 11"/>
          <p:cNvSpPr>
            <a:spLocks noChangeArrowheads="1"/>
          </p:cNvSpPr>
          <p:nvPr/>
        </p:nvSpPr>
        <p:spPr bwMode="auto">
          <a:xfrm>
            <a:off x="4029635" y="3994149"/>
            <a:ext cx="533400" cy="457200"/>
          </a:xfrm>
          <a:prstGeom prst="ellipse">
            <a:avLst/>
          </a:prstGeom>
          <a:solidFill>
            <a:srgbClr val="00FF00"/>
          </a:solidFill>
          <a:ln w="38100">
            <a:solidFill>
              <a:srgbClr val="000000"/>
            </a:solidFill>
            <a:rou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b="1">
                <a:solidFill>
                  <a:schemeClr val="bg1"/>
                </a:solidFill>
              </a:rPr>
              <a:t>C1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25644" name="Line 12"/>
          <p:cNvSpPr>
            <a:spLocks noChangeShapeType="1"/>
          </p:cNvSpPr>
          <p:nvPr/>
        </p:nvSpPr>
        <p:spPr bwMode="auto">
          <a:xfrm>
            <a:off x="3572435" y="3689349"/>
            <a:ext cx="0" cy="990600"/>
          </a:xfrm>
          <a:prstGeom prst="line">
            <a:avLst/>
          </a:prstGeom>
          <a:noFill/>
          <a:ln w="349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325645" name="Line 13"/>
          <p:cNvSpPr>
            <a:spLocks noChangeShapeType="1"/>
          </p:cNvSpPr>
          <p:nvPr/>
        </p:nvSpPr>
        <p:spPr bwMode="auto">
          <a:xfrm flipH="1">
            <a:off x="3572435" y="3384549"/>
            <a:ext cx="1524000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325646" name="Text Box 14"/>
          <p:cNvSpPr txBox="1">
            <a:spLocks noChangeArrowheads="1"/>
          </p:cNvSpPr>
          <p:nvPr/>
        </p:nvSpPr>
        <p:spPr bwMode="auto">
          <a:xfrm>
            <a:off x="4791635" y="4024313"/>
            <a:ext cx="3657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b="1"/>
              <a:t>Si la Condition </a:t>
            </a:r>
            <a:r>
              <a:rPr lang="fr-FR" b="1">
                <a:solidFill>
                  <a:srgbClr val="009900"/>
                </a:solidFill>
              </a:rPr>
              <a:t>est vraie</a:t>
            </a:r>
            <a:endParaRPr lang="fr-FR" b="1">
              <a:solidFill>
                <a:srgbClr val="009900"/>
              </a:solidFill>
            </a:endParaRPr>
          </a:p>
        </p:txBody>
      </p:sp>
      <p:cxnSp>
        <p:nvCxnSpPr>
          <p:cNvPr id="325647" name="AutoShape 15"/>
          <p:cNvCxnSpPr>
            <a:cxnSpLocks noChangeShapeType="1"/>
            <a:stCxn id="325642" idx="0"/>
          </p:cNvCxnSpPr>
          <p:nvPr/>
        </p:nvCxnSpPr>
        <p:spPr bwMode="auto">
          <a:xfrm rot="-5400000" flipH="1" flipV="1">
            <a:off x="2281004" y="2370931"/>
            <a:ext cx="3154363" cy="3314700"/>
          </a:xfrm>
          <a:prstGeom prst="curvedConnector4">
            <a:avLst>
              <a:gd name="adj1" fmla="val -15199"/>
              <a:gd name="adj2" fmla="val 127009"/>
            </a:avLst>
          </a:prstGeom>
          <a:noFill/>
          <a:ln w="381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5648" name="Oval 16"/>
          <p:cNvSpPr>
            <a:spLocks noChangeArrowheads="1"/>
          </p:cNvSpPr>
          <p:nvPr/>
        </p:nvSpPr>
        <p:spPr bwMode="auto">
          <a:xfrm>
            <a:off x="2581835" y="5213349"/>
            <a:ext cx="533400" cy="457200"/>
          </a:xfrm>
          <a:prstGeom prst="ellipse">
            <a:avLst/>
          </a:prstGeom>
          <a:solidFill>
            <a:srgbClr val="000000"/>
          </a:solidFill>
          <a:ln w="38100">
            <a:solidFill>
              <a:srgbClr val="000000"/>
            </a:solidFill>
            <a:rou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b="1">
                <a:solidFill>
                  <a:schemeClr val="bg1"/>
                </a:solidFill>
              </a:rPr>
              <a:t>C2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25649" name="Text Box 17"/>
          <p:cNvSpPr txBox="1">
            <a:spLocks noChangeArrowheads="1"/>
          </p:cNvSpPr>
          <p:nvPr/>
        </p:nvSpPr>
        <p:spPr bwMode="auto">
          <a:xfrm>
            <a:off x="3343835" y="5243513"/>
            <a:ext cx="4114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b="1"/>
              <a:t>Si la Condition </a:t>
            </a:r>
            <a:r>
              <a:rPr lang="fr-FR" b="1">
                <a:solidFill>
                  <a:srgbClr val="000000"/>
                </a:solidFill>
              </a:rPr>
              <a:t>est fausse</a:t>
            </a:r>
            <a:endParaRPr lang="fr-FR" b="1">
              <a:solidFill>
                <a:srgbClr val="000000"/>
              </a:solidFill>
            </a:endParaRPr>
          </a:p>
        </p:txBody>
      </p:sp>
      <p:sp>
        <p:nvSpPr>
          <p:cNvPr id="325650" name="Oval 18"/>
          <p:cNvSpPr>
            <a:spLocks noChangeArrowheads="1"/>
          </p:cNvSpPr>
          <p:nvPr/>
        </p:nvSpPr>
        <p:spPr bwMode="auto">
          <a:xfrm>
            <a:off x="8068235" y="2470149"/>
            <a:ext cx="533400" cy="457200"/>
          </a:xfrm>
          <a:prstGeom prst="ellipse">
            <a:avLst/>
          </a:prstGeom>
          <a:solidFill>
            <a:schemeClr val="tx2"/>
          </a:solidFill>
          <a:ln w="38100">
            <a:solidFill>
              <a:srgbClr val="000000"/>
            </a:solidFill>
            <a:rou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b="1">
                <a:solidFill>
                  <a:schemeClr val="bg1"/>
                </a:solidFill>
              </a:rPr>
              <a:t>D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25652" name="Line 20"/>
          <p:cNvSpPr>
            <a:spLocks noChangeShapeType="1"/>
          </p:cNvSpPr>
          <p:nvPr/>
        </p:nvSpPr>
        <p:spPr bwMode="auto">
          <a:xfrm>
            <a:off x="3572435" y="4679949"/>
            <a:ext cx="5486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sp>
        <p:nvSpPr>
          <p:cNvPr id="325654" name="Line 22"/>
          <p:cNvSpPr>
            <a:spLocks noChangeShapeType="1"/>
          </p:cNvSpPr>
          <p:nvPr/>
        </p:nvSpPr>
        <p:spPr bwMode="auto">
          <a:xfrm flipV="1">
            <a:off x="9058835" y="3460749"/>
            <a:ext cx="0" cy="1219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fr-FR"/>
          </a:p>
        </p:txBody>
      </p:sp>
      <p:cxnSp>
        <p:nvCxnSpPr>
          <p:cNvPr id="325659" name="AutoShape 27"/>
          <p:cNvCxnSpPr>
            <a:cxnSpLocks noChangeShapeType="1"/>
            <a:stCxn id="325650" idx="2"/>
            <a:endCxn id="325642" idx="6"/>
          </p:cNvCxnSpPr>
          <p:nvPr/>
        </p:nvCxnSpPr>
        <p:spPr bwMode="auto">
          <a:xfrm flipH="1">
            <a:off x="5801285" y="2698749"/>
            <a:ext cx="2247900" cy="0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5660" name="AutoShape 28"/>
          <p:cNvCxnSpPr>
            <a:cxnSpLocks noChangeShapeType="1"/>
          </p:cNvCxnSpPr>
          <p:nvPr/>
        </p:nvCxnSpPr>
        <p:spPr bwMode="auto">
          <a:xfrm flipH="1">
            <a:off x="3839135" y="2773363"/>
            <a:ext cx="1333500" cy="1587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2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8" grpId="0" animBg="1"/>
      <p:bldP spid="325642" grpId="0" animBg="1"/>
      <p:bldP spid="325643" grpId="0" animBg="1"/>
      <p:bldP spid="325644" grpId="0" animBg="1"/>
      <p:bldP spid="325645" grpId="0" animBg="1"/>
      <p:bldP spid="325646" grpId="0"/>
      <p:bldP spid="325648" grpId="0" animBg="1"/>
      <p:bldP spid="325649" grpId="0"/>
      <p:bldP spid="325650" grpId="0" animBg="1"/>
      <p:bldP spid="325652" grpId="0" animBg="1"/>
      <p:bldP spid="32565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55AF47B-BC71-463B-BB8F-55419CA1D78C}" type="slidenum">
              <a:rPr lang="en-GB" sz="1400"/>
            </a:fld>
            <a:endParaRPr lang="en-GB" sz="1400"/>
          </a:p>
        </p:txBody>
      </p:sp>
      <p:sp>
        <p:nvSpPr>
          <p:cNvPr id="717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10005" y="365125"/>
            <a:ext cx="10515600" cy="1325563"/>
          </a:xfrm>
        </p:spPr>
        <p:txBody>
          <a:bodyPr/>
          <a:lstStyle/>
          <a:p>
            <a:pPr eaLnBrk="1" hangingPunct="1"/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sz="half" idx="2"/>
          </p:nvPr>
        </p:nvSpPr>
        <p:spPr>
          <a:xfrm>
            <a:off x="1731645" y="1691005"/>
            <a:ext cx="5181600" cy="4351338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b="1" dirty="0">
                <a:solidFill>
                  <a:schemeClr val="accent6"/>
                </a:solidFill>
              </a:rPr>
              <a:t>/</a:t>
            </a:r>
            <a:r>
              <a:rPr lang="fr-FR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Programme utilisant une boucle for</a:t>
            </a:r>
            <a:endParaRPr lang="fr-FR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()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k=10;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3" name="Text Box 1028"/>
          <p:cNvSpPr txBox="1">
            <a:spLocks noChangeArrowheads="1"/>
          </p:cNvSpPr>
          <p:nvPr/>
        </p:nvSpPr>
        <p:spPr bwMode="auto">
          <a:xfrm>
            <a:off x="2012375" y="4535208"/>
            <a:ext cx="371284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sz="2400" dirty="0" smtClean="0">
                <a:solidFill>
                  <a:srgbClr val="0000CC"/>
                </a:solidFill>
              </a:rPr>
              <a:t> </a:t>
            </a:r>
            <a:r>
              <a:rPr lang="fr-FR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fr-FR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(a=1; a &lt;= </a:t>
            </a:r>
            <a:r>
              <a:rPr lang="fr-FR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k; </a:t>
            </a:r>
            <a:r>
              <a:rPr lang="fr-FR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fr-FR" sz="2400" b="1" dirty="0" smtClean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b="1" dirty="0" err="1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(‘’Bonjour’’);</a:t>
            </a:r>
            <a:endParaRPr lang="fr-FR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8340725" y="1985010"/>
            <a:ext cx="288925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55AF47B-BC71-463B-BB8F-55419CA1D78C}" type="slidenum">
              <a:rPr lang="en-GB" sz="1400"/>
            </a:fld>
            <a:endParaRPr lang="en-GB" sz="1400"/>
          </a:p>
        </p:txBody>
      </p:sp>
      <p:sp>
        <p:nvSpPr>
          <p:cNvPr id="717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95730" y="365125"/>
            <a:ext cx="10515600" cy="1325563"/>
          </a:xfrm>
        </p:spPr>
        <p:txBody>
          <a:bodyPr/>
          <a:lstStyle/>
          <a:p>
            <a:pPr eaLnBrk="1" hangingPunct="1"/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Exerçons-nous?</a:t>
            </a:r>
            <a:endParaRPr lang="fr-FR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042" y="1752808"/>
            <a:ext cx="7772400" cy="51054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Programme utilisant une boucle for</a:t>
            </a:r>
            <a:endParaRPr lang="fr-FR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()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k=100;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3" name="Text Box 1028"/>
          <p:cNvSpPr txBox="1">
            <a:spLocks noChangeArrowheads="1"/>
          </p:cNvSpPr>
          <p:nvPr/>
        </p:nvSpPr>
        <p:spPr bwMode="auto">
          <a:xfrm>
            <a:off x="1067196" y="4508500"/>
            <a:ext cx="371030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(a=1; a &lt;= k+100; a</a:t>
            </a:r>
            <a:r>
              <a:rPr lang="fr-FR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fr-FR" sz="2400" b="1" dirty="0" smtClean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k = k+10;</a:t>
            </a:r>
            <a:endParaRPr lang="fr-FR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3350" name="AutoShape 1030"/>
          <p:cNvSpPr>
            <a:spLocks noChangeArrowheads="1"/>
          </p:cNvSpPr>
          <p:nvPr/>
        </p:nvSpPr>
        <p:spPr bwMode="auto">
          <a:xfrm>
            <a:off x="5791200" y="914400"/>
            <a:ext cx="4876800" cy="2895600"/>
          </a:xfrm>
          <a:prstGeom prst="irregularSeal1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sz="1800" dirty="0">
                <a:solidFill>
                  <a:srgbClr val="A50021"/>
                </a:solidFill>
              </a:rPr>
              <a:t>Incorrect: </a:t>
            </a:r>
            <a:endParaRPr lang="fr-FR" sz="1800" dirty="0">
              <a:solidFill>
                <a:srgbClr val="A50021"/>
              </a:solidFill>
            </a:endParaRPr>
          </a:p>
          <a:p>
            <a:pPr algn="ctr" eaLnBrk="1" hangingPunct="1"/>
            <a:r>
              <a:rPr lang="fr-FR" sz="1800" dirty="0">
                <a:solidFill>
                  <a:srgbClr val="000000"/>
                </a:solidFill>
              </a:rPr>
              <a:t>Erreur de programmation</a:t>
            </a:r>
            <a:endParaRPr lang="fr-FR" sz="1800" dirty="0">
              <a:solidFill>
                <a:srgbClr val="000000"/>
              </a:solidFill>
            </a:endParaRPr>
          </a:p>
          <a:p>
            <a:pPr algn="ctr" eaLnBrk="1" hangingPunct="1"/>
            <a:r>
              <a:rPr lang="fr-FR" sz="1800" dirty="0">
                <a:solidFill>
                  <a:srgbClr val="A50021"/>
                </a:solidFill>
              </a:rPr>
              <a:t>Modification de la limite </a:t>
            </a:r>
            <a:endParaRPr lang="fr-FR" sz="1800" dirty="0">
              <a:solidFill>
                <a:srgbClr val="A50021"/>
              </a:solidFill>
            </a:endParaRPr>
          </a:p>
          <a:p>
            <a:pPr algn="ctr" eaLnBrk="1" hangingPunct="1"/>
            <a:r>
              <a:rPr lang="fr-FR" sz="1800" dirty="0">
                <a:solidFill>
                  <a:srgbClr val="A50021"/>
                </a:solidFill>
              </a:rPr>
              <a:t>de la boucle !!!</a:t>
            </a:r>
            <a:endParaRPr lang="fr-FR" sz="1800" dirty="0">
              <a:solidFill>
                <a:srgbClr val="A50021"/>
              </a:solidFill>
            </a:endParaRPr>
          </a:p>
        </p:txBody>
      </p:sp>
      <p:sp>
        <p:nvSpPr>
          <p:cNvPr id="313352" name="AutoShape 1032"/>
          <p:cNvSpPr>
            <a:spLocks noChangeArrowheads="1"/>
          </p:cNvSpPr>
          <p:nvPr/>
        </p:nvSpPr>
        <p:spPr bwMode="auto">
          <a:xfrm>
            <a:off x="6172200" y="3962400"/>
            <a:ext cx="4038600" cy="2438400"/>
          </a:xfrm>
          <a:prstGeom prst="irregularSeal1">
            <a:avLst/>
          </a:prstGeom>
          <a:solidFill>
            <a:srgbClr val="99CC00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fr-FR" sz="1800"/>
              <a:t>Syntaxiquement correct</a:t>
            </a:r>
            <a:endParaRPr lang="fr-FR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3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50" grpId="0" animBg="1" autoUpdateAnimBg="0"/>
      <p:bldP spid="313352" grpId="0" animBg="1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981</Words>
  <Application>WPS Presentation</Application>
  <PresentationFormat>Grand écran</PresentationFormat>
  <Paragraphs>92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SimSun</vt:lpstr>
      <vt:lpstr>Wingdings</vt:lpstr>
      <vt:lpstr>Arial</vt:lpstr>
      <vt:lpstr>Times New Roman</vt:lpstr>
      <vt:lpstr>Times New Roman</vt:lpstr>
      <vt:lpstr>Tahoma</vt:lpstr>
      <vt:lpstr>Calibri</vt:lpstr>
      <vt:lpstr>Microsoft YaHei</vt:lpstr>
      <vt:lpstr>Arial Unicode MS</vt:lpstr>
      <vt:lpstr>Calibri Light</vt:lpstr>
      <vt:lpstr>Office Theme</vt:lpstr>
      <vt:lpstr>La boucle « for »</vt:lpstr>
      <vt:lpstr>Schéma de la boucle "For"</vt:lpstr>
      <vt:lpstr>Exemple</vt:lpstr>
      <vt:lpstr>Exerçons-nous?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181</cp:revision>
  <dcterms:created xsi:type="dcterms:W3CDTF">2015-03-06T15:17:00Z</dcterms:created>
  <dcterms:modified xsi:type="dcterms:W3CDTF">2025-04-25T13:34:01Z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1036-12.2.0.20795</vt:lpwstr>
  </property>
  <property fmtid="{D5CDD505-2E9C-101B-9397-08002B2CF9AE}" pid="3" name="ICV">
    <vt:lpwstr>6C0B6EC9BDB14B989532B5ABC9FF51F2</vt:lpwstr>
  </property>
</Properties>
</file>