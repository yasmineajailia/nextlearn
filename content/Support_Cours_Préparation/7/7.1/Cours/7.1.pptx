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8"/>
  </p:notesMasterIdLst>
  <p:sldIdLst>
    <p:sldId id="262" r:id="rId3"/>
    <p:sldId id="308" r:id="rId4"/>
    <p:sldId id="309" r:id="rId5"/>
    <p:sldId id="312" r:id="rId6"/>
    <p:sldId id="313" r:id="rId7"/>
    <p:sldId id="314" r:id="rId8"/>
    <p:sldId id="275" r:id="rId9"/>
    <p:sldId id="315" r:id="rId10"/>
    <p:sldId id="316" r:id="rId11"/>
    <p:sldId id="278" r:id="rId12"/>
    <p:sldId id="295" r:id="rId13"/>
    <p:sldId id="285" r:id="rId14"/>
    <p:sldId id="320" r:id="rId15"/>
    <p:sldId id="318" r:id="rId16"/>
    <p:sldId id="319" r:id="rId17"/>
  </p:sldIdLst>
  <p:sldSz cx="9144000" cy="6858000" type="screen4x3"/>
  <p:notesSz cx="7102475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59" autoAdjust="0"/>
    <p:restoredTop sz="91085" autoAdjust="0"/>
  </p:normalViewPr>
  <p:slideViewPr>
    <p:cSldViewPr>
      <p:cViewPr varScale="1">
        <p:scale>
          <a:sx n="71" d="100"/>
          <a:sy n="71" d="100"/>
        </p:scale>
        <p:origin x="1834" y="43"/>
      </p:cViewPr>
      <p:guideLst>
        <p:guide orient="horz" pos="2160"/>
        <p:guide pos="2889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24"/>
        <p:guide pos="22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  <a:t>29/06/2025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3775" y="768350"/>
            <a:ext cx="5114925" cy="383698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dirty="0"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2BC6-E43E-4D33-92EC-8931FBF71671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3775" y="768350"/>
            <a:ext cx="5114925" cy="383698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dirty="0"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2BC6-E43E-4D33-92EC-8931FBF71671}" type="slidenum">
              <a:rPr lang="fr-FR" smtClean="0"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3775" y="768350"/>
            <a:ext cx="5114925" cy="383698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dirty="0"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2BC6-E43E-4D33-92EC-8931FBF71671}" type="slidenum">
              <a:rPr lang="fr-FR" smtClean="0"/>
              <a:t>6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7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8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3775" y="768350"/>
            <a:ext cx="5114925" cy="383698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dirty="0"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2BC6-E43E-4D33-92EC-8931FBF71671}" type="slidenum">
              <a:rPr lang="fr-FR" smtClean="0"/>
              <a:t>9</a:t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10</a:t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3775" y="768350"/>
            <a:ext cx="5114925" cy="383698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dirty="0"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2BC6-E43E-4D33-92EC-8931FBF71671}" type="slidenum">
              <a:rPr lang="fr-FR" smtClean="0"/>
              <a:t>11</a:t>
            </a:fld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12</a:t>
            </a:fld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13</a:t>
            </a:fld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14</a:t>
            </a:fld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15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  <a:t>29/06/2025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  <a:t>29/06/2025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  <a:t>29/06/2025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  <a:t>29/06/2025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  <a:t>29/06/2025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  <a:t>29/06/2025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500034" y="2540004"/>
            <a:ext cx="8286808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fr-FR" sz="5400" b="1" dirty="0"/>
              <a:t>  </a:t>
            </a:r>
            <a:r>
              <a:rPr lang="fr-FR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Intérêt des pointeurs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6" descr="D:\esprit 2014\ESPRIT 2014\charte essprit 2014\logo-espri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11" y="6111080"/>
            <a:ext cx="1337716" cy="50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7086600" y="6492876"/>
            <a:ext cx="2057400" cy="365125"/>
          </a:xfrm>
        </p:spPr>
        <p:txBody>
          <a:bodyPr/>
          <a:lstStyle/>
          <a:p>
            <a:fld id="{CF4668DC-857F-487D-BFFA-8C0CA5037977}" type="slidenum">
              <a:rPr lang="fr-BE" sz="2400" b="1" smtClean="0">
                <a:solidFill>
                  <a:schemeClr val="tx1"/>
                </a:solidFill>
              </a:rPr>
              <a:t>1</a:t>
            </a:fld>
            <a:endParaRPr lang="fr-BE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7886700" cy="1325563"/>
          </a:xfrm>
        </p:spPr>
        <p:txBody>
          <a:bodyPr/>
          <a:lstStyle/>
          <a:p>
            <a:r>
              <a:rPr lang="fr-FR" dirty="0"/>
              <a:t>  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2</a:t>
            </a:fld>
            <a:endParaRPr lang="fr-FR"/>
          </a:p>
        </p:txBody>
      </p:sp>
      <p:sp>
        <p:nvSpPr>
          <p:cNvPr id="7" name="CustomShape 3"/>
          <p:cNvSpPr>
            <a:spLocks noGrp="1"/>
          </p:cNvSpPr>
          <p:nvPr>
            <p:ph idx="1"/>
          </p:nvPr>
        </p:nvSpPr>
        <p:spPr>
          <a:xfrm>
            <a:off x="571500" y="1607185"/>
            <a:ext cx="8429625" cy="43732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noAutofit/>
          </a:bodyPr>
          <a:lstStyle/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peut accéder aux données en mémoire à l’aide de pointeurs i.e. des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pouvant contenir des adresses d’autres variables.</a:t>
            </a:r>
          </a:p>
          <a:p>
            <a:pPr algn="just">
              <a:buNone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pointeurs sont le seul moyen de changer le contenu de variables </a:t>
            </a:r>
          </a:p>
          <a:p>
            <a:pPr algn="just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déclarées dans d’autres fonctions.</a:t>
            </a:r>
          </a:p>
          <a:p>
            <a:pPr algn="just">
              <a:buNone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pointeurs nous permettent d’écrire des programmes plus compacts et</a:t>
            </a:r>
          </a:p>
          <a:p>
            <a:pPr algn="just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 efficaces.</a:t>
            </a:r>
          </a:p>
          <a:p>
            <a:pPr algn="just">
              <a:buNone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None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71537" y="645774"/>
            <a:ext cx="60007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Utilité des pointeurs</a:t>
            </a:r>
          </a:p>
        </p:txBody>
      </p:sp>
      <p:sp>
        <p:nvSpPr>
          <p:cNvPr id="9" name="CustomShape 6"/>
          <p:cNvSpPr/>
          <p:nvPr/>
        </p:nvSpPr>
        <p:spPr>
          <a:xfrm>
            <a:off x="1071538" y="3714752"/>
            <a:ext cx="6151680" cy="64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500034" y="2540004"/>
            <a:ext cx="8286808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fr-FR" sz="5400" b="1" dirty="0"/>
              <a:t> </a:t>
            </a:r>
            <a:r>
              <a:rPr lang="fr-FR" sz="5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Les différents types d’adressage</a:t>
            </a:r>
          </a:p>
        </p:txBody>
      </p:sp>
      <p:pic>
        <p:nvPicPr>
          <p:cNvPr id="6" name="Picture 6" descr="D:\esprit 2014\ESPRIT 2014\charte essprit 2014\logo-espri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11" y="6111080"/>
            <a:ext cx="1337716" cy="50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7086600" y="6492876"/>
            <a:ext cx="2057400" cy="365125"/>
          </a:xfrm>
        </p:spPr>
        <p:txBody>
          <a:bodyPr/>
          <a:lstStyle/>
          <a:p>
            <a:fld id="{CF4668DC-857F-487D-BFFA-8C0CA5037977}" type="slidenum">
              <a:rPr lang="fr-BE" sz="2400" b="1" smtClean="0">
                <a:solidFill>
                  <a:schemeClr val="tx1"/>
                </a:solidFill>
              </a:rPr>
              <a:t>3</a:t>
            </a:fld>
            <a:endParaRPr lang="fr-BE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3"/>
          <p:cNvSpPr/>
          <p:nvPr/>
        </p:nvSpPr>
        <p:spPr>
          <a:xfrm>
            <a:off x="714348" y="1571612"/>
            <a:ext cx="7585920" cy="64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/>
              </a:rPr>
              <a:t>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la programmation, on utilise des variables pour stocker des informations.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CustomShape 5"/>
          <p:cNvSpPr/>
          <p:nvPr/>
        </p:nvSpPr>
        <p:spPr>
          <a:xfrm>
            <a:off x="714348" y="2071678"/>
            <a:ext cx="8429652" cy="64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pPr>
              <a:buFont typeface="Arial" panose="020B0604020202020204" pitchFamily="34" charset="0"/>
              <a:buChar char="•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valeur d’une variable se trouve à un endroit spécifique dans la mémoire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l’ordinateur.</a:t>
            </a:r>
          </a:p>
          <a:p>
            <a:endParaRPr lang="fr-FR" dirty="0">
              <a:latin typeface="Arial" panose="020B0604020202020204"/>
            </a:endParaRPr>
          </a:p>
          <a:p>
            <a:r>
              <a:rPr lang="fr-F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Adressage direct: Accès au contenu d’une variable par le nom de la variable.</a:t>
            </a:r>
            <a:endParaRPr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CustomShape 7"/>
          <p:cNvSpPr/>
          <p:nvPr/>
        </p:nvSpPr>
        <p:spPr>
          <a:xfrm>
            <a:off x="4171952" y="4329122"/>
            <a:ext cx="685800" cy="4572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0" name="CustomShape 10"/>
          <p:cNvSpPr/>
          <p:nvPr/>
        </p:nvSpPr>
        <p:spPr>
          <a:xfrm>
            <a:off x="6215074" y="4329122"/>
            <a:ext cx="685800" cy="4572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1" name="CustomShape 11"/>
          <p:cNvSpPr/>
          <p:nvPr/>
        </p:nvSpPr>
        <p:spPr>
          <a:xfrm>
            <a:off x="5000628" y="4357694"/>
            <a:ext cx="433800" cy="36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r>
              <a:rPr lang="fr-FR" dirty="0">
                <a:latin typeface="Arial" panose="020B0604020202020204"/>
              </a:rPr>
              <a:t>10</a:t>
            </a:r>
          </a:p>
        </p:txBody>
      </p:sp>
      <p:sp>
        <p:nvSpPr>
          <p:cNvPr id="162" name="CustomShape 12"/>
          <p:cNvSpPr/>
          <p:nvPr/>
        </p:nvSpPr>
        <p:spPr>
          <a:xfrm>
            <a:off x="3214678" y="4857760"/>
            <a:ext cx="3690360" cy="33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r>
              <a:rPr lang="fr-FR" sz="1600" dirty="0">
                <a:latin typeface="Arial" panose="020B0604020202020204"/>
              </a:rPr>
              <a:t>Adresse :	 1E04    1E06    1E08   1E0A</a:t>
            </a:r>
          </a:p>
        </p:txBody>
      </p:sp>
      <p:sp>
        <p:nvSpPr>
          <p:cNvPr id="166" name="CustomShape 16"/>
          <p:cNvSpPr/>
          <p:nvPr/>
        </p:nvSpPr>
        <p:spPr>
          <a:xfrm rot="16200000">
            <a:off x="5000628" y="3929066"/>
            <a:ext cx="304560" cy="304560"/>
          </a:xfrm>
          <a:prstGeom prst="leftUpArrow">
            <a:avLst>
              <a:gd name="adj1" fmla="val 9340"/>
              <a:gd name="adj2" fmla="val 18500"/>
              <a:gd name="adj3" fmla="val 6200"/>
            </a:avLst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7" name="CustomShape 17"/>
          <p:cNvSpPr/>
          <p:nvPr/>
        </p:nvSpPr>
        <p:spPr>
          <a:xfrm>
            <a:off x="4643438" y="3786190"/>
            <a:ext cx="333000" cy="36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r>
              <a:rPr lang="fr-FR" dirty="0">
                <a:latin typeface="Arial" panose="020B0604020202020204"/>
              </a:rPr>
              <a:t>A</a:t>
            </a:r>
          </a:p>
        </p:txBody>
      </p:sp>
      <p:sp>
        <p:nvSpPr>
          <p:cNvPr id="168" name="CustomShape 18"/>
          <p:cNvSpPr/>
          <p:nvPr/>
        </p:nvSpPr>
        <p:spPr>
          <a:xfrm>
            <a:off x="1714480" y="4429132"/>
            <a:ext cx="956520" cy="64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r>
              <a:rPr lang="fr-FR" dirty="0" err="1">
                <a:solidFill>
                  <a:srgbClr val="333399"/>
                </a:solidFill>
                <a:latin typeface="Arial" panose="020B0604020202020204"/>
              </a:rPr>
              <a:t>int</a:t>
            </a:r>
            <a:r>
              <a:rPr lang="fr-FR" dirty="0">
                <a:solidFill>
                  <a:srgbClr val="333399"/>
                </a:solidFill>
                <a:latin typeface="Arial" panose="020B0604020202020204"/>
              </a:rPr>
              <a:t> A;</a:t>
            </a:r>
          </a:p>
          <a:p>
            <a:r>
              <a:rPr lang="fr-FR" dirty="0">
                <a:solidFill>
                  <a:srgbClr val="333399"/>
                </a:solidFill>
                <a:latin typeface="Arial" panose="020B0604020202020204"/>
              </a:rPr>
              <a:t>A = 10;</a:t>
            </a:r>
          </a:p>
        </p:txBody>
      </p:sp>
      <p:sp>
        <p:nvSpPr>
          <p:cNvPr id="169" name="CustomShape 19"/>
          <p:cNvSpPr/>
          <p:nvPr/>
        </p:nvSpPr>
        <p:spPr>
          <a:xfrm>
            <a:off x="714348" y="5429606"/>
            <a:ext cx="7306920" cy="64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/>
              </a:rPr>
              <a:t>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nom de la variable A nous permet  d’accéder directement au contenu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l’adresse 1E06.</a:t>
            </a:r>
          </a:p>
          <a:p>
            <a:endParaRPr lang="fr-FR" dirty="0">
              <a:latin typeface="Arial" panose="020B0604020202020204"/>
            </a:endParaRPr>
          </a:p>
          <a:p>
            <a:endParaRPr lang="fr-FR" dirty="0">
              <a:solidFill>
                <a:srgbClr val="FF0000"/>
              </a:solidFill>
              <a:latin typeface="Arial" panose="020B0604020202020204"/>
            </a:endParaRPr>
          </a:p>
          <a:p>
            <a:endParaRPr lang="fr-FR" dirty="0">
              <a:latin typeface="Arial" panose="020B0604020202020204"/>
            </a:endParaRPr>
          </a:p>
          <a:p>
            <a:endParaRPr lang="fr-FR" dirty="0">
              <a:latin typeface="Arial" panose="020B0604020202020204"/>
            </a:endParaRPr>
          </a:p>
          <a:p>
            <a:endParaRPr>
              <a:solidFill>
                <a:srgbClr val="FF0000"/>
              </a:solidFill>
            </a:endParaRPr>
          </a:p>
        </p:txBody>
      </p:sp>
      <p:sp>
        <p:nvSpPr>
          <p:cNvPr id="27" name="CustomShape 3"/>
          <p:cNvSpPr/>
          <p:nvPr/>
        </p:nvSpPr>
        <p:spPr>
          <a:xfrm>
            <a:off x="714348" y="1071546"/>
            <a:ext cx="7585920" cy="64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pPr>
              <a:buFont typeface="Arial" panose="020B0604020202020204" pitchFamily="34" charset="0"/>
              <a:buChar char="•"/>
            </a:pPr>
            <a:r>
              <a:rPr lang="fr-FR" sz="2000" dirty="0">
                <a:latin typeface="Arial" panose="020B0604020202020204"/>
              </a:rPr>
              <a:t>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l’adressage standard que nous avons utilisé jusqu’à présent.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CustomShape 7"/>
          <p:cNvSpPr/>
          <p:nvPr/>
        </p:nvSpPr>
        <p:spPr>
          <a:xfrm>
            <a:off x="4857752" y="4329122"/>
            <a:ext cx="685800" cy="4572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" name="CustomShape 7"/>
          <p:cNvSpPr/>
          <p:nvPr/>
        </p:nvSpPr>
        <p:spPr>
          <a:xfrm>
            <a:off x="5529274" y="4329122"/>
            <a:ext cx="685800" cy="4572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" name="CustomShape 13"/>
          <p:cNvSpPr/>
          <p:nvPr/>
        </p:nvSpPr>
        <p:spPr>
          <a:xfrm>
            <a:off x="4285554" y="4286256"/>
            <a:ext cx="500760" cy="36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r>
              <a:rPr lang="fr-FR" dirty="0">
                <a:latin typeface="Arial" panose="020B0604020202020204"/>
              </a:rPr>
              <a:t>. . .</a:t>
            </a:r>
          </a:p>
        </p:txBody>
      </p:sp>
      <p:sp>
        <p:nvSpPr>
          <p:cNvPr id="33" name="CustomShape 13"/>
          <p:cNvSpPr/>
          <p:nvPr/>
        </p:nvSpPr>
        <p:spPr>
          <a:xfrm>
            <a:off x="5572132" y="4286256"/>
            <a:ext cx="500760" cy="36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r>
              <a:rPr lang="fr-FR" dirty="0">
                <a:latin typeface="Arial" panose="020B0604020202020204"/>
              </a:rPr>
              <a:t>. . .</a:t>
            </a:r>
          </a:p>
        </p:txBody>
      </p:sp>
      <p:sp>
        <p:nvSpPr>
          <p:cNvPr id="34" name="CustomShape 13"/>
          <p:cNvSpPr/>
          <p:nvPr/>
        </p:nvSpPr>
        <p:spPr>
          <a:xfrm>
            <a:off x="6285818" y="4275166"/>
            <a:ext cx="500760" cy="36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r>
              <a:rPr lang="fr-FR" dirty="0">
                <a:latin typeface="Arial" panose="020B0604020202020204"/>
              </a:rPr>
              <a:t>. . .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785786" y="3643314"/>
            <a:ext cx="1285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Exemple: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1538" y="428604"/>
            <a:ext cx="35719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Adressage direct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5"/>
          <p:cNvSpPr/>
          <p:nvPr/>
        </p:nvSpPr>
        <p:spPr>
          <a:xfrm>
            <a:off x="714348" y="2071678"/>
            <a:ext cx="8429652" cy="64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pPr>
              <a:buFont typeface="Arial" panose="020B0604020202020204" pitchFamily="34" charset="0"/>
              <a:buChar char="•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Dans ce cas précis, P est une variable d’un type particulier que l’on appelle 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pointeur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fr-FR" dirty="0">
              <a:latin typeface="Arial" panose="020B0604020202020204"/>
            </a:endParaRPr>
          </a:p>
          <a:p>
            <a:r>
              <a:rPr lang="fr-F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Adressage indirect: Accès au contenu d’une variable en passant par un </a:t>
            </a:r>
          </a:p>
          <a:p>
            <a:r>
              <a:rPr lang="fr-F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Pointeur qui contient l’adresse de la variable.</a:t>
            </a:r>
            <a:endParaRPr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CustomShape 12"/>
          <p:cNvSpPr/>
          <p:nvPr/>
        </p:nvSpPr>
        <p:spPr>
          <a:xfrm>
            <a:off x="3214678" y="4857760"/>
            <a:ext cx="3690360" cy="33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endParaRPr/>
          </a:p>
        </p:txBody>
      </p:sp>
      <p:sp>
        <p:nvSpPr>
          <p:cNvPr id="27" name="CustomShape 3"/>
          <p:cNvSpPr/>
          <p:nvPr/>
        </p:nvSpPr>
        <p:spPr>
          <a:xfrm>
            <a:off x="785786" y="1214422"/>
            <a:ext cx="7929618" cy="64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pPr>
              <a:buFont typeface="Arial" panose="020B0604020202020204" pitchFamily="34" charset="0"/>
              <a:buChar char="•"/>
            </a:pPr>
            <a:r>
              <a:rPr lang="fr-FR" sz="2000" dirty="0">
                <a:latin typeface="Arial" panose="020B0604020202020204"/>
              </a:rPr>
              <a:t>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contenu d’une variable est obtenu en passant par une variable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contient l’adresse de la variable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785786" y="3714752"/>
            <a:ext cx="1285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Exemple: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1538" y="428604"/>
            <a:ext cx="35719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Adressage indirect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4348" y="4143380"/>
            <a:ext cx="800105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Soit A une variable contenant la valeur 10, et P un pointeur qui contient l’adresse de A.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mémoire, A et P peuvent se présenter comme suit </a:t>
            </a:r>
          </a:p>
        </p:txBody>
      </p:sp>
      <p:pic>
        <p:nvPicPr>
          <p:cNvPr id="23" name="Image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984" y="5214950"/>
            <a:ext cx="5257800" cy="1434960"/>
          </a:xfrm>
          <a:prstGeom prst="rect">
            <a:avLst/>
          </a:prstGeom>
          <a:ln w="38160">
            <a:solidFill>
              <a:srgbClr val="009999"/>
            </a:solidFill>
            <a:miter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2571744"/>
            <a:ext cx="8286808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fr-FR" sz="5400" b="1" dirty="0"/>
              <a:t>   </a:t>
            </a:r>
            <a:r>
              <a:rPr lang="fr-FR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</a:p>
        </p:txBody>
      </p:sp>
      <p:pic>
        <p:nvPicPr>
          <p:cNvPr id="6" name="Picture 6" descr="D:\esprit 2014\ESPRIT 2014\charte essprit 2014\logo-espri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11" y="6111080"/>
            <a:ext cx="1337716" cy="50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7086600" y="6492876"/>
            <a:ext cx="2057400" cy="365125"/>
          </a:xfrm>
        </p:spPr>
        <p:txBody>
          <a:bodyPr/>
          <a:lstStyle/>
          <a:p>
            <a:fld id="{CF4668DC-857F-487D-BFFA-8C0CA5037977}" type="slidenum">
              <a:rPr lang="fr-BE" sz="2400" b="1" smtClean="0">
                <a:solidFill>
                  <a:schemeClr val="tx1"/>
                </a:solidFill>
              </a:rPr>
              <a:t>6</a:t>
            </a:fld>
            <a:endParaRPr lang="fr-BE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00108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28600" lvl="1">
              <a:spcBef>
                <a:spcPts val="1000"/>
              </a:spcBef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7</a:t>
            </a:fld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596" y="1500174"/>
            <a:ext cx="8463884" cy="4809146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 algn="just">
              <a:spcBef>
                <a:spcPct val="20000"/>
              </a:spcBef>
            </a:pPr>
            <a:endParaRPr lang="fr-FR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pointeur est une </a:t>
            </a: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spéciale qui peut contenir l’</a:t>
            </a: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adresse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d’une autre variable.</a:t>
            </a:r>
          </a:p>
          <a:p>
            <a:pPr marL="342900" lvl="0" indent="-342900" algn="just">
              <a:spcBef>
                <a:spcPct val="20000"/>
              </a:spcBef>
            </a:pPr>
            <a:endParaRPr lang="fr-FR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Chaque pointeur est </a:t>
            </a: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limité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un type de données.</a:t>
            </a:r>
          </a:p>
          <a:p>
            <a:pPr marL="342900" lvl="0" indent="-3429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fr-FR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un pointeur P contient l’adresse d’une variable A, on dit que P </a:t>
            </a: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sur 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00108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28600" lvl="1">
              <a:spcBef>
                <a:spcPts val="1000"/>
              </a:spcBef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8</a:t>
            </a:fld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596" y="1500174"/>
            <a:ext cx="8463884" cy="4809146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Les pointeurs et les noms de variables ont le même rôle: ils donnent accès à un emplacement en mémoire.</a:t>
            </a:r>
          </a:p>
          <a:p>
            <a:pPr algn="just"/>
            <a:endParaRPr lang="fr-FR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 contre, un pointeur peut contenir différentes adresses mais le nom d’une variable  reste toujours lié à la même adresse.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sz="2000" dirty="0"/>
          </a:p>
          <a:p>
            <a:pPr marL="342900" lvl="0" indent="-342900">
              <a:spcBef>
                <a:spcPct val="20000"/>
              </a:spcBef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857288" y="2500306"/>
            <a:ext cx="9644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fr-FR" sz="5400" b="1" dirty="0"/>
              <a:t>      </a:t>
            </a:r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Syntaxe</a:t>
            </a:r>
          </a:p>
        </p:txBody>
      </p:sp>
      <p:pic>
        <p:nvPicPr>
          <p:cNvPr id="6" name="Picture 6" descr="D:\esprit 2014\ESPRIT 2014\charte essprit 2014\logo-espri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11" y="6111080"/>
            <a:ext cx="1337716" cy="50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7086600" y="6492878"/>
            <a:ext cx="2057400" cy="365125"/>
          </a:xfrm>
        </p:spPr>
        <p:txBody>
          <a:bodyPr/>
          <a:lstStyle/>
          <a:p>
            <a:fld id="{CF4668DC-857F-487D-BFFA-8C0CA5037977}" type="slidenum">
              <a:rPr lang="fr-BE" sz="2400" b="1" smtClean="0">
                <a:solidFill>
                  <a:schemeClr val="tx1"/>
                </a:solidFill>
              </a:rPr>
              <a:t>9</a:t>
            </a:fld>
            <a:endParaRPr lang="fr-BE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Syntaxe: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&lt;type&gt;  *P;</a:t>
            </a:r>
          </a:p>
          <a:p>
            <a:pPr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D’après la déclaration, P est un pointeur qui pourra recevoir des adresses de variables qui auront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uniquement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type &lt;type&gt; .</a:t>
            </a:r>
          </a:p>
          <a:p>
            <a:pPr algn="just"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pointeur sur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 peut pas contenir l’adresse d’une variable de type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None/>
            </a:pPr>
            <a:r>
              <a:rPr lang="fr-F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 : </a:t>
            </a:r>
          </a:p>
          <a:p>
            <a:pPr algn="ctr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pNombre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pNombre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désigne une variable pointeur pouvant contenir uniquement l’adresse d’une variable de type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fr-FR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Bonne pratique de programmation 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choisir des noms de variable appropriés: (Ex. : </a:t>
            </a:r>
            <a:r>
              <a:rPr lang="fr-FR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pNombre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NombrePtr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28600" lvl="1">
              <a:spcBef>
                <a:spcPts val="1000"/>
              </a:spcBef>
              <a:buNone/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10</a:t>
            </a:fld>
            <a:endParaRPr lang="fr-FR" dirty="0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Déclaration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500034" y="2540004"/>
            <a:ext cx="8286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d’un pointeur</a:t>
            </a:r>
            <a:endParaRPr lang="fr-FR" sz="2400" b="1" dirty="0">
              <a:solidFill>
                <a:prstClr val="black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Picture 6" descr="D:\esprit 2014\ESPRIT 2014\charte essprit 2014\logo-espri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11" y="6111080"/>
            <a:ext cx="1337716" cy="50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7086600" y="6492876"/>
            <a:ext cx="2057400" cy="365125"/>
          </a:xfrm>
        </p:spPr>
        <p:txBody>
          <a:bodyPr/>
          <a:lstStyle/>
          <a:p>
            <a:fld id="{CF4668DC-857F-487D-BFFA-8C0CA5037977}" type="slidenum">
              <a:rPr lang="fr-BE" sz="2400" b="1" smtClean="0">
                <a:solidFill>
                  <a:schemeClr val="tx1"/>
                </a:solidFill>
              </a:rPr>
              <a:t>11</a:t>
            </a:fld>
            <a:endParaRPr lang="fr-BE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348" y="1285836"/>
            <a:ext cx="7886700" cy="5857940"/>
          </a:xfrm>
        </p:spPr>
        <p:txBody>
          <a:bodyPr>
            <a:normAutofit/>
          </a:bodyPr>
          <a:lstStyle/>
          <a:p>
            <a:pPr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symbole </a:t>
            </a:r>
            <a:r>
              <a:rPr lang="fr-FR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permet d’initialiser un pointeur qui ne pointe sur rien. Cette valeur NULL peut être affectée à tout pointeur quel que soit le type.</a:t>
            </a:r>
          </a:p>
          <a:p>
            <a:pPr algn="just">
              <a:lnSpc>
                <a:spcPct val="110000"/>
              </a:lnSpc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symbole NULL est défini dans la librairie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buNone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fr-F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fr-FR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pNombre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=NULL;</a:t>
            </a:r>
          </a:p>
          <a:p>
            <a:pPr>
              <a:buNone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>
              <a:buNone/>
            </a:pPr>
            <a:r>
              <a:rPr lang="fr-F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pPr>
              <a:buNone/>
            </a:pPr>
            <a:r>
              <a:rPr lang="fr-F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12</a:t>
            </a:fld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Initialisation d’un pointeur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34" y="1571612"/>
            <a:ext cx="79296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stomShape 5"/>
          <p:cNvSpPr/>
          <p:nvPr/>
        </p:nvSpPr>
        <p:spPr>
          <a:xfrm>
            <a:off x="857224" y="5143512"/>
            <a:ext cx="7143800" cy="42862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pPr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Dès qu’on déclare un pointeur, il est préférable de l’initialiser à NULL.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928670"/>
            <a:ext cx="8501090" cy="7072362"/>
          </a:xfrm>
        </p:spPr>
        <p:txBody>
          <a:bodyPr vert="horz" lIns="91440" tIns="45720" rIns="91440" bIns="45720" rtlCol="0" anchor="t">
            <a:normAutofit fontScale="52500" lnSpcReduction="20000"/>
          </a:bodyPr>
          <a:lstStyle/>
          <a:p>
            <a:pPr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fr-FR" sz="4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attribuer une valeur à un pointeur, il faut le faire pointer sur une variable précise.</a:t>
            </a:r>
          </a:p>
          <a:p>
            <a:pPr>
              <a:lnSpc>
                <a:spcPct val="110000"/>
              </a:lnSpc>
            </a:pPr>
            <a:r>
              <a:rPr lang="fr-FR" sz="448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  <a:endParaRPr lang="fr-FR" sz="448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44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fr-FR" sz="448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8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448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A;</a:t>
            </a:r>
          </a:p>
          <a:p>
            <a:pPr>
              <a:buNone/>
            </a:pPr>
            <a:r>
              <a:rPr lang="fr-FR" sz="448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fr-FR" sz="448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44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p1 = NULL;  </a:t>
            </a:r>
          </a:p>
          <a:p>
            <a:pPr>
              <a:buNone/>
            </a:pPr>
            <a:r>
              <a:rPr lang="fr-FR" sz="448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fr-FR" sz="448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44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p2 = NULL;</a:t>
            </a:r>
          </a:p>
          <a:p>
            <a:pPr>
              <a:buNone/>
            </a:pPr>
            <a:r>
              <a:rPr lang="fr-FR" sz="44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p1=&amp;A;    </a:t>
            </a:r>
            <a:r>
              <a:rPr lang="fr-FR" sz="448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8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p1 contient l’adresse de A */</a:t>
            </a:r>
          </a:p>
          <a:p>
            <a:pPr>
              <a:buNone/>
            </a:pPr>
            <a:r>
              <a:rPr lang="fr-FR" sz="448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 </a:t>
            </a:r>
            <a:r>
              <a:rPr lang="fr-FR" sz="44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p2=p1;      </a:t>
            </a:r>
            <a:r>
              <a:rPr lang="fr-FR" sz="448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copie le contenu de p1 dans p2</a:t>
            </a:r>
            <a:r>
              <a:rPr lang="fr-FR" sz="448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fr-FR" sz="448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fr-FR" sz="448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p2 et p1   pointent sur la même variable A*/</a:t>
            </a:r>
          </a:p>
          <a:p>
            <a:pPr algn="just">
              <a:lnSpc>
                <a:spcPct val="110000"/>
              </a:lnSpc>
            </a:pPr>
            <a:r>
              <a:rPr lang="fr-FR" sz="4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L’opérateur &amp; permet d’obtenir l’adresse d’une variable.</a:t>
            </a:r>
          </a:p>
          <a:p>
            <a:pPr algn="just">
              <a:lnSpc>
                <a:spcPct val="110000"/>
              </a:lnSpc>
            </a:pPr>
            <a:r>
              <a:rPr lang="fr-FR" sz="4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L’opérateur &amp; ne peut pas être appliqué à des constantes ou des expressions.</a:t>
            </a:r>
          </a:p>
          <a:p>
            <a:pPr algn="just">
              <a:lnSpc>
                <a:spcPct val="110000"/>
              </a:lnSpc>
            </a:pPr>
            <a:r>
              <a:rPr lang="fr-FR" sz="4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p1 et p2 désignent une variable pointeur initialisée à l’adresse de la variable A de type </a:t>
            </a:r>
            <a:r>
              <a:rPr lang="fr-FR" sz="44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4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>
              <a:buNone/>
            </a:pPr>
            <a:r>
              <a:rPr lang="fr-F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pPr>
              <a:buNone/>
            </a:pPr>
            <a:r>
              <a:rPr lang="fr-F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13</a:t>
            </a:fld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Attribuer une valeur à un pointeur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0034" y="1571612"/>
            <a:ext cx="79296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avoir accès au contenu d’un pointeur, on utilise l’opérateur </a:t>
            </a:r>
            <a:r>
              <a:rPr lang="fr-FR" sz="200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suivi du nom du pointeur.</a:t>
            </a:r>
          </a:p>
          <a:p>
            <a:r>
              <a:rPr lang="fr-F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pPr>
              <a:buNone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fr-FR" sz="2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pNombre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None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fr-FR" sz="2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n=20;</a:t>
            </a:r>
          </a:p>
          <a:p>
            <a:pPr>
              <a:buNone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pNombre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=&amp;n; </a:t>
            </a:r>
            <a:r>
              <a:rPr lang="fr-F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fr-F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pNombre</a:t>
            </a:r>
            <a:r>
              <a:rPr lang="fr-F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pointe sur l’entier n </a:t>
            </a:r>
          </a:p>
          <a:p>
            <a:pPr>
              <a:buNone/>
            </a:pPr>
            <a:r>
              <a:rPr lang="fr-F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qui contient la valeur 20 */</a:t>
            </a:r>
          </a:p>
          <a:p>
            <a:pPr>
              <a:buNone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 sz="20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0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ˈˈ %d ˈˈ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*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pNombre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fr-F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/*affiche la valeur 20 */</a:t>
            </a:r>
          </a:p>
          <a:p>
            <a:pPr>
              <a:buNone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*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pNombre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=40;</a:t>
            </a:r>
          </a:p>
          <a:p>
            <a:pPr>
              <a:buNone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0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ˈˈ %d ˈˈ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fr-FR" sz="20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pNombre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fr-F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/*affiche la valeur 40 */</a:t>
            </a:r>
          </a:p>
          <a:p>
            <a:pPr>
              <a:buNone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0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ˈˈ %d ˈˈ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fr-FR" sz="20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n);</a:t>
            </a:r>
            <a:r>
              <a:rPr lang="fr-F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/*affiche la valeur 40 */</a:t>
            </a:r>
          </a:p>
          <a:p>
            <a:pPr>
              <a:buNone/>
            </a:pP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14</a:t>
            </a:fld>
            <a:endParaRPr lang="fr-FR" dirty="0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Accès au contenu d’un pointeur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34" y="1571612"/>
            <a:ext cx="79296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L’opérateur *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opérateurs </a:t>
            </a:r>
            <a:r>
              <a:rPr lang="fr-FR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ont la même priorité que les autres opérateurs unaires </a:t>
            </a:r>
            <a:r>
              <a:rPr lang="fr-FR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(!, ++, --). 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les parenthèses ne sont pas utilisées, les expressions sont évaluées de droite à gauche.</a:t>
            </a:r>
          </a:p>
          <a:p>
            <a:pPr marL="228600" lvl="1">
              <a:spcBef>
                <a:spcPts val="1000"/>
              </a:spcBef>
              <a:buNone/>
            </a:pPr>
            <a:r>
              <a:rPr lang="fr-F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15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856270" y="286319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Priorité des opérateurs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34" y="1571612"/>
            <a:ext cx="79296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0298" y="3143248"/>
            <a:ext cx="4038480" cy="334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849</Words>
  <Application>Microsoft Office PowerPoint</Application>
  <PresentationFormat>On-screen Show (4:3)</PresentationFormat>
  <Paragraphs>164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Thème Office</vt:lpstr>
      <vt:lpstr>Office Theme</vt:lpstr>
      <vt:lpstr>PowerPoint Presentation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</dc:creator>
  <cp:lastModifiedBy>naouel boughattas</cp:lastModifiedBy>
  <cp:revision>382</cp:revision>
  <dcterms:created xsi:type="dcterms:W3CDTF">2017-09-09T12:22:00Z</dcterms:created>
  <dcterms:modified xsi:type="dcterms:W3CDTF">2025-06-29T08:25:07Z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1036-11.2.0.11417</vt:lpwstr>
  </property>
  <property fmtid="{D5CDD505-2E9C-101B-9397-08002B2CF9AE}" pid="3" name="ICV">
    <vt:lpwstr>768E6AA9A802482EBF3A32EE1EA2B467</vt:lpwstr>
  </property>
</Properties>
</file>